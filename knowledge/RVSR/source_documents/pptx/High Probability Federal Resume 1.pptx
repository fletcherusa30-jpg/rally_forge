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304" r:id="rId2"/>
    <p:sldId id="343" r:id="rId3"/>
    <p:sldId id="406" r:id="rId4"/>
    <p:sldId id="344" r:id="rId5"/>
    <p:sldId id="342" r:id="rId6"/>
    <p:sldId id="345" r:id="rId7"/>
    <p:sldId id="346" r:id="rId8"/>
    <p:sldId id="405" r:id="rId9"/>
    <p:sldId id="347" r:id="rId10"/>
    <p:sldId id="348" r:id="rId11"/>
    <p:sldId id="349" r:id="rId12"/>
    <p:sldId id="350" r:id="rId13"/>
    <p:sldId id="351" r:id="rId14"/>
    <p:sldId id="352" r:id="rId15"/>
    <p:sldId id="353" r:id="rId16"/>
    <p:sldId id="404" r:id="rId17"/>
    <p:sldId id="399" r:id="rId18"/>
    <p:sldId id="397" r:id="rId19"/>
    <p:sldId id="340" r:id="rId20"/>
    <p:sldId id="356" r:id="rId21"/>
    <p:sldId id="357" r:id="rId22"/>
    <p:sldId id="398" r:id="rId23"/>
    <p:sldId id="312" r:id="rId24"/>
    <p:sldId id="40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01909A-FBB4-4139-AEAE-0BB92919F7E6}" type="datetimeFigureOut">
              <a:rPr lang="en-US" smtClean="0"/>
              <a:t>10/28/2020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F171E1-9D8B-465F-86F4-1F24D5B4EF69}" type="slidenum">
              <a:rPr lang="en-US" smtClean="0"/>
              <a:t>‹#›</a:t>
            </a:fld>
            <a:endParaRPr lang="en-US"/>
          </a:p>
        </p:txBody>
      </p:sp>
    </p:spTree>
    <p:extLst>
      <p:ext uri="{BB962C8B-B14F-4D97-AF65-F5344CB8AC3E}">
        <p14:creationId xmlns:p14="http://schemas.microsoft.com/office/powerpoint/2010/main" val="2260322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F171E1-9D8B-465F-86F4-1F24D5B4EF69}" type="slidenum">
              <a:rPr lang="en-US" smtClean="0"/>
              <a:t>1</a:t>
            </a:fld>
            <a:endParaRPr lang="en-US"/>
          </a:p>
        </p:txBody>
      </p:sp>
    </p:spTree>
    <p:extLst>
      <p:ext uri="{BB962C8B-B14F-4D97-AF65-F5344CB8AC3E}">
        <p14:creationId xmlns:p14="http://schemas.microsoft.com/office/powerpoint/2010/main" val="1887116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5B5434D-4554-4C9E-B145-19FCC1A3EB7D}" type="datetimeFigureOut">
              <a:rPr lang="en-US" smtClean="0"/>
              <a:t>10/28/2020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4163084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5434D-4554-4C9E-B145-19FCC1A3EB7D}" type="datetimeFigureOut">
              <a:rPr lang="en-US" smtClean="0"/>
              <a:t>10/28/2020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3973930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5434D-4554-4C9E-B145-19FCC1A3EB7D}" type="datetimeFigureOut">
              <a:rPr lang="en-US" smtClean="0"/>
              <a:t>10/28/2020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2351860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5B5434D-4554-4C9E-B145-19FCC1A3EB7D}" type="datetimeFigureOut">
              <a:rPr lang="en-US" smtClean="0"/>
              <a:t>10/28/2020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4217168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5B5434D-4554-4C9E-B145-19FCC1A3EB7D}" type="datetimeFigureOut">
              <a:rPr lang="en-US" smtClean="0"/>
              <a:t>10/28/2020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2703284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5B5434D-4554-4C9E-B145-19FCC1A3EB7D}" type="datetimeFigureOut">
              <a:rPr lang="en-US" smtClean="0"/>
              <a:t>10/28/2020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2655428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B5434D-4554-4C9E-B145-19FCC1A3EB7D}" type="datetimeFigureOut">
              <a:rPr lang="en-US" smtClean="0"/>
              <a:t>10/28/2020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332928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5434D-4554-4C9E-B145-19FCC1A3EB7D}" type="datetimeFigureOut">
              <a:rPr lang="en-US" smtClean="0"/>
              <a:t>10/28/2020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1750941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5434D-4554-4C9E-B145-19FCC1A3EB7D}" type="datetimeFigureOut">
              <a:rPr lang="en-US" smtClean="0"/>
              <a:t>10/28/2020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961431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5434D-4554-4C9E-B145-19FCC1A3EB7D}" type="datetimeFigureOut">
              <a:rPr lang="en-US" smtClean="0"/>
              <a:t>10/28/2020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2370465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5434D-4554-4C9E-B145-19FCC1A3EB7D}" type="datetimeFigureOut">
              <a:rPr lang="en-US" smtClean="0"/>
              <a:t>10/28/2020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51606-0940-4A18-B892-3345AAAB2F7B}" type="slidenum">
              <a:rPr lang="en-US" smtClean="0"/>
              <a:t>‹#›</a:t>
            </a:fld>
            <a:endParaRPr lang="en-US"/>
          </a:p>
        </p:txBody>
      </p:sp>
    </p:spTree>
    <p:extLst>
      <p:ext uri="{BB962C8B-B14F-4D97-AF65-F5344CB8AC3E}">
        <p14:creationId xmlns:p14="http://schemas.microsoft.com/office/powerpoint/2010/main" val="2940174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B5434D-4554-4C9E-B145-19FCC1A3EB7D}" type="datetimeFigureOut">
              <a:rPr lang="en-US" smtClean="0"/>
              <a:t>10/28/2020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951606-0940-4A18-B892-3345AAAB2F7B}" type="slidenum">
              <a:rPr lang="en-US" smtClean="0"/>
              <a:t>‹#›</a:t>
            </a:fld>
            <a:endParaRPr lang="en-US"/>
          </a:p>
        </p:txBody>
      </p:sp>
    </p:spTree>
    <p:extLst>
      <p:ext uri="{BB962C8B-B14F-4D97-AF65-F5344CB8AC3E}">
        <p14:creationId xmlns:p14="http://schemas.microsoft.com/office/powerpoint/2010/main" val="3423305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8641"/>
            <a:ext cx="10515600" cy="1325563"/>
          </a:xfrm>
        </p:spPr>
        <p:txBody>
          <a:bodyPr>
            <a:normAutofit fontScale="90000"/>
          </a:bodyPr>
          <a:lstStyle/>
          <a:p>
            <a:pPr algn="ctr"/>
            <a:br>
              <a:rPr lang="en-US" sz="6000" b="1" dirty="0"/>
            </a:br>
            <a:br>
              <a:rPr lang="en-US" sz="6000" b="1" dirty="0"/>
            </a:br>
            <a:r>
              <a:rPr lang="en-US" sz="5400" dirty="0"/>
              <a:t>How to Write a High-Probability </a:t>
            </a:r>
            <a:br>
              <a:rPr lang="en-US" sz="5400" dirty="0"/>
            </a:br>
            <a:r>
              <a:rPr lang="en-US" sz="5400" dirty="0"/>
              <a:t>Federal Job Resume</a:t>
            </a:r>
            <a:br>
              <a:rPr lang="en-US" sz="6000" b="1" dirty="0"/>
            </a:br>
            <a:r>
              <a:rPr lang="en-US" sz="3100" b="1" dirty="0"/>
              <a:t> </a:t>
            </a:r>
            <a:br>
              <a:rPr lang="en-US" sz="6000" b="1" dirty="0"/>
            </a:br>
            <a:br>
              <a:rPr lang="en-US" sz="6000" b="1" dirty="0"/>
            </a:br>
            <a:br>
              <a:rPr lang="en-US" sz="3600" dirty="0"/>
            </a:br>
            <a:br>
              <a:rPr lang="en-US" dirty="0"/>
            </a:br>
            <a:endParaRPr lang="en-US" dirty="0"/>
          </a:p>
        </p:txBody>
      </p:sp>
      <p:sp>
        <p:nvSpPr>
          <p:cNvPr id="4" name="Title 1"/>
          <p:cNvSpPr txBox="1">
            <a:spLocks/>
          </p:cNvSpPr>
          <p:nvPr/>
        </p:nvSpPr>
        <p:spPr>
          <a:xfrm>
            <a:off x="838200" y="4975413"/>
            <a:ext cx="10515600" cy="24608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dirty="0"/>
          </a:p>
          <a:p>
            <a:pPr algn="ctr"/>
            <a:endParaRPr lang="en-US" dirty="0"/>
          </a:p>
          <a:p>
            <a:pPr algn="ctr"/>
            <a:r>
              <a:rPr lang="en-US" dirty="0"/>
              <a:t>Kenneth Elshoff, M.A.</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239223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Who is Kenneth </a:t>
            </a:r>
            <a:r>
              <a:rPr lang="en-US" dirty="0" err="1"/>
              <a:t>Elshoff</a:t>
            </a:r>
            <a:r>
              <a:rPr lang="en-US" dirty="0"/>
              <a:t>?</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Former GS-0201-12 HR Specialist (Rec/Placement), Dept. of Veterans Affairs, Pittsburgh, PA</a:t>
            </a:r>
          </a:p>
          <a:p>
            <a:endParaRPr lang="en-US" dirty="0"/>
          </a:p>
          <a:p>
            <a:r>
              <a:rPr lang="en-US" dirty="0"/>
              <a:t>Former GS-0201-12 HR Specialist (HR Development), Dept. of Veterans Affairs, Pittsburgh, PA</a:t>
            </a:r>
          </a:p>
          <a:p>
            <a:endParaRPr lang="en-US" dirty="0"/>
          </a:p>
          <a:p>
            <a:r>
              <a:rPr lang="en-US" dirty="0"/>
              <a:t>Former GS-0201-12 HR Specialist (Generalist), Dept. of Veterans Affairs, Iowa City, Iowa</a:t>
            </a:r>
          </a:p>
          <a:p>
            <a:pPr lvl="0"/>
            <a:endParaRPr lang="en-US" dirty="0"/>
          </a:p>
          <a:p>
            <a:pPr lvl="0"/>
            <a:endParaRPr lang="en-US" dirty="0"/>
          </a:p>
          <a:p>
            <a:pPr marL="0" lvl="0" indent="0">
              <a:buNone/>
            </a:pPr>
            <a:endParaRPr lang="en-US" dirty="0"/>
          </a:p>
          <a:p>
            <a:endParaRPr lang="en-US" dirty="0"/>
          </a:p>
        </p:txBody>
      </p:sp>
    </p:spTree>
    <p:extLst>
      <p:ext uri="{BB962C8B-B14F-4D97-AF65-F5344CB8AC3E}">
        <p14:creationId xmlns:p14="http://schemas.microsoft.com/office/powerpoint/2010/main" val="428454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Objectives</a:t>
            </a:r>
          </a:p>
        </p:txBody>
      </p:sp>
      <p:sp>
        <p:nvSpPr>
          <p:cNvPr id="3" name="Content Placeholder 2"/>
          <p:cNvSpPr>
            <a:spLocks noGrp="1"/>
          </p:cNvSpPr>
          <p:nvPr>
            <p:ph idx="1"/>
          </p:nvPr>
        </p:nvSpPr>
        <p:spPr/>
        <p:txBody>
          <a:bodyPr>
            <a:normAutofit/>
          </a:bodyPr>
          <a:lstStyle/>
          <a:p>
            <a:pPr lvl="0"/>
            <a:r>
              <a:rPr lang="en-US" dirty="0"/>
              <a:t>Address the common myths/rumors regarding federal resumes</a:t>
            </a:r>
          </a:p>
          <a:p>
            <a:pPr lvl="0"/>
            <a:endParaRPr lang="en-US" dirty="0"/>
          </a:p>
          <a:p>
            <a:pPr lvl="0"/>
            <a:r>
              <a:rPr lang="en-US" dirty="0"/>
              <a:t>Respond to frequently asked questions</a:t>
            </a:r>
          </a:p>
          <a:p>
            <a:pPr lvl="0"/>
            <a:endParaRPr lang="en-US" dirty="0"/>
          </a:p>
          <a:p>
            <a:pPr lvl="0"/>
            <a:r>
              <a:rPr lang="en-US" dirty="0"/>
              <a:t>Learn how to increase your chances of getting an interview</a:t>
            </a:r>
          </a:p>
          <a:p>
            <a:pPr lvl="0"/>
            <a:endParaRPr lang="en-US" dirty="0"/>
          </a:p>
          <a:p>
            <a:pPr lvl="0"/>
            <a:r>
              <a:rPr lang="en-US" dirty="0"/>
              <a:t>Explore a ‘high-probability’ resume</a:t>
            </a:r>
          </a:p>
          <a:p>
            <a:pPr lvl="0"/>
            <a:endParaRPr lang="en-US" dirty="0"/>
          </a:p>
          <a:p>
            <a:pPr marL="0" lvl="0" indent="0">
              <a:buNone/>
            </a:pPr>
            <a:endParaRPr lang="en-US" dirty="0"/>
          </a:p>
          <a:p>
            <a:endParaRPr lang="en-US" dirty="0"/>
          </a:p>
        </p:txBody>
      </p:sp>
    </p:spTree>
    <p:extLst>
      <p:ext uri="{BB962C8B-B14F-4D97-AF65-F5344CB8AC3E}">
        <p14:creationId xmlns:p14="http://schemas.microsoft.com/office/powerpoint/2010/main" val="3545560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Federal Resumes</a:t>
            </a:r>
          </a:p>
        </p:txBody>
      </p:sp>
      <p:sp>
        <p:nvSpPr>
          <p:cNvPr id="3" name="Content Placeholder 2"/>
          <p:cNvSpPr>
            <a:spLocks noGrp="1"/>
          </p:cNvSpPr>
          <p:nvPr>
            <p:ph idx="1"/>
          </p:nvPr>
        </p:nvSpPr>
        <p:spPr/>
        <p:txBody>
          <a:bodyPr/>
          <a:lstStyle/>
          <a:p>
            <a:pPr lvl="0"/>
            <a:r>
              <a:rPr lang="en-US" dirty="0"/>
              <a:t>…..the #1 most common concern of federal job applicants. </a:t>
            </a:r>
          </a:p>
          <a:p>
            <a:pPr lvl="0"/>
            <a:endParaRPr lang="en-US" dirty="0"/>
          </a:p>
          <a:p>
            <a:pPr lvl="0"/>
            <a:r>
              <a:rPr lang="en-US" dirty="0"/>
              <a:t>Here are some common questions I received: </a:t>
            </a:r>
          </a:p>
          <a:p>
            <a:pPr lvl="0"/>
            <a:endParaRPr lang="en-US" sz="2400" dirty="0"/>
          </a:p>
          <a:p>
            <a:pPr lvl="1"/>
            <a:r>
              <a:rPr lang="en-US" dirty="0"/>
              <a:t>What does a federal resume look like? </a:t>
            </a:r>
          </a:p>
          <a:p>
            <a:pPr lvl="1"/>
            <a:r>
              <a:rPr lang="en-US" dirty="0"/>
              <a:t>How long is a federal resume supposed to be?  </a:t>
            </a:r>
          </a:p>
          <a:p>
            <a:pPr lvl="1"/>
            <a:r>
              <a:rPr lang="en-US" dirty="0"/>
              <a:t>Do I have to customize my resume for every job I apply for? </a:t>
            </a:r>
          </a:p>
          <a:p>
            <a:pPr lvl="1"/>
            <a:r>
              <a:rPr lang="en-US" dirty="0"/>
              <a:t>Can I create on ‘base resume’ and use that one single resume to apply to all the jobs I am interested in? </a:t>
            </a:r>
          </a:p>
          <a:p>
            <a:pPr lvl="1"/>
            <a:r>
              <a:rPr lang="en-US" dirty="0"/>
              <a:t>Should my resume be more specific or general? </a:t>
            </a:r>
          </a:p>
        </p:txBody>
      </p:sp>
    </p:spTree>
    <p:extLst>
      <p:ext uri="{BB962C8B-B14F-4D97-AF65-F5344CB8AC3E}">
        <p14:creationId xmlns:p14="http://schemas.microsoft.com/office/powerpoint/2010/main" val="3820674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DISCLAIMER:</a:t>
            </a:r>
            <a:r>
              <a:rPr lang="en-US" dirty="0"/>
              <a:t> </a:t>
            </a:r>
            <a:br>
              <a:rPr lang="en-US" dirty="0"/>
            </a:br>
            <a:endParaRPr lang="en-US" dirty="0"/>
          </a:p>
        </p:txBody>
      </p:sp>
      <p:sp>
        <p:nvSpPr>
          <p:cNvPr id="3" name="Content Placeholder 2"/>
          <p:cNvSpPr>
            <a:spLocks noGrp="1"/>
          </p:cNvSpPr>
          <p:nvPr>
            <p:ph idx="1"/>
          </p:nvPr>
        </p:nvSpPr>
        <p:spPr/>
        <p:txBody>
          <a:bodyPr/>
          <a:lstStyle/>
          <a:p>
            <a:pPr lvl="0"/>
            <a:r>
              <a:rPr lang="en-US" dirty="0"/>
              <a:t>No resume, instructor, or coach can guarantee you will get a job…. Or even an interview. There are companies out there ripping people off by guaranteeing that their coaching, resumes or training guides will guarantee you the job. 100% FALSE. The best you can do is learn some tips to help increase your chances. </a:t>
            </a:r>
          </a:p>
          <a:p>
            <a:pPr lvl="0"/>
            <a:r>
              <a:rPr lang="en-US" dirty="0"/>
              <a:t>However, the only thing I </a:t>
            </a:r>
            <a:r>
              <a:rPr lang="en-US" u="sng" dirty="0"/>
              <a:t>can</a:t>
            </a:r>
            <a:r>
              <a:rPr lang="en-US" dirty="0"/>
              <a:t> guarantee is that you will not get 100% of the jobs you never apply for.</a:t>
            </a:r>
          </a:p>
          <a:p>
            <a:endParaRPr lang="en-US" dirty="0"/>
          </a:p>
        </p:txBody>
      </p:sp>
    </p:spTree>
    <p:extLst>
      <p:ext uri="{BB962C8B-B14F-4D97-AF65-F5344CB8AC3E}">
        <p14:creationId xmlns:p14="http://schemas.microsoft.com/office/powerpoint/2010/main" val="154614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endParaRPr lang="en-US" dirty="0"/>
          </a:p>
          <a:p>
            <a:endParaRPr lang="en-US" dirty="0"/>
          </a:p>
          <a:p>
            <a:pPr marL="1828800" lvl="4" indent="0">
              <a:buNone/>
            </a:pPr>
            <a:r>
              <a:rPr lang="en-US" sz="6000" dirty="0"/>
              <a:t>So, let’s dive in!</a:t>
            </a:r>
          </a:p>
          <a:p>
            <a:endParaRPr lang="en-US" dirty="0"/>
          </a:p>
        </p:txBody>
      </p:sp>
    </p:spTree>
    <p:extLst>
      <p:ext uri="{BB962C8B-B14F-4D97-AF65-F5344CB8AC3E}">
        <p14:creationId xmlns:p14="http://schemas.microsoft.com/office/powerpoint/2010/main" val="89365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elephant in the Room… addressing a major RUMOR</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There is No Such Thing as…“The Federal Resume” !!!</a:t>
            </a:r>
          </a:p>
          <a:p>
            <a:pPr lvl="0"/>
            <a:endParaRPr lang="en-US" dirty="0"/>
          </a:p>
          <a:p>
            <a:pPr lvl="0"/>
            <a:r>
              <a:rPr lang="en-US" dirty="0"/>
              <a:t>Simply put:  NO Government-wide, government-mandated, government copyrighted Federal resume format. </a:t>
            </a:r>
          </a:p>
          <a:p>
            <a:pPr lvl="0"/>
            <a:endParaRPr lang="en-US" dirty="0"/>
          </a:p>
          <a:p>
            <a:pPr lvl="0"/>
            <a:r>
              <a:rPr lang="en-US" dirty="0"/>
              <a:t>I promise. </a:t>
            </a:r>
          </a:p>
          <a:p>
            <a:endParaRPr lang="en-US" dirty="0"/>
          </a:p>
        </p:txBody>
      </p:sp>
    </p:spTree>
    <p:extLst>
      <p:ext uri="{BB962C8B-B14F-4D97-AF65-F5344CB8AC3E}">
        <p14:creationId xmlns:p14="http://schemas.microsoft.com/office/powerpoint/2010/main" val="201479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elephant in the Room… addressing a major RUMOR (</a:t>
            </a:r>
            <a:r>
              <a:rPr lang="en-US" b="1" dirty="0" err="1"/>
              <a:t>cont</a:t>
            </a:r>
            <a:r>
              <a:rPr lang="en-US" b="1" dirty="0"/>
              <a:t>)</a:t>
            </a:r>
            <a:endParaRPr lang="en-US" dirty="0"/>
          </a:p>
        </p:txBody>
      </p:sp>
      <p:sp>
        <p:nvSpPr>
          <p:cNvPr id="3" name="Content Placeholder 2"/>
          <p:cNvSpPr>
            <a:spLocks noGrp="1"/>
          </p:cNvSpPr>
          <p:nvPr>
            <p:ph idx="1"/>
          </p:nvPr>
        </p:nvSpPr>
        <p:spPr/>
        <p:txBody>
          <a:bodyPr/>
          <a:lstStyle/>
          <a:p>
            <a:pPr lvl="0"/>
            <a:endParaRPr lang="en-US" dirty="0"/>
          </a:p>
          <a:p>
            <a:pPr lvl="0"/>
            <a:r>
              <a:rPr lang="en-US" dirty="0"/>
              <a:t>There is at least one company out there that teaches how to write “</a:t>
            </a:r>
            <a:r>
              <a:rPr lang="en-US" u="sng" dirty="0"/>
              <a:t>The</a:t>
            </a:r>
            <a:r>
              <a:rPr lang="en-US" dirty="0"/>
              <a:t> Federal Resume.” Be advised: This was their own invention and is not mandated across the Federal government. </a:t>
            </a:r>
          </a:p>
          <a:p>
            <a:pPr lvl="0"/>
            <a:endParaRPr lang="en-US" dirty="0"/>
          </a:p>
          <a:p>
            <a:r>
              <a:rPr lang="en-US" dirty="0"/>
              <a:t>Thousands and thousands of resumes crossed my desk and they came in all formats and in all colors. And guess what—that was just fine. The format isn’t as important as the </a:t>
            </a:r>
            <a:r>
              <a:rPr lang="en-US" u="sng" dirty="0"/>
              <a:t>content</a:t>
            </a:r>
            <a:r>
              <a:rPr lang="en-US" dirty="0"/>
              <a:t>. </a:t>
            </a:r>
          </a:p>
          <a:p>
            <a:pPr lvl="0"/>
            <a:endParaRPr lang="en-US" dirty="0"/>
          </a:p>
          <a:p>
            <a:endParaRPr lang="en-US" dirty="0"/>
          </a:p>
        </p:txBody>
      </p:sp>
    </p:spTree>
    <p:extLst>
      <p:ext uri="{BB962C8B-B14F-4D97-AF65-F5344CB8AC3E}">
        <p14:creationId xmlns:p14="http://schemas.microsoft.com/office/powerpoint/2010/main" val="708036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However, here is the good news</a:t>
            </a:r>
            <a:br>
              <a:rPr lang="en-US" dirty="0"/>
            </a:br>
            <a:endParaRPr lang="en-US" dirty="0"/>
          </a:p>
        </p:txBody>
      </p:sp>
      <p:sp>
        <p:nvSpPr>
          <p:cNvPr id="3" name="Content Placeholder 2"/>
          <p:cNvSpPr>
            <a:spLocks noGrp="1"/>
          </p:cNvSpPr>
          <p:nvPr>
            <p:ph idx="1"/>
          </p:nvPr>
        </p:nvSpPr>
        <p:spPr/>
        <p:txBody>
          <a:bodyPr/>
          <a:lstStyle/>
          <a:p>
            <a:pPr lvl="0"/>
            <a:r>
              <a:rPr lang="en-US" dirty="0"/>
              <a:t>I can teach you a way that will </a:t>
            </a:r>
            <a:r>
              <a:rPr lang="en-US" u="sng" dirty="0"/>
              <a:t>increase your chances</a:t>
            </a:r>
            <a:r>
              <a:rPr lang="en-US" dirty="0"/>
              <a:t> of getting qualified and getting an interview. </a:t>
            </a:r>
          </a:p>
          <a:p>
            <a:pPr lvl="0"/>
            <a:endParaRPr lang="en-US" dirty="0"/>
          </a:p>
          <a:p>
            <a:pPr lvl="0"/>
            <a:r>
              <a:rPr lang="en-US" dirty="0"/>
              <a:t>So, let’s explore some of the more common myths about federal resumes. </a:t>
            </a:r>
          </a:p>
          <a:p>
            <a:endParaRPr lang="en-US" dirty="0"/>
          </a:p>
        </p:txBody>
      </p:sp>
    </p:spTree>
    <p:extLst>
      <p:ext uri="{BB962C8B-B14F-4D97-AF65-F5344CB8AC3E}">
        <p14:creationId xmlns:p14="http://schemas.microsoft.com/office/powerpoint/2010/main" val="18119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Rumor Patrol!</a:t>
            </a:r>
            <a:br>
              <a:rPr lang="en-US" sz="4000"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The purpose of the resume is to get a job. </a:t>
            </a:r>
          </a:p>
          <a:p>
            <a:pPr lvl="0"/>
            <a:endParaRPr lang="en-US" dirty="0"/>
          </a:p>
          <a:p>
            <a:pPr lvl="1"/>
            <a:r>
              <a:rPr lang="en-US" dirty="0"/>
              <a:t>FALSE. The purpose of the resume is to get you an interview. </a:t>
            </a:r>
          </a:p>
          <a:p>
            <a:pPr marL="457200" lvl="1" indent="0">
              <a:buNone/>
            </a:pPr>
            <a:endParaRPr lang="en-US" sz="2000" dirty="0"/>
          </a:p>
          <a:p>
            <a:pPr lvl="1"/>
            <a:r>
              <a:rPr lang="en-US" dirty="0"/>
              <a:t>The purpose of the resume in the private sector is to get an interview and is more general in nature. In the Federal government, the purpose of the resume is to “show” your qualifications so that you can be “referred” by the Human Resources office.</a:t>
            </a:r>
          </a:p>
          <a:p>
            <a:pPr lvl="1"/>
            <a:endParaRPr lang="en-US" sz="2000" dirty="0"/>
          </a:p>
          <a:p>
            <a:pPr lvl="1"/>
            <a:r>
              <a:rPr lang="en-US" dirty="0"/>
              <a:t>Your resume needs to include more specifics and similar language as the vacancy announcement because the Human Resources Specialist is looking to see if you have the “specialized” or directly related experience requirements of the position for which you are applying. </a:t>
            </a:r>
          </a:p>
          <a:p>
            <a:endParaRPr lang="en-US" dirty="0"/>
          </a:p>
        </p:txBody>
      </p:sp>
    </p:spTree>
    <p:extLst>
      <p:ext uri="{BB962C8B-B14F-4D97-AF65-F5344CB8AC3E}">
        <p14:creationId xmlns:p14="http://schemas.microsoft.com/office/powerpoint/2010/main" val="154702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Rumor Patrol! (</a:t>
            </a:r>
            <a:r>
              <a:rPr lang="en-US" b="1" dirty="0" err="1"/>
              <a:t>cont</a:t>
            </a:r>
            <a:r>
              <a:rPr lang="en-US" b="1" dirty="0"/>
              <a:t>)</a:t>
            </a:r>
            <a:br>
              <a:rPr lang="en-US" sz="4000" dirty="0"/>
            </a:br>
            <a:endParaRPr lang="en-US" dirty="0"/>
          </a:p>
        </p:txBody>
      </p:sp>
      <p:sp>
        <p:nvSpPr>
          <p:cNvPr id="3" name="Content Placeholder 2"/>
          <p:cNvSpPr>
            <a:spLocks noGrp="1"/>
          </p:cNvSpPr>
          <p:nvPr>
            <p:ph idx="1"/>
          </p:nvPr>
        </p:nvSpPr>
        <p:spPr/>
        <p:txBody>
          <a:bodyPr/>
          <a:lstStyle/>
          <a:p>
            <a:pPr lvl="0"/>
            <a:r>
              <a:rPr lang="en-US" dirty="0"/>
              <a:t>A computer scans your resume for keywords. </a:t>
            </a:r>
          </a:p>
          <a:p>
            <a:pPr lvl="1"/>
            <a:endParaRPr lang="en-US" dirty="0"/>
          </a:p>
          <a:p>
            <a:pPr lvl="1"/>
            <a:r>
              <a:rPr lang="en-US" dirty="0"/>
              <a:t>FALSE. Not in the USAJOBs application manager. However, some agencies do have their own application websites and some of them DO have keyword scanners. However, we cannot discuss all systems and will therefore focus on USAJOBs.gov. </a:t>
            </a:r>
          </a:p>
          <a:p>
            <a:endParaRPr lang="en-US" dirty="0"/>
          </a:p>
        </p:txBody>
      </p:sp>
    </p:spTree>
    <p:extLst>
      <p:ext uri="{BB962C8B-B14F-4D97-AF65-F5344CB8AC3E}">
        <p14:creationId xmlns:p14="http://schemas.microsoft.com/office/powerpoint/2010/main" val="136932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Rumor Patrol! (</a:t>
            </a:r>
            <a:r>
              <a:rPr lang="en-US" b="1" dirty="0" err="1"/>
              <a:t>cont</a:t>
            </a:r>
            <a:r>
              <a:rPr lang="en-US" b="1" dirty="0"/>
              <a:t>)</a:t>
            </a:r>
            <a:br>
              <a:rPr lang="en-US" sz="4000" dirty="0"/>
            </a:br>
            <a:endParaRPr lang="en-US" dirty="0"/>
          </a:p>
        </p:txBody>
      </p:sp>
      <p:sp>
        <p:nvSpPr>
          <p:cNvPr id="3" name="Content Placeholder 2"/>
          <p:cNvSpPr>
            <a:spLocks noGrp="1"/>
          </p:cNvSpPr>
          <p:nvPr>
            <p:ph idx="1"/>
          </p:nvPr>
        </p:nvSpPr>
        <p:spPr/>
        <p:txBody>
          <a:bodyPr/>
          <a:lstStyle/>
          <a:p>
            <a:pPr lvl="0"/>
            <a:r>
              <a:rPr lang="en-US" dirty="0"/>
              <a:t>“Low-level GS-4 clerks” screen your resume before it gets sent to the supervisor. </a:t>
            </a:r>
          </a:p>
          <a:p>
            <a:pPr lvl="0"/>
            <a:endParaRPr lang="en-US" dirty="0"/>
          </a:p>
          <a:p>
            <a:pPr lvl="1"/>
            <a:r>
              <a:rPr lang="en-US" dirty="0"/>
              <a:t>FALSE. Resumes are typically screened by well-trained HR Specialists who know how to make complex eligibility determinations as well as making qualification determinations.  </a:t>
            </a:r>
          </a:p>
          <a:p>
            <a:endParaRPr lang="en-US" dirty="0"/>
          </a:p>
        </p:txBody>
      </p:sp>
    </p:spTree>
    <p:extLst>
      <p:ext uri="{BB962C8B-B14F-4D97-AF65-F5344CB8AC3E}">
        <p14:creationId xmlns:p14="http://schemas.microsoft.com/office/powerpoint/2010/main" val="2866968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Rumor Patrol! (</a:t>
            </a:r>
            <a:r>
              <a:rPr lang="en-US" b="1" dirty="0" err="1"/>
              <a:t>cont</a:t>
            </a:r>
            <a:r>
              <a:rPr lang="en-US" b="1" dirty="0"/>
              <a:t>)</a:t>
            </a:r>
            <a:br>
              <a:rPr lang="en-US" sz="4000" dirty="0"/>
            </a:br>
            <a:endParaRPr lang="en-US" dirty="0"/>
          </a:p>
        </p:txBody>
      </p:sp>
      <p:sp>
        <p:nvSpPr>
          <p:cNvPr id="3" name="Content Placeholder 2"/>
          <p:cNvSpPr>
            <a:spLocks noGrp="1"/>
          </p:cNvSpPr>
          <p:nvPr>
            <p:ph idx="1"/>
          </p:nvPr>
        </p:nvSpPr>
        <p:spPr/>
        <p:txBody>
          <a:bodyPr/>
          <a:lstStyle/>
          <a:p>
            <a:pPr lvl="0"/>
            <a:r>
              <a:rPr lang="en-US" dirty="0"/>
              <a:t>Your resume should only be one-page. </a:t>
            </a:r>
          </a:p>
          <a:p>
            <a:pPr marL="0" lvl="0" indent="0">
              <a:buNone/>
            </a:pPr>
            <a:endParaRPr lang="en-US" dirty="0"/>
          </a:p>
          <a:p>
            <a:pPr lvl="1"/>
            <a:r>
              <a:rPr lang="en-US" dirty="0"/>
              <a:t>FALSE. There is no "official resume length" requirement for the federal government. While some Agencies might have prescribed formats for their own applications, most Agencies will accept any resume length. The average is 3-5 pages. </a:t>
            </a:r>
          </a:p>
          <a:p>
            <a:pPr lvl="1"/>
            <a:r>
              <a:rPr lang="en-US" dirty="0"/>
              <a:t>However, please don't focus on length of your resume. I have personally seen 20 page resumes. That's fine...so long as you focus on content! </a:t>
            </a:r>
          </a:p>
          <a:p>
            <a:pPr lvl="1"/>
            <a:r>
              <a:rPr lang="en-US" dirty="0"/>
              <a:t>Make sure the information in your resume is applicable to the job you are applying for. As long as the information is relevant, put as much information in there as you need. </a:t>
            </a:r>
          </a:p>
          <a:p>
            <a:endParaRPr lang="en-US" dirty="0"/>
          </a:p>
        </p:txBody>
      </p:sp>
    </p:spTree>
    <p:extLst>
      <p:ext uri="{BB962C8B-B14F-4D97-AF65-F5344CB8AC3E}">
        <p14:creationId xmlns:p14="http://schemas.microsoft.com/office/powerpoint/2010/main" val="162261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Rumor Patrol! (</a:t>
            </a:r>
            <a:r>
              <a:rPr lang="en-US" b="1" dirty="0" err="1"/>
              <a:t>cont</a:t>
            </a:r>
            <a:r>
              <a:rPr lang="en-US" b="1" dirty="0"/>
              <a:t>)</a:t>
            </a:r>
            <a:br>
              <a:rPr lang="en-US" sz="4000" dirty="0"/>
            </a:br>
            <a:endParaRPr lang="en-US" dirty="0"/>
          </a:p>
        </p:txBody>
      </p:sp>
      <p:sp>
        <p:nvSpPr>
          <p:cNvPr id="3" name="Content Placeholder 2"/>
          <p:cNvSpPr>
            <a:spLocks noGrp="1"/>
          </p:cNvSpPr>
          <p:nvPr>
            <p:ph idx="1"/>
          </p:nvPr>
        </p:nvSpPr>
        <p:spPr/>
        <p:txBody>
          <a:bodyPr/>
          <a:lstStyle/>
          <a:p>
            <a:pPr lvl="0"/>
            <a:r>
              <a:rPr lang="en-US" dirty="0"/>
              <a:t>If I got fired from a job, I should keep it off of my resume. </a:t>
            </a:r>
          </a:p>
          <a:p>
            <a:pPr lvl="0"/>
            <a:endParaRPr lang="en-US" dirty="0"/>
          </a:p>
          <a:p>
            <a:pPr lvl="1"/>
            <a:r>
              <a:rPr lang="en-US" dirty="0"/>
              <a:t>FALSE. Always disclose anytime you were fired, or resigned before getting fired from a job within the last 7 years. If selected for the job, a background check will be conducted and the firing will be discovered. If you lied, or misled the government the offer of employment can be withdrawn. </a:t>
            </a:r>
          </a:p>
          <a:p>
            <a:endParaRPr lang="en-US" dirty="0"/>
          </a:p>
        </p:txBody>
      </p:sp>
    </p:spTree>
    <p:extLst>
      <p:ext uri="{BB962C8B-B14F-4D97-AF65-F5344CB8AC3E}">
        <p14:creationId xmlns:p14="http://schemas.microsoft.com/office/powerpoint/2010/main" val="4294622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FAQ</a:t>
            </a:r>
            <a:br>
              <a:rPr lang="en-US" sz="4000" dirty="0"/>
            </a:br>
            <a:endParaRPr lang="en-US" dirty="0"/>
          </a:p>
        </p:txBody>
      </p:sp>
      <p:sp>
        <p:nvSpPr>
          <p:cNvPr id="3" name="Content Placeholder 2"/>
          <p:cNvSpPr>
            <a:spLocks noGrp="1"/>
          </p:cNvSpPr>
          <p:nvPr>
            <p:ph idx="1"/>
          </p:nvPr>
        </p:nvSpPr>
        <p:spPr/>
        <p:txBody>
          <a:bodyPr>
            <a:normAutofit/>
          </a:bodyPr>
          <a:lstStyle/>
          <a:p>
            <a:pPr lvl="0"/>
            <a:r>
              <a:rPr lang="en-US" dirty="0"/>
              <a:t>When listing my previous employment on my resume, how far back in time should I go? </a:t>
            </a:r>
          </a:p>
          <a:p>
            <a:pPr lvl="0"/>
            <a:endParaRPr lang="en-US" dirty="0"/>
          </a:p>
          <a:p>
            <a:pPr lvl="1"/>
            <a:r>
              <a:rPr lang="en-US" dirty="0"/>
              <a:t>It is suggested that you develop a resume that covers about ten years, with lots of stories about what you did and how well you did it (accomplishments). Focus on the position for which you are applying, in a way that best reflects your competencies for the position. </a:t>
            </a:r>
          </a:p>
          <a:p>
            <a:endParaRPr lang="en-US" dirty="0"/>
          </a:p>
        </p:txBody>
      </p:sp>
    </p:spTree>
    <p:extLst>
      <p:ext uri="{BB962C8B-B14F-4D97-AF65-F5344CB8AC3E}">
        <p14:creationId xmlns:p14="http://schemas.microsoft.com/office/powerpoint/2010/main" val="4228275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FAQ		</a:t>
            </a:r>
          </a:p>
        </p:txBody>
      </p:sp>
      <p:sp>
        <p:nvSpPr>
          <p:cNvPr id="3" name="Content Placeholder 2"/>
          <p:cNvSpPr>
            <a:spLocks noGrp="1"/>
          </p:cNvSpPr>
          <p:nvPr>
            <p:ph idx="1"/>
          </p:nvPr>
        </p:nvSpPr>
        <p:spPr/>
        <p:txBody>
          <a:bodyPr>
            <a:normAutofit/>
          </a:bodyPr>
          <a:lstStyle/>
          <a:p>
            <a:r>
              <a:rPr lang="en-US" sz="3200" dirty="0"/>
              <a:t>Is it better to submit my own resume, or a USAJOBS resume from Resume builder? </a:t>
            </a:r>
          </a:p>
          <a:p>
            <a:pPr lvl="1"/>
            <a:endParaRPr lang="en-US" sz="3200" dirty="0"/>
          </a:p>
          <a:p>
            <a:pPr lvl="1"/>
            <a:r>
              <a:rPr lang="en-US" sz="3200" dirty="0"/>
              <a:t>You have 3 choices </a:t>
            </a:r>
          </a:p>
          <a:p>
            <a:pPr lvl="2"/>
            <a:endParaRPr lang="en-US" sz="3200" dirty="0"/>
          </a:p>
          <a:p>
            <a:pPr marL="1428750" lvl="2" indent="-514350">
              <a:buFont typeface="+mj-lt"/>
              <a:buAutoNum type="arabicPeriod"/>
            </a:pPr>
            <a:r>
              <a:rPr lang="en-US" sz="3200" dirty="0"/>
              <a:t>USAJOBS resume</a:t>
            </a:r>
          </a:p>
          <a:p>
            <a:pPr marL="1428750" lvl="2" indent="-514350">
              <a:buFont typeface="+mj-lt"/>
              <a:buAutoNum type="arabicPeriod"/>
            </a:pPr>
            <a:r>
              <a:rPr lang="en-US" sz="3200" dirty="0"/>
              <a:t>Personal resume (Word)</a:t>
            </a:r>
          </a:p>
          <a:p>
            <a:pPr marL="1428750" lvl="2" indent="-514350">
              <a:buFont typeface="+mj-lt"/>
              <a:buAutoNum type="arabicPeriod"/>
            </a:pPr>
            <a:r>
              <a:rPr lang="en-US" sz="3200" dirty="0"/>
              <a:t>Both</a:t>
            </a:r>
          </a:p>
          <a:p>
            <a:endParaRPr lang="en-US" sz="3200" dirty="0">
              <a:solidFill>
                <a:srgbClr val="FF0000"/>
              </a:solidFill>
            </a:endParaRPr>
          </a:p>
          <a:p>
            <a:endParaRPr lang="en-US" dirty="0"/>
          </a:p>
        </p:txBody>
      </p:sp>
    </p:spTree>
    <p:extLst>
      <p:ext uri="{BB962C8B-B14F-4D97-AF65-F5344CB8AC3E}">
        <p14:creationId xmlns:p14="http://schemas.microsoft.com/office/powerpoint/2010/main" val="3742060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FAQ</a:t>
            </a:r>
            <a:endParaRPr lang="en-US" dirty="0"/>
          </a:p>
        </p:txBody>
      </p:sp>
      <p:sp>
        <p:nvSpPr>
          <p:cNvPr id="3" name="Content Placeholder 2"/>
          <p:cNvSpPr>
            <a:spLocks noGrp="1"/>
          </p:cNvSpPr>
          <p:nvPr>
            <p:ph idx="1"/>
          </p:nvPr>
        </p:nvSpPr>
        <p:spPr/>
        <p:txBody>
          <a:bodyPr/>
          <a:lstStyle/>
          <a:p>
            <a:pPr lvl="0"/>
            <a:endParaRPr lang="en-US" dirty="0"/>
          </a:p>
          <a:p>
            <a:pPr lvl="0"/>
            <a:r>
              <a:rPr lang="en-US" dirty="0"/>
              <a:t>How long should my resume be? </a:t>
            </a:r>
          </a:p>
          <a:p>
            <a:pPr lvl="0"/>
            <a:endParaRPr lang="en-US" dirty="0"/>
          </a:p>
          <a:p>
            <a:pPr lvl="1"/>
            <a:r>
              <a:rPr lang="en-US" dirty="0"/>
              <a:t>The resume that goes into the application package should be no more than three to five pages; plus the pages for your knowledge, skills and abilities statements and any other announcement-specific information, such as performance ratings. There are exceptions to this, of course, but use three pages as a guideline. If you do not have the work experiences for three pages, then your resume may only be one or two</a:t>
            </a:r>
          </a:p>
          <a:p>
            <a:endParaRPr lang="en-US" dirty="0"/>
          </a:p>
        </p:txBody>
      </p:sp>
    </p:spTree>
    <p:extLst>
      <p:ext uri="{BB962C8B-B14F-4D97-AF65-F5344CB8AC3E}">
        <p14:creationId xmlns:p14="http://schemas.microsoft.com/office/powerpoint/2010/main" val="47427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FAQ</a:t>
            </a:r>
            <a:endParaRPr lang="en-US" dirty="0"/>
          </a:p>
        </p:txBody>
      </p:sp>
      <p:sp>
        <p:nvSpPr>
          <p:cNvPr id="3" name="Content Placeholder 2"/>
          <p:cNvSpPr>
            <a:spLocks noGrp="1"/>
          </p:cNvSpPr>
          <p:nvPr>
            <p:ph idx="1"/>
          </p:nvPr>
        </p:nvSpPr>
        <p:spPr/>
        <p:txBody>
          <a:bodyPr/>
          <a:lstStyle/>
          <a:p>
            <a:pPr lvl="0"/>
            <a:r>
              <a:rPr lang="en-US" dirty="0"/>
              <a:t>How long should my resume be? </a:t>
            </a:r>
          </a:p>
          <a:p>
            <a:pPr lvl="0"/>
            <a:endParaRPr lang="en-US" dirty="0"/>
          </a:p>
          <a:p>
            <a:pPr lvl="1"/>
            <a:r>
              <a:rPr lang="en-US" dirty="0"/>
              <a:t>The resume that goes into the application package should be no more than three to five pages; plus the pages for your knowledge, skills and abilities statements and any other announcement-specific information, such as performance ratings. There are exceptions to this, of course, but use three pages as a guideline. If you do not have the work experiences for three pages, then your resume may only be one or two</a:t>
            </a:r>
          </a:p>
          <a:p>
            <a:endParaRPr lang="en-US" dirty="0"/>
          </a:p>
        </p:txBody>
      </p:sp>
    </p:spTree>
    <p:extLst>
      <p:ext uri="{BB962C8B-B14F-4D97-AF65-F5344CB8AC3E}">
        <p14:creationId xmlns:p14="http://schemas.microsoft.com/office/powerpoint/2010/main" val="3311617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FAQ</a:t>
            </a:r>
          </a:p>
        </p:txBody>
      </p:sp>
      <p:sp>
        <p:nvSpPr>
          <p:cNvPr id="3" name="Content Placeholder 2"/>
          <p:cNvSpPr>
            <a:spLocks noGrp="1"/>
          </p:cNvSpPr>
          <p:nvPr>
            <p:ph idx="1"/>
          </p:nvPr>
        </p:nvSpPr>
        <p:spPr/>
        <p:txBody>
          <a:bodyPr/>
          <a:lstStyle/>
          <a:p>
            <a:pPr lvl="0"/>
            <a:r>
              <a:rPr lang="en-US" dirty="0"/>
              <a:t>Do I have to customize my resume for every job I apply for? </a:t>
            </a:r>
          </a:p>
          <a:p>
            <a:pPr lvl="1"/>
            <a:r>
              <a:rPr lang="en-US" dirty="0"/>
              <a:t>Yes—if you want the job! </a:t>
            </a:r>
          </a:p>
          <a:p>
            <a:pPr lvl="1"/>
            <a:endParaRPr lang="en-US" dirty="0"/>
          </a:p>
          <a:p>
            <a:pPr lvl="0"/>
            <a:r>
              <a:rPr lang="en-US" dirty="0"/>
              <a:t>Can I create on ‘base resume’ and use that one single resume to apply to all the jobs I am interested in? </a:t>
            </a:r>
          </a:p>
          <a:p>
            <a:pPr lvl="0"/>
            <a:endParaRPr lang="en-US" dirty="0"/>
          </a:p>
          <a:p>
            <a:pPr lvl="1"/>
            <a:r>
              <a:rPr lang="en-US" dirty="0"/>
              <a:t>No. Using a generic resume to apply to lots of different positions is a bad idea. Why? Because you cannot capture all the relevant keywords that you should be extracting from each announcement. </a:t>
            </a:r>
          </a:p>
          <a:p>
            <a:endParaRPr lang="en-US" dirty="0"/>
          </a:p>
        </p:txBody>
      </p:sp>
    </p:spTree>
    <p:extLst>
      <p:ext uri="{BB962C8B-B14F-4D97-AF65-F5344CB8AC3E}">
        <p14:creationId xmlns:p14="http://schemas.microsoft.com/office/powerpoint/2010/main" val="331735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FAQ</a:t>
            </a:r>
          </a:p>
        </p:txBody>
      </p:sp>
      <p:sp>
        <p:nvSpPr>
          <p:cNvPr id="3" name="Content Placeholder 2"/>
          <p:cNvSpPr>
            <a:spLocks noGrp="1"/>
          </p:cNvSpPr>
          <p:nvPr>
            <p:ph idx="1"/>
          </p:nvPr>
        </p:nvSpPr>
        <p:spPr/>
        <p:txBody>
          <a:bodyPr/>
          <a:lstStyle/>
          <a:p>
            <a:pPr lvl="0"/>
            <a:endParaRPr lang="en-US" dirty="0"/>
          </a:p>
          <a:p>
            <a:pPr lvl="0"/>
            <a:r>
              <a:rPr lang="en-US" dirty="0"/>
              <a:t>What does a federal resume look like?</a:t>
            </a:r>
          </a:p>
          <a:p>
            <a:pPr lvl="1"/>
            <a:endParaRPr lang="en-US" dirty="0"/>
          </a:p>
          <a:p>
            <a:pPr lvl="1"/>
            <a:r>
              <a:rPr lang="en-US" dirty="0"/>
              <a:t>Any resume can work as long as you include the proper keywords and have the right experience detailed</a:t>
            </a:r>
          </a:p>
          <a:p>
            <a:pPr lvl="1"/>
            <a:endParaRPr lang="en-US" dirty="0"/>
          </a:p>
          <a:p>
            <a:pPr lvl="0"/>
            <a:r>
              <a:rPr lang="en-US" dirty="0"/>
              <a:t>Should my resume be more specific or general? </a:t>
            </a:r>
          </a:p>
          <a:p>
            <a:pPr lvl="1"/>
            <a:endParaRPr lang="en-US" dirty="0"/>
          </a:p>
          <a:p>
            <a:pPr lvl="1"/>
            <a:r>
              <a:rPr lang="en-US" dirty="0"/>
              <a:t>It should be very, very specific …to the job you applying for. </a:t>
            </a:r>
          </a:p>
          <a:p>
            <a:endParaRPr lang="en-US" dirty="0"/>
          </a:p>
        </p:txBody>
      </p:sp>
    </p:spTree>
    <p:extLst>
      <p:ext uri="{BB962C8B-B14F-4D97-AF65-F5344CB8AC3E}">
        <p14:creationId xmlns:p14="http://schemas.microsoft.com/office/powerpoint/2010/main" val="49335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Just Getting Started?</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To write your federal resume, I strongly suggest using the Resume Builder available on USAJOBS.gov. </a:t>
            </a:r>
          </a:p>
          <a:p>
            <a:pPr lvl="0"/>
            <a:endParaRPr lang="en-US" dirty="0"/>
          </a:p>
          <a:p>
            <a:pPr lvl="0"/>
            <a:r>
              <a:rPr lang="en-US" dirty="0"/>
              <a:t>It will guide you through the resume writing process, ensuring that you do not leave out important pieces of your application. </a:t>
            </a:r>
          </a:p>
          <a:p>
            <a:pPr lvl="0"/>
            <a:endParaRPr lang="en-US" dirty="0"/>
          </a:p>
          <a:p>
            <a:pPr lvl="0"/>
            <a:r>
              <a:rPr lang="en-US" dirty="0"/>
              <a:t>It also allows you to store multiple resumes, so that you can tailor each one to a different position. </a:t>
            </a:r>
          </a:p>
          <a:p>
            <a:endParaRPr lang="en-US" dirty="0"/>
          </a:p>
        </p:txBody>
      </p:sp>
    </p:spTree>
    <p:extLst>
      <p:ext uri="{BB962C8B-B14F-4D97-AF65-F5344CB8AC3E}">
        <p14:creationId xmlns:p14="http://schemas.microsoft.com/office/powerpoint/2010/main" val="297553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Just Getting Started? (</a:t>
            </a:r>
            <a:r>
              <a:rPr lang="en-US" dirty="0" err="1"/>
              <a:t>cont</a:t>
            </a:r>
            <a:r>
              <a:rPr lang="en-US" dirty="0"/>
              <a:t>)</a:t>
            </a:r>
          </a:p>
        </p:txBody>
      </p:sp>
      <p:sp>
        <p:nvSpPr>
          <p:cNvPr id="3" name="Content Placeholder 2"/>
          <p:cNvSpPr>
            <a:spLocks noGrp="1"/>
          </p:cNvSpPr>
          <p:nvPr>
            <p:ph idx="1"/>
          </p:nvPr>
        </p:nvSpPr>
        <p:spPr/>
        <p:txBody>
          <a:bodyPr/>
          <a:lstStyle/>
          <a:p>
            <a:pPr lvl="0"/>
            <a:r>
              <a:rPr lang="en-US" dirty="0"/>
              <a:t>The Resume Builder will also eliminate decorative formatting by generating a template that looks the same for every applicant, ensuring a fair and equal process.</a:t>
            </a:r>
          </a:p>
          <a:p>
            <a:pPr lvl="0"/>
            <a:endParaRPr lang="en-US" dirty="0"/>
          </a:p>
          <a:p>
            <a:pPr lvl="0"/>
            <a:r>
              <a:rPr lang="en-US" dirty="0"/>
              <a:t>There is nothing worse than reading someone’s 20-page federal resume that is really nothing more than a personal biography. </a:t>
            </a:r>
          </a:p>
          <a:p>
            <a:pPr lvl="1"/>
            <a:endParaRPr lang="en-US" dirty="0"/>
          </a:p>
          <a:p>
            <a:pPr lvl="1"/>
            <a:r>
              <a:rPr lang="en-US" dirty="0"/>
              <a:t>Keep it simple. </a:t>
            </a:r>
          </a:p>
          <a:p>
            <a:pPr lvl="1"/>
            <a:r>
              <a:rPr lang="en-US" dirty="0"/>
              <a:t>Only include relevant experience. </a:t>
            </a:r>
          </a:p>
          <a:p>
            <a:pPr lvl="1"/>
            <a:r>
              <a:rPr lang="en-US" dirty="0"/>
              <a:t>Use lots and lots of keywords directly from the announcement. </a:t>
            </a:r>
          </a:p>
        </p:txBody>
      </p:sp>
    </p:spTree>
    <p:extLst>
      <p:ext uri="{BB962C8B-B14F-4D97-AF65-F5344CB8AC3E}">
        <p14:creationId xmlns:p14="http://schemas.microsoft.com/office/powerpoint/2010/main" val="1582318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5496" y="2084932"/>
            <a:ext cx="10515600" cy="4351338"/>
          </a:xfrm>
        </p:spPr>
        <p:txBody>
          <a:bodyPr>
            <a:normAutofit/>
          </a:bodyPr>
          <a:lstStyle/>
          <a:p>
            <a:pPr marL="0" indent="0" algn="ctr">
              <a:buNone/>
            </a:pPr>
            <a:r>
              <a:rPr lang="en-US" sz="6600" dirty="0"/>
              <a:t>Lets take a look at a useful resume format…</a:t>
            </a:r>
          </a:p>
          <a:p>
            <a:pPr marL="0" indent="0" algn="ctr">
              <a:buNone/>
            </a:pPr>
            <a:endParaRPr lang="en-US" sz="6600" dirty="0"/>
          </a:p>
          <a:p>
            <a:pPr marL="0" indent="0" algn="ctr">
              <a:buNone/>
            </a:pPr>
            <a:endParaRPr lang="en-US" sz="6600" dirty="0"/>
          </a:p>
        </p:txBody>
      </p:sp>
    </p:spTree>
    <p:extLst>
      <p:ext uri="{BB962C8B-B14F-4D97-AF65-F5344CB8AC3E}">
        <p14:creationId xmlns:p14="http://schemas.microsoft.com/office/powerpoint/2010/main" val="2644988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5496" y="2084932"/>
            <a:ext cx="10515600" cy="4351338"/>
          </a:xfrm>
        </p:spPr>
        <p:txBody>
          <a:bodyPr>
            <a:normAutofit lnSpcReduction="10000"/>
          </a:bodyPr>
          <a:lstStyle/>
          <a:p>
            <a:pPr marL="0" indent="0" algn="ctr">
              <a:buNone/>
            </a:pPr>
            <a:r>
              <a:rPr lang="en-US" sz="6600" dirty="0"/>
              <a:t>Questions?</a:t>
            </a:r>
          </a:p>
          <a:p>
            <a:pPr marL="0" indent="0" algn="ctr">
              <a:buNone/>
            </a:pPr>
            <a:endParaRPr lang="en-US" sz="6600" dirty="0"/>
          </a:p>
          <a:p>
            <a:pPr marL="0" indent="0" algn="ctr">
              <a:buNone/>
            </a:pPr>
            <a:endParaRPr lang="en-US" sz="6600" dirty="0"/>
          </a:p>
          <a:p>
            <a:pPr marL="0" indent="0" algn="ctr">
              <a:buNone/>
            </a:pPr>
            <a:r>
              <a:rPr lang="en-US" sz="3900" dirty="0"/>
              <a:t>Kenneth Elshoff</a:t>
            </a:r>
          </a:p>
          <a:p>
            <a:pPr marL="0" indent="0" algn="ctr">
              <a:buNone/>
            </a:pPr>
            <a:r>
              <a:rPr lang="en-US" sz="3900" dirty="0"/>
              <a:t>www.FederalJobsAcademy.com </a:t>
            </a:r>
          </a:p>
          <a:p>
            <a:pPr marL="0" indent="0" algn="ctr">
              <a:buNone/>
            </a:pPr>
            <a:endParaRPr lang="en-US" sz="6600" dirty="0"/>
          </a:p>
        </p:txBody>
      </p:sp>
    </p:spTree>
    <p:extLst>
      <p:ext uri="{BB962C8B-B14F-4D97-AF65-F5344CB8AC3E}">
        <p14:creationId xmlns:p14="http://schemas.microsoft.com/office/powerpoint/2010/main" val="4020246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TotalTime>
  <Words>1474</Words>
  <Application>Microsoft Office PowerPoint</Application>
  <PresentationFormat>Widescreen</PresentationFormat>
  <Paragraphs>139</Paragraphs>
  <Slides>24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  How to Write a High-Probability  Federal Job Resume      </vt:lpstr>
      <vt:lpstr>Who is Kenneth Elshoff? </vt:lpstr>
      <vt:lpstr>Course Objectives</vt:lpstr>
      <vt:lpstr>Federal Resumes</vt:lpstr>
      <vt:lpstr>DISCLAIMER:  </vt:lpstr>
      <vt:lpstr>PowerPoint Presentation</vt:lpstr>
      <vt:lpstr>The elephant in the Room… addressing a major RUMOR </vt:lpstr>
      <vt:lpstr>The elephant in the Room… addressing a major RUMOR (cont)</vt:lpstr>
      <vt:lpstr>However, here is the good news </vt:lpstr>
      <vt:lpstr>Rumor Patrol! </vt:lpstr>
      <vt:lpstr>Rumor Patrol! (cont) </vt:lpstr>
      <vt:lpstr>Rumor Patrol! (cont) </vt:lpstr>
      <vt:lpstr>Rumor Patrol! (cont) </vt:lpstr>
      <vt:lpstr>Rumor Patrol! (cont) </vt:lpstr>
      <vt:lpstr>FAQ </vt:lpstr>
      <vt:lpstr>FAQ  </vt:lpstr>
      <vt:lpstr>FAQ</vt:lpstr>
      <vt:lpstr>FAQ</vt:lpstr>
      <vt:lpstr>FAQ</vt:lpstr>
      <vt:lpstr>FAQ</vt:lpstr>
      <vt:lpstr>Just Getting Started? </vt:lpstr>
      <vt:lpstr>Just Getting Started? (cont)</vt:lpstr>
      <vt:lpstr>PowerPoint Presentation</vt:lpstr>
      <vt:lpstr>PowerPoint Presentation</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a Federal Resume</dc:title>
  <dc:creator>Elshoff, Kenneth P</dc:creator>
  <cp:lastModifiedBy>Ken</cp:lastModifiedBy>
  <cp:revision>367</cp:revision>
  <dcterms:created xsi:type="dcterms:W3CDTF">2016-02-11T16:28:37Z</dcterms:created>
  <dcterms:modified xsi:type="dcterms:W3CDTF">2020-10-28T21:23:35Z</dcterms:modified>
</cp:coreProperties>
</file>