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6.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7.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8.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9.xml" ContentType="application/vnd.openxmlformats-officedocument.presentationml.notesSlide+xml"/>
  <Override PartName="/ppt/ink/ink1.xml" ContentType="application/inkml+xml"/>
  <Override PartName="/ppt/ink/ink2.xml" ContentType="application/inkml+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10.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1.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4.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5.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16.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7.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18.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4"/>
  </p:sldMasterIdLst>
  <p:notesMasterIdLst>
    <p:notesMasterId r:id="rId47"/>
  </p:notesMasterIdLst>
  <p:handoutMasterIdLst>
    <p:handoutMasterId r:id="rId48"/>
  </p:handoutMasterIdLst>
  <p:sldIdLst>
    <p:sldId id="257" r:id="rId5"/>
    <p:sldId id="261" r:id="rId6"/>
    <p:sldId id="262" r:id="rId7"/>
    <p:sldId id="287" r:id="rId8"/>
    <p:sldId id="305" r:id="rId9"/>
    <p:sldId id="296" r:id="rId10"/>
    <p:sldId id="297" r:id="rId11"/>
    <p:sldId id="295" r:id="rId12"/>
    <p:sldId id="298" r:id="rId13"/>
    <p:sldId id="277" r:id="rId14"/>
    <p:sldId id="260" r:id="rId15"/>
    <p:sldId id="263" r:id="rId16"/>
    <p:sldId id="293" r:id="rId17"/>
    <p:sldId id="294" r:id="rId18"/>
    <p:sldId id="267" r:id="rId19"/>
    <p:sldId id="266" r:id="rId20"/>
    <p:sldId id="290" r:id="rId21"/>
    <p:sldId id="291" r:id="rId22"/>
    <p:sldId id="292" r:id="rId23"/>
    <p:sldId id="281" r:id="rId24"/>
    <p:sldId id="286" r:id="rId25"/>
    <p:sldId id="304" r:id="rId26"/>
    <p:sldId id="307" r:id="rId27"/>
    <p:sldId id="268" r:id="rId28"/>
    <p:sldId id="274" r:id="rId29"/>
    <p:sldId id="278" r:id="rId30"/>
    <p:sldId id="299" r:id="rId31"/>
    <p:sldId id="300" r:id="rId32"/>
    <p:sldId id="301" r:id="rId33"/>
    <p:sldId id="272" r:id="rId34"/>
    <p:sldId id="280" r:id="rId35"/>
    <p:sldId id="276" r:id="rId36"/>
    <p:sldId id="279" r:id="rId37"/>
    <p:sldId id="269" r:id="rId38"/>
    <p:sldId id="275" r:id="rId39"/>
    <p:sldId id="270" r:id="rId40"/>
    <p:sldId id="271" r:id="rId41"/>
    <p:sldId id="283" r:id="rId42"/>
    <p:sldId id="288" r:id="rId43"/>
    <p:sldId id="289" r:id="rId44"/>
    <p:sldId id="284" r:id="rId45"/>
    <p:sldId id="256" r:id="rId46"/>
  </p:sldIdLst>
  <p:sldSz cx="9144000" cy="6858000" type="screen4x3"/>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obert Grooms" initials="Rob" lastIdx="0" clrIdx="0"/>
  <p:cmAuthor id="1" name="Devin.Johnston" initials="DJohnston"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a:srgbClr val="7C5F1E"/>
    <a:srgbClr val="E7D0A4"/>
    <a:srgbClr val="6A5B3F"/>
    <a:srgbClr val="987734"/>
    <a:srgbClr val="AB8C4E"/>
    <a:srgbClr val="C6A156"/>
    <a:srgbClr val="E8D2A8"/>
    <a:srgbClr val="F5F0E9"/>
    <a:srgbClr val="BEA5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115D45-D77F-471E-A427-0230F679447E}" v="54" dt="2025-08-12T13:36:11.8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1207" autoAdjust="0"/>
  </p:normalViewPr>
  <p:slideViewPr>
    <p:cSldViewPr snapToGrid="0">
      <p:cViewPr varScale="1">
        <p:scale>
          <a:sx n="113" d="100"/>
          <a:sy n="113" d="100"/>
        </p:scale>
        <p:origin x="1590" y="84"/>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5766"/>
    </p:cViewPr>
  </p:sorterViewPr>
  <p:notesViewPr>
    <p:cSldViewPr snapToGrid="0">
      <p:cViewPr varScale="1">
        <p:scale>
          <a:sx n="74" d="100"/>
          <a:sy n="74" d="100"/>
        </p:scale>
        <p:origin x="-26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commentAuthors" Target="commentAuthors.xml"/><Relationship Id="rId55"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latin typeface="Times New Roman" panose="02020603050405020304" pitchFamily="18"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3DACAB9-A087-46C6-8392-9DA45A27783B}" type="datetimeFigureOut">
              <a:rPr lang="en-US" smtClean="0">
                <a:latin typeface="Times New Roman" panose="02020603050405020304" pitchFamily="18" charset="0"/>
              </a:rPr>
              <a:t>08/14/2025</a:t>
            </a:fld>
            <a:endParaRPr lang="en-US">
              <a:latin typeface="Times New Roman" panose="02020603050405020304" pitchFamily="18"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latin typeface="Times New Roman" panose="02020603050405020304" pitchFamily="18"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4BF439-490C-45C3-9C2D-A971383A48DD}" type="slidenum">
              <a:rPr lang="en-US" smtClean="0">
                <a:latin typeface="Times New Roman" panose="02020603050405020304" pitchFamily="18" charset="0"/>
              </a:rPr>
              <a:t>‹#›</a:t>
            </a:fld>
            <a:endParaRPr lang="en-US">
              <a:latin typeface="Times New Roman" panose="02020603050405020304" pitchFamily="18" charset="0"/>
            </a:endParaRPr>
          </a:p>
        </p:txBody>
      </p:sp>
    </p:spTree>
    <p:extLst>
      <p:ext uri="{BB962C8B-B14F-4D97-AF65-F5344CB8AC3E}">
        <p14:creationId xmlns:p14="http://schemas.microsoft.com/office/powerpoint/2010/main" val="293229890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18T14:14:18.687"/>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29,'51'1,"-12"0,1-1,-1-3,62-10,-58 6,0 2,0 2,82 5,-31 1,-71-2,-1 2,39 8,-13-1,6 0,-28-4,0-2,46 3,-13-8,-24 0,0 1,-1 2,1 1,35 8,-28-3,1-3,0-2,0-1,58-6,2 1,-21 1,92 5,-105 8,-49-6,-1-2,27 2,17-4,-18-1,-1 2,61 10,-44-4,0-2,1-3,70-7,-12 2,-72 2,11-1,0 2,83 14,-75-7,0-3,131-6,-68-2,767 3,-875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1-18T14:14:27.21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3DF05838-7BCA-4652-9007-BD0302928936}" type="datetimeFigureOut">
              <a:rPr lang="en-US" smtClean="0"/>
              <a:t>08/14/2025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0E7C618C-DDD3-4DC9-ADAB-73264023D4F2}" type="slidenum">
              <a:rPr lang="en-US" smtClean="0"/>
              <a:t>‹#›</a:t>
            </a:fld>
            <a:endParaRPr lang="en-US"/>
          </a:p>
        </p:txBody>
      </p:sp>
    </p:spTree>
    <p:extLst>
      <p:ext uri="{BB962C8B-B14F-4D97-AF65-F5344CB8AC3E}">
        <p14:creationId xmlns:p14="http://schemas.microsoft.com/office/powerpoint/2010/main" val="1824007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a:lvl2pPr marL="457200" algn="l" defTabSz="914400" rtl="0" eaLnBrk="1" latinLnBrk="0" hangingPunct="1">
      <a:defRPr sz="1200" kern="1200">
        <a:solidFill>
          <a:schemeClr val="tx1"/>
        </a:solidFill>
        <a:latin typeface="Times New Roman" panose="02020603050405020304" pitchFamily="18" charset="0"/>
        <a:ea typeface="+mn-ea"/>
        <a:cs typeface="+mn-cs"/>
      </a:defRPr>
    </a:lvl2pPr>
    <a:lvl3pPr marL="914400" algn="l" defTabSz="914400" rtl="0" eaLnBrk="1" latinLnBrk="0" hangingPunct="1">
      <a:defRPr sz="120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sz="1800" b="0" kern="1200">
                <a:solidFill>
                  <a:schemeClr val="tx1"/>
                </a:solidFill>
                <a:effectLst/>
                <a:latin typeface="Arial" panose="020B0604020202020204" pitchFamily="34" charset="0"/>
                <a:ea typeface="+mn-ea"/>
                <a:cs typeface="Arial" panose="020B0604020202020204" pitchFamily="34" charset="0"/>
              </a:rPr>
              <a:t>Welcome to the Service Connection for National Guard and Reserves course. To advance each slide, click anywhere on the screen.</a:t>
            </a:r>
          </a:p>
        </p:txBody>
      </p:sp>
      <p:sp>
        <p:nvSpPr>
          <p:cNvPr id="4" name="Slide Number Placeholder 3"/>
          <p:cNvSpPr>
            <a:spLocks noGrp="1"/>
          </p:cNvSpPr>
          <p:nvPr>
            <p:ph type="sldNum" sz="quarter" idx="10"/>
          </p:nvPr>
        </p:nvSpPr>
        <p:spPr/>
        <p:txBody>
          <a:bodyPr/>
          <a:lstStyle/>
          <a:p>
            <a:fld id="{0E7C618C-DDD3-4DC9-ADAB-73264023D4F2}" type="slidenum">
              <a:rPr lang="en-US" smtClean="0"/>
              <a:t>1</a:t>
            </a:fld>
            <a:endParaRPr lang="en-US"/>
          </a:p>
        </p:txBody>
      </p:sp>
    </p:spTree>
    <p:extLst>
      <p:ext uri="{BB962C8B-B14F-4D97-AF65-F5344CB8AC3E}">
        <p14:creationId xmlns:p14="http://schemas.microsoft.com/office/powerpoint/2010/main" val="4171021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Objectives</a:t>
            </a:r>
          </a:p>
          <a:p>
            <a:pPr marL="0" marR="0" lvl="0" indent="0" algn="l" defTabSz="914400" rtl="0" eaLnBrk="1" fontAlgn="auto" latinLnBrk="0" hangingPunct="1">
              <a:lnSpc>
                <a:spcPct val="100000"/>
              </a:lnSpc>
              <a:spcBef>
                <a:spcPct val="0"/>
              </a:spcBef>
              <a:spcAft>
                <a:spcPct val="0"/>
              </a:spcAft>
              <a:buClrTx/>
              <a:buSzTx/>
              <a:buFont typeface="Arial" panose="020B0604020202020204" pitchFamily="34" charset="0"/>
              <a:buNone/>
              <a:defRPr/>
            </a:pPr>
            <a:r>
              <a:rPr lang="en-US" sz="1800" b="0">
                <a:solidFill>
                  <a:schemeClr val="tx1"/>
                </a:solidFill>
                <a:latin typeface="Arial" panose="020B0604020202020204" pitchFamily="34" charset="0"/>
                <a:cs typeface="Arial" panose="020B0604020202020204" pitchFamily="34" charset="0"/>
              </a:rPr>
              <a:t>Upon completion of this lesson, you will be able to:</a:t>
            </a:r>
          </a:p>
          <a:p>
            <a:pPr marL="0" indent="0">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Demonstrate a comprehensive understanding of what is considered active duty and or qualifying service for National Guard and Reserves. </a:t>
            </a:r>
          </a:p>
          <a:p>
            <a:pPr marL="0" indent="0">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Identify when a rating decision is the appropriate action to take.</a:t>
            </a:r>
          </a:p>
        </p:txBody>
      </p:sp>
      <p:sp>
        <p:nvSpPr>
          <p:cNvPr id="4" name="Slide Number Placeholder 3"/>
          <p:cNvSpPr>
            <a:spLocks noGrp="1"/>
          </p:cNvSpPr>
          <p:nvPr>
            <p:ph type="sldNum" sz="quarter" idx="10"/>
          </p:nvPr>
        </p:nvSpPr>
        <p:spPr/>
        <p:txBody>
          <a:bodyPr/>
          <a:lstStyle/>
          <a:p>
            <a:fld id="{0E7C618C-DDD3-4DC9-ADAB-73264023D4F2}" type="slidenum">
              <a:rPr lang="en-US" smtClean="0"/>
              <a:t>2</a:t>
            </a:fld>
            <a:endParaRPr lang="en-US"/>
          </a:p>
        </p:txBody>
      </p:sp>
    </p:spTree>
    <p:extLst>
      <p:ext uri="{BB962C8B-B14F-4D97-AF65-F5344CB8AC3E}">
        <p14:creationId xmlns:p14="http://schemas.microsoft.com/office/powerpoint/2010/main" val="375506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a:solidFill>
                  <a:schemeClr val="tx1"/>
                </a:solidFill>
                <a:latin typeface="Arial" panose="020B0604020202020204" pitchFamily="34" charset="0"/>
                <a:cs typeface="Arial" panose="020B0604020202020204" pitchFamily="34" charset="0"/>
              </a:rPr>
              <a:t>References</a:t>
            </a:r>
          </a:p>
          <a:p>
            <a:pPr marL="0" marR="0" lvl="0" indent="0" algn="l" defTabSz="914400" rtl="0" eaLnBrk="1" fontAlgn="auto" latinLnBrk="0" hangingPunct="1">
              <a:lnSpc>
                <a:spcPct val="100000"/>
              </a:lnSpc>
              <a:spcBef>
                <a:spcPct val="0"/>
              </a:spcBef>
              <a:spcAft>
                <a:spcPct val="0"/>
              </a:spcAft>
              <a:buClrTx/>
              <a:buSzTx/>
              <a:buFontTx/>
              <a:buNone/>
              <a:defRPr/>
            </a:pPr>
            <a:r>
              <a:rPr lang="en-US" sz="1800" b="0" kern="1200">
                <a:solidFill>
                  <a:schemeClr val="tx1"/>
                </a:solidFill>
                <a:effectLst/>
                <a:latin typeface="Arial" panose="020B0604020202020204" pitchFamily="34" charset="0"/>
                <a:ea typeface="+mn-ea"/>
                <a:cs typeface="Arial" panose="020B0604020202020204" pitchFamily="34" charset="0"/>
              </a:rPr>
              <a:t>The references for this course are listed on the screen. You may click any hyperlinked references for further details.</a:t>
            </a:r>
          </a:p>
          <a:p>
            <a:pPr lvl="0"/>
            <a:r>
              <a:rPr lang="en-US" sz="1800" b="0">
                <a:solidFill>
                  <a:schemeClr val="tx1"/>
                </a:solidFill>
                <a:latin typeface="Arial" panose="020B0604020202020204" pitchFamily="34" charset="0"/>
                <a:cs typeface="Arial" panose="020B0604020202020204" pitchFamily="34" charset="0"/>
              </a:rPr>
              <a:t>38 CFR 3.6, Duty Periods.</a:t>
            </a:r>
          </a:p>
          <a:p>
            <a:pPr lvl="0"/>
            <a:r>
              <a:rPr lang="en-US" sz="1800" b="0">
                <a:solidFill>
                  <a:schemeClr val="tx1"/>
                </a:solidFill>
                <a:latin typeface="Arial" panose="020B0604020202020204" pitchFamily="34" charset="0"/>
                <a:cs typeface="Arial" panose="020B0604020202020204" pitchFamily="34" charset="0"/>
              </a:rPr>
              <a:t>38 CFR 3.7, Individuals and groups considered to have performed active military, naval, or air service.</a:t>
            </a:r>
          </a:p>
          <a:p>
            <a:pPr lvl="0"/>
            <a:r>
              <a:rPr lang="en-US" sz="1800" b="0">
                <a:solidFill>
                  <a:schemeClr val="tx1"/>
                </a:solidFill>
                <a:latin typeface="Arial" panose="020B0604020202020204" pitchFamily="34" charset="0"/>
                <a:cs typeface="Arial" panose="020B0604020202020204" pitchFamily="34" charset="0"/>
              </a:rPr>
              <a:t>M21 dash 1, Part Three, Subpart two.6..A, Establishing Veteran Status </a:t>
            </a:r>
          </a:p>
          <a:p>
            <a:pPr lvl="0"/>
            <a:r>
              <a:rPr lang="en-US" sz="1800" b="0">
                <a:solidFill>
                  <a:schemeClr val="tx1"/>
                </a:solidFill>
                <a:latin typeface="Arial" panose="020B0604020202020204" pitchFamily="34" charset="0"/>
                <a:cs typeface="Arial" panose="020B0604020202020204" pitchFamily="34" charset="0"/>
              </a:rPr>
              <a:t>M21 dash 1, Part Three, Subpart four.4.B.4.f. Considering National Guard and Reserve Duty for Hearing Loss and or Tinnitus Claims</a:t>
            </a:r>
          </a:p>
          <a:p>
            <a:pPr lvl="0"/>
            <a:r>
              <a:rPr lang="en-US" sz="1800" b="0">
                <a:solidFill>
                  <a:schemeClr val="tx1"/>
                </a:solidFill>
                <a:latin typeface="Arial" panose="020B0604020202020204" pitchFamily="34" charset="0"/>
                <a:cs typeface="Arial" panose="020B0604020202020204" pitchFamily="34" charset="0"/>
              </a:rPr>
              <a:t>M21 dash 1, Part Three, Subpart five.1.D, Willful Misconduct and Line of Duty </a:t>
            </a:r>
          </a:p>
          <a:p>
            <a:pPr lvl="0"/>
            <a:r>
              <a:rPr lang="en-US" sz="1800" b="0">
                <a:solidFill>
                  <a:schemeClr val="tx1"/>
                </a:solidFill>
                <a:latin typeface="Arial" panose="020B0604020202020204" pitchFamily="34" charset="0"/>
                <a:cs typeface="Arial" panose="020B0604020202020204" pitchFamily="34" charset="0"/>
              </a:rPr>
              <a:t>M21 dash 1, Part IV, Subpart two.2.B, Determining Service Connection </a:t>
            </a:r>
            <a:endParaRPr lang="en-US" sz="1800" b="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0"/>
          </p:nvPr>
        </p:nvSpPr>
        <p:spPr/>
        <p:txBody>
          <a:bodyPr/>
          <a:lstStyle/>
          <a:p>
            <a:fld id="{0E7C618C-DDD3-4DC9-ADAB-73264023D4F2}" type="slidenum">
              <a:rPr lang="en-US" smtClean="0"/>
              <a:t>3</a:t>
            </a:fld>
            <a:endParaRPr lang="en-US"/>
          </a:p>
        </p:txBody>
      </p:sp>
    </p:spTree>
    <p:extLst>
      <p:ext uri="{BB962C8B-B14F-4D97-AF65-F5344CB8AC3E}">
        <p14:creationId xmlns:p14="http://schemas.microsoft.com/office/powerpoint/2010/main" val="2122617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7C618C-DDD3-4DC9-ADAB-73264023D4F2}" type="slidenum">
              <a:rPr lang="en-US" smtClean="0"/>
              <a:t>5</a:t>
            </a:fld>
            <a:endParaRPr lang="en-US"/>
          </a:p>
        </p:txBody>
      </p:sp>
    </p:spTree>
    <p:extLst>
      <p:ext uri="{BB962C8B-B14F-4D97-AF65-F5344CB8AC3E}">
        <p14:creationId xmlns:p14="http://schemas.microsoft.com/office/powerpoint/2010/main" val="2936611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dirty="0">
                <a:solidFill>
                  <a:srgbClr val="212529"/>
                </a:solidFill>
                <a:effectLst/>
                <a:latin typeface="Times New Roman" panose="02020603050405020304" pitchFamily="18" charset="0"/>
                <a:cs typeface="Times New Roman" panose="02020603050405020304" pitchFamily="18" charset="0"/>
              </a:rPr>
              <a:t>branches</a:t>
            </a:r>
            <a:endParaRPr lang="en-US" dirty="0"/>
          </a:p>
        </p:txBody>
      </p:sp>
      <p:sp>
        <p:nvSpPr>
          <p:cNvPr id="4" name="Slide Number Placeholder 3"/>
          <p:cNvSpPr>
            <a:spLocks noGrp="1"/>
          </p:cNvSpPr>
          <p:nvPr>
            <p:ph type="sldNum" sz="quarter" idx="5"/>
          </p:nvPr>
        </p:nvSpPr>
        <p:spPr/>
        <p:txBody>
          <a:bodyPr/>
          <a:lstStyle/>
          <a:p>
            <a:fld id="{0E7C618C-DDD3-4DC9-ADAB-73264023D4F2}" type="slidenum">
              <a:rPr lang="en-US" smtClean="0"/>
              <a:t>6</a:t>
            </a:fld>
            <a:endParaRPr lang="en-US"/>
          </a:p>
        </p:txBody>
      </p:sp>
    </p:spTree>
    <p:extLst>
      <p:ext uri="{BB962C8B-B14F-4D97-AF65-F5344CB8AC3E}">
        <p14:creationId xmlns:p14="http://schemas.microsoft.com/office/powerpoint/2010/main" val="940561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a:solidFill>
                  <a:schemeClr val="tx1"/>
                </a:solidFill>
                <a:effectLst/>
                <a:latin typeface="Arial" panose="020B0604020202020204" pitchFamily="34" charset="0"/>
                <a:cs typeface="Arial" panose="020B0604020202020204" pitchFamily="34" charset="0"/>
              </a:rPr>
              <a:t>Qualifying Service</a:t>
            </a:r>
          </a:p>
          <a:p>
            <a:pPr>
              <a:lnSpc>
                <a:spcPct val="110000"/>
              </a:lnSpc>
            </a:pPr>
            <a:r>
              <a:rPr lang="en-US" sz="1800" b="0">
                <a:solidFill>
                  <a:schemeClr val="tx1"/>
                </a:solidFill>
                <a:latin typeface="Arial" panose="020B0604020202020204" pitchFamily="34" charset="0"/>
                <a:cs typeface="Arial" panose="020B0604020202020204" pitchFamily="34" charset="0"/>
              </a:rPr>
              <a:t>Active duty.</a:t>
            </a:r>
          </a:p>
          <a:p>
            <a:pPr>
              <a:lnSpc>
                <a:spcPct val="110000"/>
              </a:lnSpc>
            </a:pPr>
            <a:r>
              <a:rPr lang="en-US" sz="1800" b="0">
                <a:solidFill>
                  <a:schemeClr val="tx1"/>
                </a:solidFill>
                <a:latin typeface="Arial" panose="020B0604020202020204" pitchFamily="34" charset="0"/>
                <a:cs typeface="Arial" panose="020B0604020202020204" pitchFamily="34" charset="0"/>
              </a:rPr>
              <a:t>Any period of active duty for training (A D T) during which a person is disabled from a disease or injury incurred or aggravated in the line of duty.</a:t>
            </a:r>
          </a:p>
          <a:p>
            <a:pPr>
              <a:lnSpc>
                <a:spcPct val="110000"/>
              </a:lnSpc>
            </a:pPr>
            <a:r>
              <a:rPr lang="en-US" sz="1800" b="0">
                <a:solidFill>
                  <a:schemeClr val="tx1"/>
                </a:solidFill>
                <a:latin typeface="Arial" panose="020B0604020202020204" pitchFamily="34" charset="0"/>
                <a:cs typeface="Arial" panose="020B0604020202020204" pitchFamily="34" charset="0"/>
              </a:rPr>
              <a:t>Any period of inactive duty for training (I A D T) during which a person is disabled from an injury incurred or aggravated in the line of duty or</a:t>
            </a:r>
            <a:r>
              <a:rPr lang="en-US" sz="1800" b="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n-US" sz="1800" b="0">
                <a:solidFill>
                  <a:schemeClr val="tx1"/>
                </a:solidFill>
                <a:latin typeface="Arial" panose="020B0604020202020204" pitchFamily="34" charset="0"/>
                <a:cs typeface="Arial" panose="020B0604020202020204" pitchFamily="34" charset="0"/>
              </a:rPr>
              <a:t>from any of the following conditions that occurred during training: </a:t>
            </a:r>
          </a:p>
          <a:p>
            <a:pPr lvl="0">
              <a:lnSpc>
                <a:spcPct val="110000"/>
              </a:lnSpc>
            </a:pPr>
            <a:r>
              <a:rPr lang="en-US" sz="1800" b="0">
                <a:solidFill>
                  <a:schemeClr val="tx1"/>
                </a:solidFill>
                <a:latin typeface="Arial" panose="020B0604020202020204" pitchFamily="34" charset="0"/>
                <a:cs typeface="Arial" panose="020B0604020202020204" pitchFamily="34" charset="0"/>
              </a:rPr>
              <a:t>acute myocardial infarction</a:t>
            </a:r>
          </a:p>
          <a:p>
            <a:pPr lvl="0">
              <a:lnSpc>
                <a:spcPct val="110000"/>
              </a:lnSpc>
            </a:pPr>
            <a:r>
              <a:rPr lang="en-US" sz="1800" b="0">
                <a:solidFill>
                  <a:schemeClr val="tx1"/>
                </a:solidFill>
                <a:latin typeface="Arial" panose="020B0604020202020204" pitchFamily="34" charset="0"/>
                <a:cs typeface="Arial" panose="020B0604020202020204" pitchFamily="34" charset="0"/>
              </a:rPr>
              <a:t>cardiac arrest, or</a:t>
            </a:r>
          </a:p>
          <a:p>
            <a:pPr lvl="0">
              <a:lnSpc>
                <a:spcPct val="110000"/>
              </a:lnSpc>
            </a:pPr>
            <a:r>
              <a:rPr lang="en-US" sz="1800" b="0">
                <a:solidFill>
                  <a:schemeClr val="tx1"/>
                </a:solidFill>
                <a:latin typeface="Arial" panose="020B0604020202020204" pitchFamily="34" charset="0"/>
                <a:cs typeface="Arial" panose="020B0604020202020204" pitchFamily="34" charset="0"/>
              </a:rPr>
              <a:t>a cerebrovascular accident.</a:t>
            </a:r>
          </a:p>
        </p:txBody>
      </p:sp>
      <p:sp>
        <p:nvSpPr>
          <p:cNvPr id="4" name="Slide Number Placeholder 3"/>
          <p:cNvSpPr>
            <a:spLocks noGrp="1"/>
          </p:cNvSpPr>
          <p:nvPr>
            <p:ph type="sldNum" sz="quarter" idx="10"/>
          </p:nvPr>
        </p:nvSpPr>
        <p:spPr/>
        <p:txBody>
          <a:bodyPr/>
          <a:lstStyle/>
          <a:p>
            <a:fld id="{0E7C618C-DDD3-4DC9-ADAB-73264023D4F2}" type="slidenum">
              <a:rPr lang="en-US" smtClean="0"/>
              <a:t>11</a:t>
            </a:fld>
            <a:endParaRPr lang="en-US"/>
          </a:p>
        </p:txBody>
      </p:sp>
    </p:spTree>
    <p:extLst>
      <p:ext uri="{BB962C8B-B14F-4D97-AF65-F5344CB8AC3E}">
        <p14:creationId xmlns:p14="http://schemas.microsoft.com/office/powerpoint/2010/main" val="39560260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National Guard and Reserve Service</a:t>
            </a:r>
          </a:p>
          <a:p>
            <a:pPr marL="0" marR="0" lvl="0" indent="0" algn="l" defTabSz="914400" rtl="0" eaLnBrk="1" fontAlgn="auto" latinLnBrk="0" hangingPunct="1">
              <a:lnSpc>
                <a:spcPct val="100000"/>
              </a:lnSpc>
              <a:spcBef>
                <a:spcPct val="0"/>
              </a:spcBef>
              <a:spcAft>
                <a:spcPct val="0"/>
              </a:spcAft>
              <a:buClrTx/>
              <a:buSzTx/>
              <a:buFont typeface="Arial" panose="020B0604020202020204" pitchFamily="34" charset="0"/>
              <a:buNone/>
              <a:defRPr/>
            </a:pPr>
            <a:r>
              <a:rPr lang="en-US" sz="1800" b="0">
                <a:solidFill>
                  <a:schemeClr val="tx1"/>
                </a:solidFill>
                <a:latin typeface="Arial" panose="020B0604020202020204" pitchFamily="34" charset="0"/>
                <a:cs typeface="Arial" panose="020B0604020202020204" pitchFamily="34" charset="0"/>
              </a:rPr>
              <a:t>Service as a traditional Reservist or National Guard member is not active service and is not adequate service upon which to establish Veteran status. </a:t>
            </a:r>
          </a:p>
          <a:p>
            <a:pPr marL="0" indent="0">
              <a:spcAft>
                <a:spcPts val="600"/>
              </a:spcAft>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This service includes performing one period of weekend drill monthly and two weeks of annual training (A T) yearly.  This service is referred to as</a:t>
            </a:r>
          </a:p>
          <a:p>
            <a:pPr marL="0" lvl="0" indent="0">
              <a:spcAft>
                <a:spcPts val="600"/>
              </a:spcAft>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I A D T, which includes traditional drill weekends, and</a:t>
            </a:r>
          </a:p>
          <a:p>
            <a:pPr marL="0" lvl="0" indent="0">
              <a:spcAft>
                <a:spcPts val="600"/>
              </a:spcAft>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A D T, which includes the</a:t>
            </a:r>
          </a:p>
          <a:p>
            <a:pPr marL="0" lvl="0" indent="0">
              <a:spcAft>
                <a:spcPts val="600"/>
              </a:spcAft>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initial period of basic training and specialized job skill training, and</a:t>
            </a:r>
          </a:p>
          <a:p>
            <a:pPr marL="0" lvl="0" indent="0">
              <a:spcAft>
                <a:spcPts val="600"/>
              </a:spcAft>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two week A T period.</a:t>
            </a:r>
          </a:p>
        </p:txBody>
      </p:sp>
      <p:sp>
        <p:nvSpPr>
          <p:cNvPr id="4" name="Slide Number Placeholder 3"/>
          <p:cNvSpPr>
            <a:spLocks noGrp="1"/>
          </p:cNvSpPr>
          <p:nvPr>
            <p:ph type="sldNum" sz="quarter" idx="10"/>
          </p:nvPr>
        </p:nvSpPr>
        <p:spPr/>
        <p:txBody>
          <a:bodyPr/>
          <a:lstStyle/>
          <a:p>
            <a:fld id="{0E7C618C-DDD3-4DC9-ADAB-73264023D4F2}" type="slidenum">
              <a:rPr lang="en-US" smtClean="0"/>
              <a:t>12</a:t>
            </a:fld>
            <a:endParaRPr lang="en-US"/>
          </a:p>
        </p:txBody>
      </p:sp>
    </p:spTree>
    <p:extLst>
      <p:ext uri="{BB962C8B-B14F-4D97-AF65-F5344CB8AC3E}">
        <p14:creationId xmlns:p14="http://schemas.microsoft.com/office/powerpoint/2010/main" val="727694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a:solidFill>
                  <a:schemeClr val="tx1"/>
                </a:solidFill>
                <a:latin typeface="Arial" panose="020B0604020202020204" pitchFamily="34" charset="0"/>
                <a:cs typeface="Arial" panose="020B0604020202020204" pitchFamily="34" charset="0"/>
              </a:rPr>
              <a:t>In-service Injury</a:t>
            </a:r>
          </a:p>
          <a:p>
            <a:r>
              <a:rPr lang="en-US" sz="1800" b="0">
                <a:solidFill>
                  <a:schemeClr val="tx1"/>
                </a:solidFill>
                <a:latin typeface="Arial" panose="020B0604020202020204" pitchFamily="34" charset="0"/>
                <a:cs typeface="Arial" panose="020B0604020202020204" pitchFamily="34" charset="0"/>
              </a:rPr>
              <a:t>For the purposes of considering a claim for SC for posttraumatic stress disorder, a sexual assault that occurred during I A D T is considered an injury. </a:t>
            </a:r>
          </a:p>
          <a:p>
            <a:r>
              <a:rPr lang="en-US" sz="1800" b="0">
                <a:solidFill>
                  <a:schemeClr val="tx1"/>
                </a:solidFill>
                <a:latin typeface="Arial" panose="020B0604020202020204" pitchFamily="34" charset="0"/>
                <a:cs typeface="Arial" panose="020B0604020202020204" pitchFamily="34" charset="0"/>
              </a:rPr>
              <a:t>A disabling condition as a result of administration of an anthrax vaccination during inactive duty training may be considered disabled by an “injury” incurred during such training. </a:t>
            </a:r>
          </a:p>
        </p:txBody>
      </p:sp>
      <p:sp>
        <p:nvSpPr>
          <p:cNvPr id="4" name="Slide Number Placeholder 3"/>
          <p:cNvSpPr>
            <a:spLocks noGrp="1"/>
          </p:cNvSpPr>
          <p:nvPr>
            <p:ph type="sldNum" sz="quarter" idx="10"/>
          </p:nvPr>
        </p:nvSpPr>
        <p:spPr/>
        <p:txBody>
          <a:bodyPr/>
          <a:lstStyle/>
          <a:p>
            <a:fld id="{0E7C618C-DDD3-4DC9-ADAB-73264023D4F2}" type="slidenum">
              <a:rPr lang="en-US" smtClean="0"/>
              <a:t>15</a:t>
            </a:fld>
            <a:endParaRPr lang="en-US"/>
          </a:p>
        </p:txBody>
      </p:sp>
    </p:spTree>
    <p:extLst>
      <p:ext uri="{BB962C8B-B14F-4D97-AF65-F5344CB8AC3E}">
        <p14:creationId xmlns:p14="http://schemas.microsoft.com/office/powerpoint/2010/main" val="3268308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a:solidFill>
                  <a:schemeClr val="tx1"/>
                </a:solidFill>
                <a:effectLst/>
                <a:latin typeface="Arial" panose="020B0604020202020204" pitchFamily="34" charset="0"/>
                <a:cs typeface="Arial" panose="020B0604020202020204" pitchFamily="34" charset="0"/>
              </a:rPr>
              <a:t>Academy Attendees</a:t>
            </a:r>
          </a:p>
          <a:p>
            <a:pPr marL="0" marR="0" lvl="0" indent="0" algn="l" defTabSz="914400" rtl="0" eaLnBrk="1" fontAlgn="auto" latinLnBrk="0" hangingPunct="1">
              <a:lnSpc>
                <a:spcPct val="100000"/>
              </a:lnSpc>
              <a:spcBef>
                <a:spcPct val="0"/>
              </a:spcBef>
              <a:spcAft>
                <a:spcPct val="0"/>
              </a:spcAft>
              <a:buClrTx/>
              <a:buSzTx/>
              <a:buFontTx/>
              <a:buNone/>
              <a:defRPr/>
            </a:pPr>
            <a:r>
              <a:rPr lang="en-US" sz="1800" b="0" kern="0">
                <a:solidFill>
                  <a:schemeClr val="tx1"/>
                </a:solidFill>
                <a:latin typeface="Arial" panose="020B0604020202020204" pitchFamily="34" charset="0"/>
                <a:cs typeface="Arial" panose="020B0604020202020204" pitchFamily="34" charset="0"/>
              </a:rPr>
              <a:t>United States Military, Air Force, or Naval Academy Preparatory School</a:t>
            </a:r>
          </a:p>
          <a:p>
            <a:pPr marL="0" marR="0" lvl="0" indent="0" algn="l" defTabSz="914400" rtl="0" eaLnBrk="1" fontAlgn="t" latinLnBrk="0" hangingPunct="1">
              <a:lnSpc>
                <a:spcPct val="100000"/>
              </a:lnSpc>
              <a:spcBef>
                <a:spcPct val="0"/>
              </a:spcBef>
              <a:spcAft>
                <a:spcPct val="0"/>
              </a:spcAft>
              <a:buClrTx/>
              <a:buSzTx/>
              <a:buFontTx/>
              <a:buNone/>
              <a:defRPr/>
            </a:pPr>
            <a:r>
              <a:rPr lang="en-US" sz="1800" b="0" i="0" u="none" strike="noStrike" kern="1200">
                <a:solidFill>
                  <a:schemeClr val="tx1"/>
                </a:solidFill>
                <a:effectLst/>
                <a:latin typeface="Arial" panose="020B0604020202020204" pitchFamily="34" charset="0"/>
                <a:ea typeface="+mn-ea"/>
                <a:cs typeface="Arial" panose="020B0604020202020204" pitchFamily="34" charset="0"/>
              </a:rPr>
              <a:t>If a member of the National Guard, or Reserves</a:t>
            </a:r>
          </a:p>
          <a:p>
            <a:pPr marL="0" marR="0" lvl="0" indent="0" algn="l" defTabSz="914400" rtl="0" eaLnBrk="1" fontAlgn="t" latinLnBrk="0" hangingPunct="1">
              <a:lnSpc>
                <a:spcPct val="100000"/>
              </a:lnSpc>
              <a:spcBef>
                <a:spcPct val="0"/>
              </a:spcBef>
              <a:spcAft>
                <a:spcPct val="0"/>
              </a:spcAft>
              <a:buClrTx/>
              <a:buSzTx/>
              <a:buFontTx/>
              <a:buNone/>
              <a:defRPr/>
            </a:pPr>
            <a:r>
              <a:rPr lang="en-US" sz="1800" b="0" i="0" u="none" strike="noStrike" kern="1200">
                <a:solidFill>
                  <a:schemeClr val="tx1"/>
                </a:solidFill>
                <a:effectLst/>
                <a:latin typeface="Arial" panose="020B0604020202020204" pitchFamily="34" charset="0"/>
                <a:ea typeface="+mn-ea"/>
                <a:cs typeface="Arial" panose="020B0604020202020204" pitchFamily="34" charset="0"/>
              </a:rPr>
              <a:t>Enters service for the sole purpose of attending the academy</a:t>
            </a:r>
          </a:p>
          <a:p>
            <a:pPr marL="0" marR="0" lvl="0" indent="0" algn="l" defTabSz="914400" rtl="0" eaLnBrk="1" fontAlgn="t" latinLnBrk="0" hangingPunct="1">
              <a:lnSpc>
                <a:spcPct val="100000"/>
              </a:lnSpc>
              <a:spcBef>
                <a:spcPct val="0"/>
              </a:spcBef>
              <a:spcAft>
                <a:spcPct val="0"/>
              </a:spcAft>
              <a:buClrTx/>
              <a:buSzTx/>
              <a:buFontTx/>
              <a:buNone/>
              <a:defRPr/>
            </a:pPr>
            <a:r>
              <a:rPr lang="en-US" sz="1800" b="0" i="0" u="none" strike="noStrike" kern="1200">
                <a:solidFill>
                  <a:schemeClr val="tx1"/>
                </a:solidFill>
                <a:effectLst/>
                <a:latin typeface="Arial" panose="020B0604020202020204" pitchFamily="34" charset="0"/>
                <a:ea typeface="+mn-ea"/>
                <a:cs typeface="Arial" panose="020B0604020202020204" pitchFamily="34" charset="0"/>
              </a:rPr>
              <a:t>Then that service is characterized as A D T.</a:t>
            </a:r>
          </a:p>
          <a:p>
            <a:pPr rtl="0" eaLnBrk="1" fontAlgn="t" latinLnBrk="0" hangingPunct="1"/>
            <a:r>
              <a:rPr lang="en-US" sz="1800" b="0" i="1" u="none" strike="noStrike" kern="1200">
                <a:solidFill>
                  <a:schemeClr val="tx1"/>
                </a:solidFill>
                <a:effectLst/>
                <a:latin typeface="Arial" panose="020B0604020202020204" pitchFamily="34" charset="0"/>
                <a:ea typeface="+mn-ea"/>
                <a:cs typeface="Arial" panose="020B0604020202020204" pitchFamily="34" charset="0"/>
              </a:rPr>
              <a:t>Exception</a:t>
            </a:r>
            <a:r>
              <a:rPr lang="en-US" sz="1800" b="0" i="0" u="none" strike="noStrike" kern="1200">
                <a:solidFill>
                  <a:schemeClr val="tx1"/>
                </a:solidFill>
                <a:effectLst/>
                <a:latin typeface="Arial" panose="020B0604020202020204" pitchFamily="34" charset="0"/>
                <a:ea typeface="+mn-ea"/>
                <a:cs typeface="Arial" panose="020B0604020202020204" pitchFamily="34" charset="0"/>
              </a:rPr>
              <a:t>:  If the service member continues on to active duty after the academy, consider the academy time as active duty.</a:t>
            </a:r>
          </a:p>
          <a:p>
            <a:pPr marL="0" marR="0" lvl="0" indent="0" algn="l" defTabSz="914400" rtl="0" eaLnBrk="1" fontAlgn="t" latinLnBrk="0" hangingPunct="1">
              <a:lnSpc>
                <a:spcPct val="100000"/>
              </a:lnSpc>
              <a:spcBef>
                <a:spcPct val="0"/>
              </a:spcBef>
              <a:spcAft>
                <a:spcPct val="0"/>
              </a:spcAft>
              <a:buClrTx/>
              <a:buSzTx/>
              <a:buFontTx/>
              <a:buNone/>
              <a:defRPr/>
            </a:pPr>
            <a:r>
              <a:rPr lang="en-US" sz="1800" b="0" i="0" u="none" strike="noStrike" kern="1200">
                <a:solidFill>
                  <a:schemeClr val="tx1"/>
                </a:solidFill>
                <a:effectLst/>
                <a:latin typeface="Arial" panose="020B0604020202020204" pitchFamily="34" charset="0"/>
                <a:ea typeface="+mn-ea"/>
                <a:cs typeface="Arial" panose="020B0604020202020204" pitchFamily="34" charset="0"/>
              </a:rPr>
              <a:t>If a civilian</a:t>
            </a:r>
          </a:p>
          <a:p>
            <a:pPr marL="0" marR="0" lvl="0" indent="0" algn="l" defTabSz="914400" rtl="0" eaLnBrk="1" fontAlgn="t" latinLnBrk="0" hangingPunct="1">
              <a:lnSpc>
                <a:spcPct val="100000"/>
              </a:lnSpc>
              <a:spcBef>
                <a:spcPct val="0"/>
              </a:spcBef>
              <a:spcAft>
                <a:spcPct val="0"/>
              </a:spcAft>
              <a:buClrTx/>
              <a:buSzTx/>
              <a:buFontTx/>
              <a:buNone/>
              <a:defRPr/>
            </a:pPr>
            <a:r>
              <a:rPr lang="en-US" sz="1800" b="0" i="0" u="none" strike="noStrike" kern="1200">
                <a:solidFill>
                  <a:schemeClr val="tx1"/>
                </a:solidFill>
                <a:effectLst/>
                <a:latin typeface="Arial" panose="020B0604020202020204" pitchFamily="34" charset="0"/>
                <a:ea typeface="+mn-ea"/>
                <a:cs typeface="Arial" panose="020B0604020202020204" pitchFamily="34" charset="0"/>
              </a:rPr>
              <a:t>Enters service for the sole purpose of attending the academy</a:t>
            </a:r>
          </a:p>
          <a:p>
            <a:pPr marL="0" marR="0" lvl="0" indent="0" algn="l" defTabSz="914400" rtl="0" eaLnBrk="1" fontAlgn="t" latinLnBrk="0" hangingPunct="1">
              <a:lnSpc>
                <a:spcPct val="100000"/>
              </a:lnSpc>
              <a:spcBef>
                <a:spcPct val="0"/>
              </a:spcBef>
              <a:spcAft>
                <a:spcPct val="0"/>
              </a:spcAft>
              <a:buClrTx/>
              <a:buSzTx/>
              <a:buFontTx/>
              <a:buNone/>
              <a:defRPr/>
            </a:pPr>
            <a:r>
              <a:rPr lang="en-US" sz="1800" b="0" i="0" u="none" strike="noStrike" kern="1200">
                <a:solidFill>
                  <a:schemeClr val="tx1"/>
                </a:solidFill>
                <a:effectLst/>
                <a:latin typeface="Arial" panose="020B0604020202020204" pitchFamily="34" charset="0"/>
                <a:ea typeface="+mn-ea"/>
                <a:cs typeface="Arial" panose="020B0604020202020204" pitchFamily="34" charset="0"/>
              </a:rPr>
              <a:t>Then that service is characterized as A D T.</a:t>
            </a:r>
          </a:p>
          <a:p>
            <a:pPr rtl="0" eaLnBrk="1" fontAlgn="t" latinLnBrk="0" hangingPunct="1"/>
            <a:r>
              <a:rPr lang="en-US" sz="1800" b="0" i="1" u="none" strike="noStrike" kern="1200">
                <a:solidFill>
                  <a:schemeClr val="tx1"/>
                </a:solidFill>
                <a:effectLst/>
                <a:latin typeface="Arial" panose="020B0604020202020204" pitchFamily="34" charset="0"/>
                <a:ea typeface="+mn-ea"/>
                <a:cs typeface="Arial" panose="020B0604020202020204" pitchFamily="34" charset="0"/>
              </a:rPr>
              <a:t>Exception</a:t>
            </a:r>
            <a:r>
              <a:rPr lang="en-US" sz="1800" b="0" i="0" u="none" strike="noStrike" kern="1200">
                <a:solidFill>
                  <a:schemeClr val="tx1"/>
                </a:solidFill>
                <a:effectLst/>
                <a:latin typeface="Arial" panose="020B0604020202020204" pitchFamily="34" charset="0"/>
                <a:ea typeface="+mn-ea"/>
                <a:cs typeface="Arial" panose="020B0604020202020204" pitchFamily="34" charset="0"/>
              </a:rPr>
              <a:t>:  If the service member continues on to active duty after the academy, consider the academy time as active duty.</a:t>
            </a:r>
          </a:p>
          <a:p>
            <a:pPr marL="0" marR="0" lvl="0" indent="0" algn="l" defTabSz="914400" rtl="0" eaLnBrk="1" fontAlgn="t" latinLnBrk="0" hangingPunct="1">
              <a:lnSpc>
                <a:spcPct val="100000"/>
              </a:lnSpc>
              <a:spcBef>
                <a:spcPct val="0"/>
              </a:spcBef>
              <a:spcAft>
                <a:spcPct val="0"/>
              </a:spcAft>
              <a:buClrTx/>
              <a:buSzTx/>
              <a:buFontTx/>
              <a:buNone/>
              <a:defRPr/>
            </a:pPr>
            <a:r>
              <a:rPr lang="en-US" sz="1800" b="0" i="0" u="none" strike="noStrike" kern="1200">
                <a:solidFill>
                  <a:schemeClr val="tx1"/>
                </a:solidFill>
                <a:effectLst/>
                <a:latin typeface="Arial" panose="020B0604020202020204" pitchFamily="34" charset="0"/>
                <a:ea typeface="+mn-ea"/>
                <a:cs typeface="Arial" panose="020B0604020202020204" pitchFamily="34" charset="0"/>
              </a:rPr>
              <a:t>If an active duty service member</a:t>
            </a:r>
          </a:p>
          <a:p>
            <a:pPr marL="0" marR="0" lvl="0" indent="0" algn="l" defTabSz="914400" rtl="0" eaLnBrk="1" fontAlgn="t" latinLnBrk="0" hangingPunct="1">
              <a:lnSpc>
                <a:spcPct val="100000"/>
              </a:lnSpc>
              <a:spcBef>
                <a:spcPct val="0"/>
              </a:spcBef>
              <a:spcAft>
                <a:spcPct val="0"/>
              </a:spcAft>
              <a:buClrTx/>
              <a:buSzTx/>
              <a:buFontTx/>
              <a:buNone/>
              <a:defRPr/>
            </a:pPr>
            <a:r>
              <a:rPr lang="en-US" sz="1800" b="0" i="0" u="none" strike="noStrike" kern="1200">
                <a:solidFill>
                  <a:schemeClr val="tx1"/>
                </a:solidFill>
                <a:effectLst/>
                <a:latin typeface="Arial" panose="020B0604020202020204" pitchFamily="34" charset="0"/>
                <a:ea typeface="+mn-ea"/>
                <a:cs typeface="Arial" panose="020B0604020202020204" pitchFamily="34" charset="0"/>
              </a:rPr>
              <a:t>Enters service without receiving a release from active duty</a:t>
            </a:r>
          </a:p>
          <a:p>
            <a:pPr marL="0" marR="0" lvl="0" indent="0" algn="l" defTabSz="914400" rtl="0" eaLnBrk="1" fontAlgn="t" latinLnBrk="0" hangingPunct="1">
              <a:lnSpc>
                <a:spcPct val="100000"/>
              </a:lnSpc>
              <a:spcBef>
                <a:spcPct val="0"/>
              </a:spcBef>
              <a:spcAft>
                <a:spcPct val="0"/>
              </a:spcAft>
              <a:buClrTx/>
              <a:buSzTx/>
              <a:buFontTx/>
              <a:buNone/>
              <a:defRPr/>
            </a:pPr>
            <a:r>
              <a:rPr lang="en-US" sz="1800" b="0" i="0" u="none" strike="noStrike" kern="1200">
                <a:solidFill>
                  <a:schemeClr val="tx1"/>
                </a:solidFill>
                <a:effectLst/>
                <a:latin typeface="Arial" panose="020B0604020202020204" pitchFamily="34" charset="0"/>
                <a:ea typeface="+mn-ea"/>
                <a:cs typeface="Arial" panose="020B0604020202020204" pitchFamily="34" charset="0"/>
              </a:rPr>
              <a:t>Then that service is characterized as active duty.</a:t>
            </a:r>
            <a:endParaRPr lang="en-US" sz="1800" b="0" kern="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0E7C618C-DDD3-4DC9-ADAB-73264023D4F2}" type="slidenum">
              <a:rPr lang="en-US" smtClean="0"/>
              <a:t>16</a:t>
            </a:fld>
            <a:endParaRPr lang="en-US"/>
          </a:p>
        </p:txBody>
      </p:sp>
    </p:spTree>
    <p:extLst>
      <p:ext uri="{BB962C8B-B14F-4D97-AF65-F5344CB8AC3E}">
        <p14:creationId xmlns:p14="http://schemas.microsoft.com/office/powerpoint/2010/main" val="1200882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a:solidFill>
                  <a:schemeClr val="tx1"/>
                </a:solidFill>
                <a:effectLst/>
                <a:latin typeface="Arial" panose="020B0604020202020204" pitchFamily="34" charset="0"/>
                <a:cs typeface="Arial" panose="020B0604020202020204" pitchFamily="34" charset="0"/>
              </a:rPr>
              <a:t>Deciding Line of Duty Status </a:t>
            </a:r>
          </a:p>
          <a:p>
            <a:r>
              <a:rPr lang="en-US" sz="1800" b="0">
                <a:solidFill>
                  <a:schemeClr val="tx1"/>
                </a:solidFill>
                <a:latin typeface="Arial" panose="020B0604020202020204" pitchFamily="34" charset="0"/>
                <a:cs typeface="Arial" panose="020B0604020202020204" pitchFamily="34" charset="0"/>
              </a:rPr>
              <a:t>Formal line of duty investigations are documented on </a:t>
            </a:r>
            <a:r>
              <a:rPr lang="en-US" sz="1800" b="0" i="1">
                <a:solidFill>
                  <a:schemeClr val="tx1"/>
                </a:solidFill>
                <a:latin typeface="Arial" panose="020B0604020202020204" pitchFamily="34" charset="0"/>
                <a:cs typeface="Arial" panose="020B0604020202020204" pitchFamily="34" charset="0"/>
              </a:rPr>
              <a:t>DD Form 2 61</a:t>
            </a:r>
            <a:r>
              <a:rPr lang="en-US" sz="1800" b="0">
                <a:solidFill>
                  <a:schemeClr val="tx1"/>
                </a:solidFill>
                <a:latin typeface="Arial" panose="020B0604020202020204" pitchFamily="34" charset="0"/>
                <a:cs typeface="Arial" panose="020B0604020202020204" pitchFamily="34" charset="0"/>
              </a:rPr>
              <a:t>.  </a:t>
            </a:r>
          </a:p>
          <a:p>
            <a:r>
              <a:rPr lang="en-US" sz="1800" b="0">
                <a:solidFill>
                  <a:schemeClr val="tx1"/>
                </a:solidFill>
                <a:latin typeface="Arial" panose="020B0604020202020204" pitchFamily="34" charset="0"/>
                <a:cs typeface="Arial" panose="020B0604020202020204" pitchFamily="34" charset="0"/>
              </a:rPr>
              <a:t>Not all injuries or diseases, incurred or aggravated in the line of duty will be documented on </a:t>
            </a:r>
            <a:r>
              <a:rPr lang="en-US" sz="1800" b="0" i="1">
                <a:solidFill>
                  <a:schemeClr val="tx1"/>
                </a:solidFill>
                <a:latin typeface="Arial" panose="020B0604020202020204" pitchFamily="34" charset="0"/>
                <a:cs typeface="Arial" panose="020B0604020202020204" pitchFamily="34" charset="0"/>
              </a:rPr>
              <a:t>DD Form 2 61</a:t>
            </a:r>
            <a:r>
              <a:rPr lang="en-US" sz="1800" b="0">
                <a:solidFill>
                  <a:schemeClr val="tx1"/>
                </a:solidFill>
                <a:latin typeface="Arial" panose="020B0604020202020204" pitchFamily="34" charset="0"/>
                <a:cs typeface="Arial" panose="020B0604020202020204" pitchFamily="34" charset="0"/>
              </a:rPr>
              <a:t>.</a:t>
            </a:r>
          </a:p>
          <a:p>
            <a:r>
              <a:rPr lang="en-US" sz="1800" b="0">
                <a:solidFill>
                  <a:schemeClr val="tx1"/>
                </a:solidFill>
                <a:latin typeface="Arial" panose="020B0604020202020204" pitchFamily="34" charset="0"/>
                <a:cs typeface="Arial" panose="020B0604020202020204" pitchFamily="34" charset="0"/>
              </a:rPr>
              <a:t>A formal line of duty investigation </a:t>
            </a:r>
            <a:r>
              <a:rPr lang="en-US" sz="1800" b="0" i="1">
                <a:solidFill>
                  <a:schemeClr val="tx1"/>
                </a:solidFill>
                <a:latin typeface="Arial" panose="020B0604020202020204" pitchFamily="34" charset="0"/>
                <a:cs typeface="Arial" panose="020B0604020202020204" pitchFamily="34" charset="0"/>
              </a:rPr>
              <a:t>is not a requirement </a:t>
            </a:r>
            <a:r>
              <a:rPr lang="en-US" sz="1800" b="0">
                <a:solidFill>
                  <a:schemeClr val="tx1"/>
                </a:solidFill>
                <a:latin typeface="Arial" panose="020B0604020202020204" pitchFamily="34" charset="0"/>
                <a:cs typeface="Arial" panose="020B0604020202020204" pitchFamily="34" charset="0"/>
              </a:rPr>
              <a:t>to establish that a disease or injury was incurred or aggravated in the line of duty during a period of A D T or I A D T. </a:t>
            </a:r>
          </a:p>
        </p:txBody>
      </p:sp>
      <p:sp>
        <p:nvSpPr>
          <p:cNvPr id="4" name="Slide Number Placeholder 3"/>
          <p:cNvSpPr>
            <a:spLocks noGrp="1"/>
          </p:cNvSpPr>
          <p:nvPr>
            <p:ph type="sldNum" sz="quarter" idx="10"/>
          </p:nvPr>
        </p:nvSpPr>
        <p:spPr/>
        <p:txBody>
          <a:bodyPr/>
          <a:lstStyle/>
          <a:p>
            <a:fld id="{0E7C618C-DDD3-4DC9-ADAB-73264023D4F2}" type="slidenum">
              <a:rPr lang="en-US" smtClean="0"/>
              <a:t>24</a:t>
            </a:fld>
            <a:endParaRPr lang="en-US"/>
          </a:p>
        </p:txBody>
      </p:sp>
    </p:spTree>
    <p:extLst>
      <p:ext uri="{BB962C8B-B14F-4D97-AF65-F5344CB8AC3E}">
        <p14:creationId xmlns:p14="http://schemas.microsoft.com/office/powerpoint/2010/main" val="3058287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Line of Duty continued</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“In the line of duty” does not always mean while the Reservist or National Guard member was at work.  </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Individuals with A G R service, including in the National Guard, are on continuous duty 24 hours a day, seven days a week just as are their active duty counterparts.  </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If no intentional negligence or willful misconduct is noted, an injury or disease that occurs during A G R service is presumed to be in the line of duty.</a:t>
            </a:r>
          </a:p>
        </p:txBody>
      </p:sp>
      <p:sp>
        <p:nvSpPr>
          <p:cNvPr id="4" name="Slide Number Placeholder 3"/>
          <p:cNvSpPr>
            <a:spLocks noGrp="1"/>
          </p:cNvSpPr>
          <p:nvPr>
            <p:ph type="sldNum" sz="quarter" idx="10"/>
          </p:nvPr>
        </p:nvSpPr>
        <p:spPr/>
        <p:txBody>
          <a:bodyPr/>
          <a:lstStyle/>
          <a:p>
            <a:fld id="{0E7C618C-DDD3-4DC9-ADAB-73264023D4F2}" type="slidenum">
              <a:rPr lang="en-US" smtClean="0"/>
              <a:t>25</a:t>
            </a:fld>
            <a:endParaRPr lang="en-US"/>
          </a:p>
        </p:txBody>
      </p:sp>
    </p:spTree>
    <p:extLst>
      <p:ext uri="{BB962C8B-B14F-4D97-AF65-F5344CB8AC3E}">
        <p14:creationId xmlns:p14="http://schemas.microsoft.com/office/powerpoint/2010/main" val="12166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800" b="0">
                <a:solidFill>
                  <a:schemeClr val="tx1"/>
                </a:solidFill>
                <a:effectLst/>
                <a:latin typeface="Arial" panose="020B0604020202020204" pitchFamily="34" charset="0"/>
                <a:cs typeface="Arial" panose="020B0604020202020204" pitchFamily="34" charset="0"/>
              </a:rPr>
              <a:t>Hearing Loss and or Tinnitus Claims</a:t>
            </a:r>
          </a:p>
          <a:p>
            <a:pPr marL="0" marR="0" lvl="0" indent="0" algn="l" defTabSz="914400" rtl="0" eaLnBrk="1" fontAlgn="auto" latinLnBrk="0" hangingPunct="1">
              <a:lnSpc>
                <a:spcPct val="100000"/>
              </a:lnSpc>
              <a:spcBef>
                <a:spcPct val="0"/>
              </a:spcBef>
              <a:spcAft>
                <a:spcPct val="0"/>
              </a:spcAft>
              <a:buClrTx/>
              <a:buSzTx/>
              <a:buFont typeface="Arial" panose="020B0604020202020204" pitchFamily="34" charset="0"/>
              <a:buNone/>
              <a:defRPr/>
            </a:pPr>
            <a:r>
              <a:rPr lang="en-US" sz="1800" b="0">
                <a:solidFill>
                  <a:schemeClr val="tx1"/>
                </a:solidFill>
                <a:latin typeface="Arial" panose="020B0604020202020204" pitchFamily="34" charset="0"/>
                <a:cs typeface="Arial" panose="020B0604020202020204" pitchFamily="34" charset="0"/>
              </a:rPr>
              <a:t>Claims for SC of hearing loss and or tinnitus due to service in the National Guard or Reserves should be considered under the same criteria as any claim for SC of hearing loss and or tinnitus.  The condition must be causally related to service.</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First, consider SC on the basis of a potential relationship to periods of active duty or active duty for training (A D T).</a:t>
            </a:r>
          </a:p>
        </p:txBody>
      </p:sp>
      <p:sp>
        <p:nvSpPr>
          <p:cNvPr id="4" name="Slide Number Placeholder 3"/>
          <p:cNvSpPr>
            <a:spLocks noGrp="1"/>
          </p:cNvSpPr>
          <p:nvPr>
            <p:ph type="sldNum" sz="quarter" idx="10"/>
          </p:nvPr>
        </p:nvSpPr>
        <p:spPr/>
        <p:txBody>
          <a:bodyPr/>
          <a:lstStyle/>
          <a:p>
            <a:fld id="{0E7C618C-DDD3-4DC9-ADAB-73264023D4F2}" type="slidenum">
              <a:rPr lang="en-US" smtClean="0"/>
              <a:t>30</a:t>
            </a:fld>
            <a:endParaRPr lang="en-US"/>
          </a:p>
        </p:txBody>
      </p:sp>
    </p:spTree>
    <p:extLst>
      <p:ext uri="{BB962C8B-B14F-4D97-AF65-F5344CB8AC3E}">
        <p14:creationId xmlns:p14="http://schemas.microsoft.com/office/powerpoint/2010/main" val="2997763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7C618C-DDD3-4DC9-ADAB-73264023D4F2}" type="slidenum">
              <a:rPr lang="en-US" smtClean="0"/>
              <a:t>31</a:t>
            </a:fld>
            <a:endParaRPr lang="en-US"/>
          </a:p>
        </p:txBody>
      </p:sp>
    </p:spTree>
    <p:extLst>
      <p:ext uri="{BB962C8B-B14F-4D97-AF65-F5344CB8AC3E}">
        <p14:creationId xmlns:p14="http://schemas.microsoft.com/office/powerpoint/2010/main" val="4856556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SC Based on Multiple Periods of A D T or I A D T</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In circumstances where a claimed disability arises as a result of injuries, diseases, or covered conditions incurred in or aggravated during multiple periods of A D T or I A D T, only the specific periods of A D T or I A D T are considered active service.</a:t>
            </a:r>
          </a:p>
          <a:p>
            <a:pPr marL="0" indent="0">
              <a:spcAft>
                <a:spcPts val="600"/>
              </a:spcAft>
              <a:buClr>
                <a:schemeClr val="tx1"/>
              </a:buClr>
              <a:buFont typeface="Arial" panose="020B0604020202020204" pitchFamily="34" charset="0"/>
              <a:buNone/>
            </a:pPr>
            <a:r>
              <a:rPr lang="en-US" sz="1800" b="0" i="1">
                <a:solidFill>
                  <a:schemeClr val="tx1"/>
                </a:solidFill>
                <a:latin typeface="Arial" panose="020B0604020202020204" pitchFamily="34" charset="0"/>
                <a:cs typeface="Arial" panose="020B0604020202020204" pitchFamily="34" charset="0"/>
              </a:rPr>
              <a:t>Example</a:t>
            </a:r>
            <a:r>
              <a:rPr lang="en-US" sz="1800" b="0">
                <a:solidFill>
                  <a:schemeClr val="tx1"/>
                </a:solidFill>
                <a:latin typeface="Arial" panose="020B0604020202020204" pitchFamily="34" charset="0"/>
                <a:cs typeface="Arial" panose="020B0604020202020204" pitchFamily="34" charset="0"/>
              </a:rPr>
              <a:t>:  SC is warranted for hearing loss based on noise exposure sustained during a claimant’s 20 year career in the Reserves.  The entire 20 year span is not considered active service.  Rather, only the individual periods of A D T and or I A D T during which the noise exposure (which is the conceded in-service injury in these situations) occurred are considered active service.</a:t>
            </a:r>
          </a:p>
        </p:txBody>
      </p:sp>
      <p:sp>
        <p:nvSpPr>
          <p:cNvPr id="4" name="Slide Number Placeholder 3"/>
          <p:cNvSpPr>
            <a:spLocks noGrp="1"/>
          </p:cNvSpPr>
          <p:nvPr>
            <p:ph type="sldNum" sz="quarter" idx="10"/>
          </p:nvPr>
        </p:nvSpPr>
        <p:spPr/>
        <p:txBody>
          <a:bodyPr/>
          <a:lstStyle/>
          <a:p>
            <a:fld id="{0E7C618C-DDD3-4DC9-ADAB-73264023D4F2}" type="slidenum">
              <a:rPr lang="en-US" smtClean="0"/>
              <a:t>32</a:t>
            </a:fld>
            <a:endParaRPr lang="en-US"/>
          </a:p>
        </p:txBody>
      </p:sp>
    </p:spTree>
    <p:extLst>
      <p:ext uri="{BB962C8B-B14F-4D97-AF65-F5344CB8AC3E}">
        <p14:creationId xmlns:p14="http://schemas.microsoft.com/office/powerpoint/2010/main" val="2569016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a:solidFill>
                  <a:schemeClr val="tx1"/>
                </a:solidFill>
                <a:effectLst/>
                <a:latin typeface="Arial" panose="020B0604020202020204" pitchFamily="34" charset="0"/>
                <a:cs typeface="Arial" panose="020B0604020202020204" pitchFamily="34" charset="0"/>
              </a:rPr>
              <a:t>Presumption of Soundness </a:t>
            </a:r>
          </a:p>
          <a:p>
            <a:r>
              <a:rPr lang="en-US" sz="1800" b="0">
                <a:solidFill>
                  <a:schemeClr val="tx1"/>
                </a:solidFill>
                <a:latin typeface="Arial" panose="020B0604020202020204" pitchFamily="34" charset="0"/>
                <a:cs typeface="Arial" panose="020B0604020202020204" pitchFamily="34" charset="0"/>
              </a:rPr>
              <a:t>The presumption of soundness does not automatically apply to all periods of A D T and I A D T. </a:t>
            </a:r>
          </a:p>
          <a:p>
            <a:r>
              <a:rPr lang="en-US" sz="1800" b="0">
                <a:solidFill>
                  <a:schemeClr val="tx1"/>
                </a:solidFill>
                <a:latin typeface="Arial" panose="020B0604020202020204" pitchFamily="34" charset="0"/>
                <a:cs typeface="Arial" panose="020B0604020202020204" pitchFamily="34" charset="0"/>
              </a:rPr>
              <a:t>Presumption of soundness only applies when the Veteran underwent a physical examination at the time of entry into the period of active duty for training on which the claim is based. </a:t>
            </a:r>
          </a:p>
        </p:txBody>
      </p:sp>
      <p:sp>
        <p:nvSpPr>
          <p:cNvPr id="4" name="Slide Number Placeholder 3"/>
          <p:cNvSpPr>
            <a:spLocks noGrp="1"/>
          </p:cNvSpPr>
          <p:nvPr>
            <p:ph type="sldNum" sz="quarter" idx="10"/>
          </p:nvPr>
        </p:nvSpPr>
        <p:spPr/>
        <p:txBody>
          <a:bodyPr/>
          <a:lstStyle/>
          <a:p>
            <a:fld id="{0E7C618C-DDD3-4DC9-ADAB-73264023D4F2}" type="slidenum">
              <a:rPr lang="en-US" smtClean="0"/>
              <a:t>34</a:t>
            </a:fld>
            <a:endParaRPr lang="en-US"/>
          </a:p>
        </p:txBody>
      </p:sp>
    </p:spTree>
    <p:extLst>
      <p:ext uri="{BB962C8B-B14F-4D97-AF65-F5344CB8AC3E}">
        <p14:creationId xmlns:p14="http://schemas.microsoft.com/office/powerpoint/2010/main" val="1819623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Aggravation</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The presumption of aggravation is triggered when a Veteran establishes that a preexisting condition, which was noted upon entry into service, worsens during service.</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Since A D T or I A D T service does not satisfy the requirements for Veteran status and associated active service, the presumption of aggravation does not apply.  </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For a period of A D T or I A D T, the evidence must </a:t>
            </a:r>
            <a:r>
              <a:rPr lang="en-US" sz="1800" b="0" i="1">
                <a:solidFill>
                  <a:schemeClr val="tx1"/>
                </a:solidFill>
                <a:latin typeface="Arial" panose="020B0604020202020204" pitchFamily="34" charset="0"/>
                <a:cs typeface="Arial" panose="020B0604020202020204" pitchFamily="34" charset="0"/>
              </a:rPr>
              <a:t>additionally</a:t>
            </a:r>
            <a:r>
              <a:rPr lang="en-US" sz="1800" b="0">
                <a:solidFill>
                  <a:schemeClr val="tx1"/>
                </a:solidFill>
                <a:latin typeface="Arial" panose="020B0604020202020204" pitchFamily="34" charset="0"/>
                <a:cs typeface="Arial" panose="020B0604020202020204" pitchFamily="34" charset="0"/>
              </a:rPr>
              <a:t> show that the worsening was </a:t>
            </a:r>
            <a:r>
              <a:rPr lang="en-US" sz="1800" b="0" i="1">
                <a:solidFill>
                  <a:schemeClr val="tx1"/>
                </a:solidFill>
                <a:latin typeface="Arial" panose="020B0604020202020204" pitchFamily="34" charset="0"/>
                <a:cs typeface="Arial" panose="020B0604020202020204" pitchFamily="34" charset="0"/>
              </a:rPr>
              <a:t>caused by</a:t>
            </a:r>
            <a:r>
              <a:rPr lang="en-US" sz="1800" b="0">
                <a:solidFill>
                  <a:schemeClr val="tx1"/>
                </a:solidFill>
                <a:latin typeface="Arial" panose="020B0604020202020204" pitchFamily="34" charset="0"/>
                <a:cs typeface="Arial" panose="020B0604020202020204" pitchFamily="34" charset="0"/>
              </a:rPr>
              <a:t> the period of A D T or I A D T.</a:t>
            </a:r>
          </a:p>
        </p:txBody>
      </p:sp>
      <p:sp>
        <p:nvSpPr>
          <p:cNvPr id="4" name="Slide Number Placeholder 3"/>
          <p:cNvSpPr>
            <a:spLocks noGrp="1"/>
          </p:cNvSpPr>
          <p:nvPr>
            <p:ph type="sldNum" sz="quarter" idx="10"/>
          </p:nvPr>
        </p:nvSpPr>
        <p:spPr/>
        <p:txBody>
          <a:bodyPr/>
          <a:lstStyle/>
          <a:p>
            <a:fld id="{0E7C618C-DDD3-4DC9-ADAB-73264023D4F2}" type="slidenum">
              <a:rPr lang="en-US" smtClean="0"/>
              <a:t>35</a:t>
            </a:fld>
            <a:endParaRPr lang="en-US"/>
          </a:p>
        </p:txBody>
      </p:sp>
    </p:spTree>
    <p:extLst>
      <p:ext uri="{BB962C8B-B14F-4D97-AF65-F5344CB8AC3E}">
        <p14:creationId xmlns:p14="http://schemas.microsoft.com/office/powerpoint/2010/main" val="27801469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800" b="0">
                <a:solidFill>
                  <a:schemeClr val="tx1"/>
                </a:solidFill>
                <a:effectLst/>
                <a:latin typeface="Arial" panose="020B0604020202020204" pitchFamily="34" charset="0"/>
                <a:cs typeface="Arial" panose="020B0604020202020204" pitchFamily="34" charset="0"/>
              </a:rPr>
              <a:t>Presumptive SC </a:t>
            </a:r>
          </a:p>
          <a:p>
            <a:pPr marL="0" indent="0">
              <a:spcAft>
                <a:spcPts val="600"/>
              </a:spcAft>
              <a:buClr>
                <a:schemeClr val="tx1"/>
              </a:buClr>
              <a:buFont typeface="Arial" panose="020B0604020202020204" pitchFamily="34" charset="0"/>
              <a:buNone/>
            </a:pPr>
            <a:r>
              <a:rPr lang="en-US" sz="1800" b="0" i="1">
                <a:solidFill>
                  <a:schemeClr val="tx1"/>
                </a:solidFill>
                <a:latin typeface="Arial" panose="020B0604020202020204" pitchFamily="34" charset="0"/>
                <a:cs typeface="Arial" panose="020B0604020202020204" pitchFamily="34" charset="0"/>
              </a:rPr>
              <a:t>If</a:t>
            </a:r>
            <a:r>
              <a:rPr lang="en-US" sz="1800" b="0">
                <a:solidFill>
                  <a:schemeClr val="tx1"/>
                </a:solidFill>
                <a:latin typeface="Arial" panose="020B0604020202020204" pitchFamily="34" charset="0"/>
                <a:cs typeface="Arial" panose="020B0604020202020204" pitchFamily="34" charset="0"/>
              </a:rPr>
              <a:t> SC for a disability due to a disease or injury is established based on a period of A D T or </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SC for a disability is established based on an injury or myocardial infarction, cardiac arrest, or cerebrovascular accident based on a period of I A D T, </a:t>
            </a:r>
          </a:p>
          <a:p>
            <a:pPr marL="0" indent="0">
              <a:spcAft>
                <a:spcPts val="600"/>
              </a:spcAft>
              <a:buClr>
                <a:schemeClr val="tx1"/>
              </a:buClr>
              <a:buFont typeface="Arial" panose="020B0604020202020204" pitchFamily="34" charset="0"/>
              <a:buNone/>
            </a:pPr>
            <a:r>
              <a:rPr lang="en-US" sz="1800" b="0" i="1">
                <a:solidFill>
                  <a:schemeClr val="tx1"/>
                </a:solidFill>
                <a:latin typeface="Arial" panose="020B0604020202020204" pitchFamily="34" charset="0"/>
                <a:cs typeface="Arial" panose="020B0604020202020204" pitchFamily="34" charset="0"/>
              </a:rPr>
              <a:t>Then</a:t>
            </a:r>
            <a:r>
              <a:rPr lang="en-US" sz="1800" b="0">
                <a:solidFill>
                  <a:schemeClr val="tx1"/>
                </a:solidFill>
                <a:latin typeface="Arial" panose="020B0604020202020204" pitchFamily="34" charset="0"/>
                <a:cs typeface="Arial" panose="020B0604020202020204" pitchFamily="34" charset="0"/>
              </a:rPr>
              <a:t> the A D T or I A D T is considered active service and may be utilized in determining whether the applicability criteria have been met for the presumptive claim.</a:t>
            </a:r>
          </a:p>
        </p:txBody>
      </p:sp>
      <p:sp>
        <p:nvSpPr>
          <p:cNvPr id="4" name="Slide Number Placeholder 3"/>
          <p:cNvSpPr>
            <a:spLocks noGrp="1"/>
          </p:cNvSpPr>
          <p:nvPr>
            <p:ph type="sldNum" sz="quarter" idx="10"/>
          </p:nvPr>
        </p:nvSpPr>
        <p:spPr/>
        <p:txBody>
          <a:bodyPr/>
          <a:lstStyle/>
          <a:p>
            <a:fld id="{0E7C618C-DDD3-4DC9-ADAB-73264023D4F2}" type="slidenum">
              <a:rPr lang="en-US" smtClean="0"/>
              <a:t>36</a:t>
            </a:fld>
            <a:endParaRPr lang="en-US"/>
          </a:p>
        </p:txBody>
      </p:sp>
    </p:spTree>
    <p:extLst>
      <p:ext uri="{BB962C8B-B14F-4D97-AF65-F5344CB8AC3E}">
        <p14:creationId xmlns:p14="http://schemas.microsoft.com/office/powerpoint/2010/main" val="11142182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Presumptive SC</a:t>
            </a:r>
          </a:p>
          <a:p>
            <a:pPr marL="0" marR="0" lvl="0" indent="0" algn="l" defTabSz="914400" rtl="0" eaLnBrk="1" fontAlgn="auto" latinLnBrk="0" hangingPunct="1">
              <a:lnSpc>
                <a:spcPct val="100000"/>
              </a:lnSpc>
              <a:spcBef>
                <a:spcPct val="0"/>
              </a:spcBef>
              <a:spcAft>
                <a:spcPct val="0"/>
              </a:spcAft>
              <a:buClrTx/>
              <a:buSzTx/>
              <a:buFont typeface="Arial" panose="020B0604020202020204" pitchFamily="34" charset="0"/>
              <a:buNone/>
              <a:defRPr/>
            </a:pPr>
            <a:r>
              <a:rPr lang="en-US" sz="1800" b="0">
                <a:solidFill>
                  <a:schemeClr val="tx1"/>
                </a:solidFill>
                <a:latin typeface="Arial" panose="020B0604020202020204" pitchFamily="34" charset="0"/>
                <a:cs typeface="Arial" panose="020B0604020202020204" pitchFamily="34" charset="0"/>
              </a:rPr>
              <a:t>Presumptive SC has three applicability criteria, including</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Veteran status</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service in the active military, naval, or air service, and</a:t>
            </a:r>
          </a:p>
          <a:p>
            <a:pPr mar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service of 90 days or more </a:t>
            </a:r>
          </a:p>
          <a:p>
            <a:pPr marL="0" lv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during a period of war, or</a:t>
            </a:r>
          </a:p>
          <a:p>
            <a:pPr marL="0" lvl="0" indent="0">
              <a:spcAft>
                <a:spcPts val="600"/>
              </a:spcAft>
              <a:buClr>
                <a:schemeClr val="tx1"/>
              </a:buClr>
              <a:buFont typeface="Arial" panose="020B0604020202020204" pitchFamily="34" charset="0"/>
              <a:buNone/>
            </a:pPr>
            <a:r>
              <a:rPr lang="en-US" sz="1800" b="0">
                <a:solidFill>
                  <a:schemeClr val="tx1"/>
                </a:solidFill>
                <a:latin typeface="Arial" panose="020B0604020202020204" pitchFamily="34" charset="0"/>
                <a:cs typeface="Arial" panose="020B0604020202020204" pitchFamily="34" charset="0"/>
              </a:rPr>
              <a:t>after December 31, 1946.</a:t>
            </a:r>
          </a:p>
        </p:txBody>
      </p:sp>
      <p:sp>
        <p:nvSpPr>
          <p:cNvPr id="4" name="Slide Number Placeholder 3"/>
          <p:cNvSpPr>
            <a:spLocks noGrp="1"/>
          </p:cNvSpPr>
          <p:nvPr>
            <p:ph type="sldNum" sz="quarter" idx="10"/>
          </p:nvPr>
        </p:nvSpPr>
        <p:spPr/>
        <p:txBody>
          <a:bodyPr/>
          <a:lstStyle/>
          <a:p>
            <a:fld id="{0E7C618C-DDD3-4DC9-ADAB-73264023D4F2}" type="slidenum">
              <a:rPr lang="en-US" smtClean="0"/>
              <a:t>37</a:t>
            </a:fld>
            <a:endParaRPr lang="en-US"/>
          </a:p>
        </p:txBody>
      </p:sp>
    </p:spTree>
    <p:extLst>
      <p:ext uri="{BB962C8B-B14F-4D97-AF65-F5344CB8AC3E}">
        <p14:creationId xmlns:p14="http://schemas.microsoft.com/office/powerpoint/2010/main" val="2114475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a:solidFill>
                  <a:schemeClr val="tx1"/>
                </a:solidFill>
                <a:latin typeface="Arial" panose="020B0604020202020204" pitchFamily="34" charset="0"/>
                <a:cs typeface="Arial" panose="020B0604020202020204" pitchFamily="34" charset="0"/>
              </a:rPr>
              <a:t>Questions?</a:t>
            </a:r>
          </a:p>
        </p:txBody>
      </p:sp>
      <p:sp>
        <p:nvSpPr>
          <p:cNvPr id="4" name="Slide Number Placeholder 3"/>
          <p:cNvSpPr>
            <a:spLocks noGrp="1"/>
          </p:cNvSpPr>
          <p:nvPr>
            <p:ph type="sldNum" sz="quarter" idx="10"/>
          </p:nvPr>
        </p:nvSpPr>
        <p:spPr/>
        <p:txBody>
          <a:bodyPr/>
          <a:lstStyle/>
          <a:p>
            <a:fld id="{0E7C618C-DDD3-4DC9-ADAB-73264023D4F2}" type="slidenum">
              <a:rPr lang="en-US" smtClean="0"/>
              <a:t>42</a:t>
            </a:fld>
            <a:endParaRPr lang="en-US"/>
          </a:p>
        </p:txBody>
      </p:sp>
    </p:spTree>
    <p:extLst>
      <p:ext uri="{BB962C8B-B14F-4D97-AF65-F5344CB8AC3E}">
        <p14:creationId xmlns:p14="http://schemas.microsoft.com/office/powerpoint/2010/main" val="15026778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2.jpeg"/><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5">
            <a:lum/>
          </a:blip>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685800" y="2819400"/>
            <a:ext cx="7772400" cy="1219200"/>
          </a:xfrm>
          <a:ln>
            <a:noFill/>
          </a:ln>
        </p:spPr>
        <p:txBody>
          <a:bodyPr anchor="t">
            <a:normAutofit/>
          </a:bodyPr>
          <a:lstStyle>
            <a:lvl1pPr algn="ctr">
              <a:defRPr sz="2800" b="1" cap="none" spc="0">
                <a:ln w="3175" cmpd="sng">
                  <a:noFill/>
                  <a:prstDash val="solid"/>
                </a:ln>
                <a:solidFill>
                  <a:srgbClr val="1F497D"/>
                </a:solidFill>
                <a:effectLst/>
                <a:latin typeface="Arial" panose="020B0604020202020204" pitchFamily="34" charset="0"/>
                <a:cs typeface="Arial" panose="020B0604020202020204" pitchFamily="34" charset="0"/>
              </a:defRPr>
            </a:lvl1pPr>
          </a:lstStyle>
          <a:p>
            <a:r>
              <a:rPr lang="en-US"/>
              <a:t>Click to edit Master title style</a:t>
            </a:r>
          </a:p>
        </p:txBody>
      </p:sp>
      <p:sp>
        <p:nvSpPr>
          <p:cNvPr id="8" name="Text Placeholder 7">
            <a:extLst>
              <a:ext uri="{FF2B5EF4-FFF2-40B4-BE49-F238E27FC236}">
                <a16:creationId xmlns:a16="http://schemas.microsoft.com/office/drawing/2014/main" id="{EF0D3C7F-DECC-4E3E-BB4B-2E454E899B9C}"/>
              </a:ext>
            </a:extLst>
          </p:cNvPr>
          <p:cNvSpPr>
            <a:spLocks noGrp="1"/>
          </p:cNvSpPr>
          <p:nvPr>
            <p:ph type="body" sz="quarter" idx="10" hasCustomPrompt="1"/>
            <p:custDataLst>
              <p:tags r:id="rId2"/>
            </p:custDataLst>
          </p:nvPr>
        </p:nvSpPr>
        <p:spPr>
          <a:xfrm>
            <a:off x="685800" y="4724400"/>
            <a:ext cx="2362200" cy="838200"/>
          </a:xfrm>
          <a:prstGeom prst="rect">
            <a:avLst/>
          </a:prstGeom>
        </p:spPr>
        <p:txBody>
          <a:bodyPr>
            <a:noAutofit/>
          </a:bodyPr>
          <a:lstStyle>
            <a:lvl1pPr marL="0" indent="0" algn="ctr">
              <a:lnSpc>
                <a:spcPct val="100000"/>
              </a:lnSpc>
              <a:spcBef>
                <a:spcPct val="0"/>
              </a:spcBef>
              <a:spcAft>
                <a:spcPts val="450"/>
              </a:spcAft>
              <a:buNone/>
              <a:defRPr sz="1800" b="1">
                <a:solidFill>
                  <a:srgbClr val="1F497D"/>
                </a:solidFill>
              </a:defRPr>
            </a:lvl1pPr>
            <a:lvl5pPr marL="771525" indent="0">
              <a:buNone/>
              <a:defRPr/>
            </a:lvl5pPr>
          </a:lstStyle>
          <a:p>
            <a:pPr lvl="0"/>
            <a:r>
              <a:rPr lang="en-US"/>
              <a:t>Sub title</a:t>
            </a:r>
          </a:p>
        </p:txBody>
      </p:sp>
      <p:sp>
        <p:nvSpPr>
          <p:cNvPr id="11" name="Text Placeholder 7">
            <a:extLst>
              <a:ext uri="{FF2B5EF4-FFF2-40B4-BE49-F238E27FC236}">
                <a16:creationId xmlns:a16="http://schemas.microsoft.com/office/drawing/2014/main" id="{509C35E9-41D4-42EB-8235-20B6E0E3EA49}"/>
              </a:ext>
            </a:extLst>
          </p:cNvPr>
          <p:cNvSpPr>
            <a:spLocks noGrp="1"/>
          </p:cNvSpPr>
          <p:nvPr>
            <p:ph type="body" sz="quarter" idx="11" hasCustomPrompt="1"/>
            <p:custDataLst>
              <p:tags r:id="rId3"/>
            </p:custDataLst>
          </p:nvPr>
        </p:nvSpPr>
        <p:spPr>
          <a:xfrm>
            <a:off x="6096000" y="4724400"/>
            <a:ext cx="2362200" cy="838200"/>
          </a:xfrm>
          <a:prstGeom prst="rect">
            <a:avLst/>
          </a:prstGeom>
        </p:spPr>
        <p:txBody>
          <a:bodyPr>
            <a:noAutofit/>
          </a:bodyPr>
          <a:lstStyle>
            <a:lvl1pPr marL="0" indent="0" algn="ctr">
              <a:buNone/>
              <a:defRPr sz="1800" b="1">
                <a:solidFill>
                  <a:srgbClr val="1F497D"/>
                </a:solidFill>
              </a:defRPr>
            </a:lvl1pPr>
            <a:lvl5pPr marL="771525" indent="0">
              <a:buNone/>
              <a:defRPr/>
            </a:lvl5pPr>
          </a:lstStyle>
          <a:p>
            <a:pPr lvl="0"/>
            <a:r>
              <a:rPr lang="en-US"/>
              <a:t>Date sub-title</a:t>
            </a:r>
          </a:p>
        </p:txBody>
      </p:sp>
    </p:spTree>
    <p:extLst>
      <p:ext uri="{BB962C8B-B14F-4D97-AF65-F5344CB8AC3E}">
        <p14:creationId xmlns:p14="http://schemas.microsoft.com/office/powerpoint/2010/main" val="2415256609"/>
      </p:ext>
    </p:extLst>
  </p:cSld>
  <p:clrMapOvr>
    <a:masterClrMapping/>
  </p:clrMapOvr>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0" y="793627"/>
            <a:ext cx="9144000" cy="1086867"/>
          </a:xfrm>
        </p:spPr>
        <p:txBody>
          <a:bodyPr anchor="t">
            <a:normAutofit/>
          </a:bodyPr>
          <a:lstStyle>
            <a:lvl1pPr algn="ctr">
              <a:defRPr sz="2800">
                <a:solidFill>
                  <a:srgbClr val="1F497D"/>
                </a:solidFill>
              </a:defRPr>
            </a:lvl1pPr>
          </a:lstStyle>
          <a:p>
            <a:r>
              <a:rPr lang="en-US"/>
              <a:t>Click to edit Master title style</a:t>
            </a:r>
          </a:p>
        </p:txBody>
      </p:sp>
      <p:sp>
        <p:nvSpPr>
          <p:cNvPr id="3" name="Content Placeholder 2"/>
          <p:cNvSpPr>
            <a:spLocks noGrp="1"/>
          </p:cNvSpPr>
          <p:nvPr>
            <p:ph idx="1"/>
            <p:custDataLst>
              <p:tags r:id="rId2"/>
            </p:custDataLst>
          </p:nvPr>
        </p:nvSpPr>
        <p:spPr>
          <a:xfrm>
            <a:off x="457200" y="2057400"/>
            <a:ext cx="8229600" cy="3916363"/>
          </a:xfrm>
          <a:prstGeom prst="rect">
            <a:avLst/>
          </a:prstGeom>
        </p:spPr>
        <p:txBody>
          <a:bodyPr>
            <a:normAutofit/>
          </a:bodyPr>
          <a:lstStyle>
            <a:lvl1pPr marL="0" indent="0">
              <a:spcBef>
                <a:spcPct val="0"/>
              </a:spcBef>
              <a:spcAft>
                <a:spcPts val="600"/>
              </a:spcAft>
              <a:buFontTx/>
              <a:buNone/>
              <a:defRPr sz="2000">
                <a:latin typeface="Arial" panose="020B0604020202020204" pitchFamily="34" charset="0"/>
                <a:cs typeface="Arial" panose="020B0604020202020204" pitchFamily="34" charset="0"/>
              </a:defRPr>
            </a:lvl1pPr>
            <a:lvl2pPr marL="385763" indent="-192881">
              <a:spcBef>
                <a:spcPct val="0"/>
              </a:spcBef>
              <a:spcAft>
                <a:spcPts val="600"/>
              </a:spcAft>
              <a:buFont typeface="Arial" panose="020B0604020202020204" pitchFamily="34" charset="0"/>
              <a:buChar char="•"/>
              <a:defRPr sz="1800">
                <a:latin typeface="Arial" panose="020B0604020202020204" pitchFamily="34" charset="0"/>
                <a:cs typeface="Arial" panose="020B0604020202020204" pitchFamily="34" charset="0"/>
              </a:defRPr>
            </a:lvl2pPr>
            <a:lvl3pPr marL="578644" indent="-192881">
              <a:spcBef>
                <a:spcPct val="0"/>
              </a:spcBef>
              <a:spcAft>
                <a:spcPts val="600"/>
              </a:spcAft>
              <a:buFont typeface="Arial" panose="020B0604020202020204" pitchFamily="34" charset="0"/>
              <a:buChar char="•"/>
              <a:defRPr sz="1600">
                <a:latin typeface="Arial" panose="020B0604020202020204" pitchFamily="34" charset="0"/>
                <a:cs typeface="Arial" panose="020B0604020202020204" pitchFamily="34" charset="0"/>
              </a:defRPr>
            </a:lvl3pPr>
            <a:lvl4pPr marL="771525" indent="-192881">
              <a:spcBef>
                <a:spcPct val="0"/>
              </a:spcBef>
              <a:spcAft>
                <a:spcPts val="600"/>
              </a:spcAft>
              <a:buFont typeface="Arial" panose="020B0604020202020204" pitchFamily="34" charset="0"/>
              <a:buChar char="•"/>
              <a:defRPr sz="1400">
                <a:latin typeface="Arial" panose="020B0604020202020204" pitchFamily="34" charset="0"/>
                <a:cs typeface="Arial" panose="020B0604020202020204" pitchFamily="34" charset="0"/>
              </a:defRPr>
            </a:lvl4pPr>
            <a:lvl5pPr marL="964406" indent="-192881">
              <a:spcBef>
                <a:spcPct val="0"/>
              </a:spcBef>
              <a:spcAft>
                <a:spcPts val="600"/>
              </a:spcAft>
              <a:buFont typeface="Arial" panose="020B0604020202020204" pitchFamily="34" charset="0"/>
              <a:buChar char="•"/>
              <a:defRPr sz="1200">
                <a:latin typeface="Arial" panose="020B0604020202020204" pitchFamily="34" charset="0"/>
                <a:cs typeface="Arial" panose="020B0604020202020204" pitchFamily="34" charset="0"/>
              </a:defRPr>
            </a:lvl5pPr>
          </a:lstStyle>
          <a:p>
            <a:pPr lvl="0"/>
            <a:r>
              <a:rPr lang="en-US"/>
              <a:t>Edit Master text styles</a:t>
            </a:r>
          </a:p>
        </p:txBody>
      </p:sp>
      <p:sp>
        <p:nvSpPr>
          <p:cNvPr id="8" name="Slide Number Placeholder 5">
            <a:extLst>
              <a:ext uri="{FF2B5EF4-FFF2-40B4-BE49-F238E27FC236}">
                <a16:creationId xmlns:a16="http://schemas.microsoft.com/office/drawing/2014/main" id="{D182D0DC-F309-4AD6-9FC4-7A92EF3A0C20}"/>
              </a:ext>
            </a:extLst>
          </p:cNvPr>
          <p:cNvSpPr>
            <a:spLocks noGrp="1"/>
          </p:cNvSpPr>
          <p:nvPr>
            <p:ph type="sldNum" sz="quarter" idx="12"/>
            <p:custDataLst>
              <p:tags r:id="rId3"/>
            </p:custDataLst>
          </p:nvPr>
        </p:nvSpPr>
        <p:spPr>
          <a:xfrm>
            <a:off x="6931152" y="6601974"/>
            <a:ext cx="2133600" cy="365125"/>
          </a:xfrm>
          <a:prstGeom prst="rect">
            <a:avLst/>
          </a:prstGeom>
        </p:spPr>
        <p:txBody>
          <a:bodyPr/>
          <a:lstStyle>
            <a:lvl1pPr algn="r">
              <a:defRPr sz="1400">
                <a:solidFill>
                  <a:schemeClr val="tx1"/>
                </a:solidFill>
                <a:latin typeface="Arial" panose="020B0604020202020204" pitchFamily="34" charset="0"/>
                <a:cs typeface="Arial" panose="020B0604020202020204" pitchFamily="34" charset="0"/>
              </a:defRPr>
            </a:lvl1pPr>
          </a:lstStyle>
          <a:p>
            <a:fld id="{7C414AED-89CE-4A48-8B2B-1B3A5C68EA2A}" type="slidenum">
              <a:rPr lang="en-US" smtClean="0"/>
              <a:t>‹#›</a:t>
            </a:fld>
            <a:endParaRPr lang="en-US"/>
          </a:p>
        </p:txBody>
      </p:sp>
    </p:spTree>
    <p:extLst>
      <p:ext uri="{BB962C8B-B14F-4D97-AF65-F5344CB8AC3E}">
        <p14:creationId xmlns:p14="http://schemas.microsoft.com/office/powerpoint/2010/main" val="30793639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Bulle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0" y="793627"/>
            <a:ext cx="9144000" cy="1086867"/>
          </a:xfrm>
        </p:spPr>
        <p:txBody>
          <a:bodyPr anchor="t">
            <a:normAutofit/>
          </a:bodyPr>
          <a:lstStyle>
            <a:lvl1pPr algn="ctr">
              <a:defRPr sz="2800">
                <a:solidFill>
                  <a:srgbClr val="1F497D"/>
                </a:solidFill>
              </a:defRPr>
            </a:lvl1pPr>
          </a:lstStyle>
          <a:p>
            <a:r>
              <a:rPr lang="en-US"/>
              <a:t>Click to edit Master title style</a:t>
            </a:r>
          </a:p>
        </p:txBody>
      </p:sp>
      <p:sp>
        <p:nvSpPr>
          <p:cNvPr id="3" name="Content Placeholder 2"/>
          <p:cNvSpPr>
            <a:spLocks noGrp="1"/>
          </p:cNvSpPr>
          <p:nvPr>
            <p:ph idx="1" hasCustomPrompt="1"/>
            <p:custDataLst>
              <p:tags r:id="rId2"/>
            </p:custDataLst>
          </p:nvPr>
        </p:nvSpPr>
        <p:spPr>
          <a:xfrm>
            <a:off x="457200" y="2057400"/>
            <a:ext cx="8229600" cy="3916363"/>
          </a:xfrm>
          <a:prstGeom prst="rect">
            <a:avLst/>
          </a:prstGeom>
        </p:spPr>
        <p:txBody>
          <a:bodyPr>
            <a:normAutofit/>
          </a:bodyPr>
          <a:lstStyle>
            <a:lvl1pPr marL="285750" indent="-285750">
              <a:spcBef>
                <a:spcPct val="0"/>
              </a:spcBef>
              <a:spcAft>
                <a:spcPts val="600"/>
              </a:spcAft>
              <a:buFont typeface="Arial" panose="020B0604020202020204" pitchFamily="34" charset="0"/>
              <a:buChar char="•"/>
              <a:defRPr sz="1800">
                <a:latin typeface="Arial" panose="020B0604020202020204" pitchFamily="34" charset="0"/>
                <a:cs typeface="Arial" panose="020B0604020202020204" pitchFamily="34" charset="0"/>
              </a:defRPr>
            </a:lvl1pPr>
            <a:lvl2pPr marL="566738" indent="-277813">
              <a:spcBef>
                <a:spcPct val="0"/>
              </a:spcBef>
              <a:spcAft>
                <a:spcPts val="600"/>
              </a:spcAft>
              <a:buFont typeface="Arial" panose="020B0604020202020204" pitchFamily="34" charset="0"/>
              <a:buChar char="•"/>
              <a:defRPr sz="1600">
                <a:latin typeface="Arial" panose="020B0604020202020204" pitchFamily="34" charset="0"/>
                <a:cs typeface="Arial" panose="020B0604020202020204" pitchFamily="34" charset="0"/>
              </a:defRPr>
            </a:lvl2pPr>
            <a:lvl3pPr marL="857250" indent="-290513">
              <a:spcBef>
                <a:spcPct val="0"/>
              </a:spcBef>
              <a:spcAft>
                <a:spcPts val="600"/>
              </a:spcAft>
              <a:buFont typeface="Arial" panose="020B0604020202020204" pitchFamily="34" charset="0"/>
              <a:buChar char="•"/>
              <a:defRPr sz="1400">
                <a:latin typeface="Arial" panose="020B0604020202020204" pitchFamily="34" charset="0"/>
                <a:cs typeface="Arial" panose="020B0604020202020204" pitchFamily="34" charset="0"/>
              </a:defRPr>
            </a:lvl3pPr>
            <a:lvl4pPr marL="1087438" indent="-230188">
              <a:spcBef>
                <a:spcPct val="0"/>
              </a:spcBef>
              <a:spcAft>
                <a:spcPts val="600"/>
              </a:spcAft>
              <a:buFont typeface="Arial" panose="020B0604020202020204" pitchFamily="34" charset="0"/>
              <a:buChar char="•"/>
              <a:defRPr sz="1400">
                <a:latin typeface="Arial" panose="020B0604020202020204" pitchFamily="34" charset="0"/>
                <a:cs typeface="Arial" panose="020B0604020202020204" pitchFamily="34" charset="0"/>
              </a:defRPr>
            </a:lvl4pPr>
            <a:lvl5pPr marL="964406" indent="-192881">
              <a:spcBef>
                <a:spcPct val="0"/>
              </a:spcBef>
              <a:spcAft>
                <a:spcPts val="600"/>
              </a:spcAft>
              <a:buFont typeface="Arial" panose="020B0604020202020204" pitchFamily="34" charset="0"/>
              <a:buChar char="•"/>
              <a:defRPr sz="1200">
                <a:latin typeface="Arial" panose="020B0604020202020204" pitchFamily="34" charset="0"/>
                <a:cs typeface="Arial" panose="020B0604020202020204" pitchFamily="34" charset="0"/>
              </a:defRPr>
            </a:lvl5pPr>
          </a:lstStyle>
          <a:p>
            <a:pPr lvl="0"/>
            <a:r>
              <a:rPr lang="en-US"/>
              <a:t>Second level</a:t>
            </a:r>
          </a:p>
          <a:p>
            <a:pPr lvl="1"/>
            <a:r>
              <a:rPr lang="en-US"/>
              <a:t>Third level</a:t>
            </a:r>
          </a:p>
          <a:p>
            <a:pPr lvl="2"/>
            <a:r>
              <a:rPr lang="en-US"/>
              <a:t>Fourth level</a:t>
            </a:r>
          </a:p>
          <a:p>
            <a:pPr lvl="3"/>
            <a:r>
              <a:rPr lang="en-US"/>
              <a:t>Fifth level</a:t>
            </a:r>
          </a:p>
        </p:txBody>
      </p:sp>
      <p:sp>
        <p:nvSpPr>
          <p:cNvPr id="8" name="Slide Number Placeholder 5">
            <a:extLst>
              <a:ext uri="{FF2B5EF4-FFF2-40B4-BE49-F238E27FC236}">
                <a16:creationId xmlns:a16="http://schemas.microsoft.com/office/drawing/2014/main" id="{D182D0DC-F309-4AD6-9FC4-7A92EF3A0C20}"/>
              </a:ext>
            </a:extLst>
          </p:cNvPr>
          <p:cNvSpPr>
            <a:spLocks noGrp="1"/>
          </p:cNvSpPr>
          <p:nvPr>
            <p:ph type="sldNum" sz="quarter" idx="12"/>
            <p:custDataLst>
              <p:tags r:id="rId3"/>
            </p:custDataLst>
          </p:nvPr>
        </p:nvSpPr>
        <p:spPr>
          <a:xfrm>
            <a:off x="6931152" y="6601974"/>
            <a:ext cx="2133600" cy="365125"/>
          </a:xfrm>
          <a:prstGeom prst="rect">
            <a:avLst/>
          </a:prstGeom>
        </p:spPr>
        <p:txBody>
          <a:bodyPr/>
          <a:lstStyle>
            <a:lvl1pPr algn="r">
              <a:defRPr sz="1400">
                <a:solidFill>
                  <a:schemeClr val="tx1"/>
                </a:solidFill>
                <a:latin typeface="Arial" panose="020B0604020202020204" pitchFamily="34" charset="0"/>
                <a:cs typeface="Arial" panose="020B0604020202020204" pitchFamily="34" charset="0"/>
              </a:defRPr>
            </a:lvl1pPr>
          </a:lstStyle>
          <a:p>
            <a:fld id="{36A6A193-2FDC-48DD-8023-1C75B05EEA9A}" type="slidenum">
              <a:rPr lang="en-US" smtClean="0"/>
              <a:t>‹#›</a:t>
            </a:fld>
            <a:endParaRPr lang="en-US"/>
          </a:p>
        </p:txBody>
      </p:sp>
    </p:spTree>
    <p:extLst>
      <p:ext uri="{BB962C8B-B14F-4D97-AF65-F5344CB8AC3E}">
        <p14:creationId xmlns:p14="http://schemas.microsoft.com/office/powerpoint/2010/main" val="2955334817"/>
      </p:ext>
    </p:extLst>
  </p:cSld>
  <p:clrMapOvr>
    <a:masterClrMapping/>
  </p:clrMapOvr>
  <p:transition/>
  <p:hf hdr="0" ft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ags" Target="../tags/tag4.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5"/>
            </p:custDataLst>
          </p:nvPr>
        </p:nvSpPr>
        <p:spPr>
          <a:xfrm>
            <a:off x="0" y="457200"/>
            <a:ext cx="8991600" cy="1066800"/>
          </a:xfrm>
          <a:prstGeom prst="rect">
            <a:avLst/>
          </a:prstGeom>
        </p:spPr>
        <p:txBody>
          <a:bodyPr vert="horz" lIns="91440" tIns="45720" rIns="91440" bIns="45720" rtlCol="0" anchor="ctr">
            <a:normAutofit/>
          </a:bodyPr>
          <a:lstStyle/>
          <a:p>
            <a:r>
              <a:rPr lang="en-US"/>
              <a:t>Click to edit Master title style</a:t>
            </a:r>
          </a:p>
        </p:txBody>
      </p:sp>
      <p:sp>
        <p:nvSpPr>
          <p:cNvPr id="4" name="Rectangle 3">
            <a:extLst>
              <a:ext uri="{FF2B5EF4-FFF2-40B4-BE49-F238E27FC236}">
                <a16:creationId xmlns:a16="http://schemas.microsoft.com/office/drawing/2014/main" id="{99255132-F725-42BA-BD6A-346EAF30B44D}"/>
              </a:ext>
            </a:extLst>
          </p:cNvPr>
          <p:cNvSpPr/>
          <p:nvPr>
            <p:custDataLst>
              <p:tags r:id="rId6"/>
            </p:custDataLst>
          </p:nvPr>
        </p:nvSpPr>
        <p:spPr>
          <a:xfrm>
            <a:off x="0" y="6477000"/>
            <a:ext cx="91440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b="0" i="0" u="none"/>
          </a:p>
        </p:txBody>
      </p:sp>
      <p:sp>
        <p:nvSpPr>
          <p:cNvPr id="5" name="Slide Number Placeholder 5">
            <a:extLst>
              <a:ext uri="{FF2B5EF4-FFF2-40B4-BE49-F238E27FC236}">
                <a16:creationId xmlns:a16="http://schemas.microsoft.com/office/drawing/2014/main" id="{3D658DF1-112E-40ED-AD80-74665B53845E}"/>
              </a:ext>
            </a:extLst>
          </p:cNvPr>
          <p:cNvSpPr>
            <a:spLocks noGrp="1"/>
          </p:cNvSpPr>
          <p:nvPr>
            <p:ph type="sldNum" sz="quarter" idx="4"/>
            <p:custDataLst>
              <p:tags r:id="rId7"/>
            </p:custDataLst>
          </p:nvPr>
        </p:nvSpPr>
        <p:spPr>
          <a:xfrm>
            <a:off x="6931152" y="6601974"/>
            <a:ext cx="2133600" cy="365125"/>
          </a:xfrm>
          <a:prstGeom prst="rect">
            <a:avLst/>
          </a:prstGeom>
        </p:spPr>
        <p:txBody>
          <a:bodyPr tIns="0"/>
          <a:lstStyle>
            <a:lvl1pPr algn="r">
              <a:defRPr sz="1050">
                <a:latin typeface="Arial" panose="020B0604020202020204" pitchFamily="34" charset="0"/>
                <a:cs typeface="Arial" panose="020B0604020202020204" pitchFamily="34" charset="0"/>
              </a:defRPr>
            </a:lvl1pPr>
          </a:lstStyle>
          <a:p>
            <a:fld id="{36A6A193-2FDC-48DD-8023-1C75B05EEA9A}" type="slidenum">
              <a:rPr lang="en-US" smtClean="0"/>
              <a:t>‹#›</a:t>
            </a:fld>
            <a:endParaRPr lang="en-US"/>
          </a:p>
        </p:txBody>
      </p:sp>
    </p:spTree>
    <p:extLst>
      <p:ext uri="{BB962C8B-B14F-4D97-AF65-F5344CB8AC3E}">
        <p14:creationId xmlns:p14="http://schemas.microsoft.com/office/powerpoint/2010/main" val="2064048142"/>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Lst>
  <p:transition/>
  <p:hf hdr="0" ftr="0" dt="0"/>
  <p:txStyles>
    <p:titleStyle>
      <a:lvl1pPr algn="ctr" defTabSz="385763" rtl="0" eaLnBrk="1" latinLnBrk="0" hangingPunct="1">
        <a:spcBef>
          <a:spcPct val="0"/>
        </a:spcBef>
        <a:buNone/>
        <a:defRPr sz="2100" b="1" i="0" u="none" kern="1200" cap="none" spc="0">
          <a:ln w="3175" cmpd="sng">
            <a:noFill/>
            <a:prstDash val="solid"/>
          </a:ln>
          <a:solidFill>
            <a:srgbClr val="1F497D"/>
          </a:solidFill>
          <a:effectLst/>
          <a:latin typeface="+mj-lt"/>
          <a:ea typeface="+mj-ea"/>
          <a:cs typeface="Arial" panose="020B0604020202020204" pitchFamily="34" charset="0"/>
        </a:defRPr>
      </a:lvl1pPr>
    </p:titleStyle>
    <p:bodyStyle>
      <a:lvl1pPr marL="0" indent="0" algn="l" defTabSz="385763" rtl="0" eaLnBrk="1" latinLnBrk="0" hangingPunct="1">
        <a:spcBef>
          <a:spcPct val="20000"/>
        </a:spcBef>
        <a:buFont typeface="Arial" panose="020B0604020202020204" pitchFamily="34" charset="0"/>
        <a:buNone/>
        <a:defRPr sz="1013" kern="1200">
          <a:solidFill>
            <a:schemeClr val="tx1"/>
          </a:solidFill>
          <a:latin typeface="Arial" panose="020B0604020202020204" pitchFamily="34" charset="0"/>
          <a:ea typeface="+mn-ea"/>
          <a:cs typeface="Arial" panose="020B0604020202020204" pitchFamily="34" charset="0"/>
        </a:defRPr>
      </a:lvl1pPr>
      <a:lvl2pPr marL="192881" indent="0" algn="l" defTabSz="385763" rtl="0" eaLnBrk="1" latinLnBrk="0" hangingPunct="1">
        <a:spcBef>
          <a:spcPct val="20000"/>
        </a:spcBef>
        <a:buFont typeface="Arial" panose="020B0604020202020204" pitchFamily="34" charset="0"/>
        <a:buNone/>
        <a:defRPr sz="1013" b="0" i="0" u="none" kern="1200">
          <a:solidFill>
            <a:schemeClr val="tx1"/>
          </a:solidFill>
          <a:latin typeface="Arial" panose="020B0604020202020204" pitchFamily="34" charset="0"/>
          <a:ea typeface="+mn-ea"/>
          <a:cs typeface="Arial" panose="020B0604020202020204" pitchFamily="34" charset="0"/>
        </a:defRPr>
      </a:lvl2pPr>
      <a:lvl3pPr marL="385763" indent="0" algn="l" defTabSz="385763" rtl="0" eaLnBrk="1" latinLnBrk="0" hangingPunct="1">
        <a:spcBef>
          <a:spcPct val="20000"/>
        </a:spcBef>
        <a:buFont typeface="Arial" panose="020B0604020202020204" pitchFamily="34" charset="0"/>
        <a:buNone/>
        <a:defRPr sz="1013" kern="1200">
          <a:solidFill>
            <a:schemeClr val="tx1"/>
          </a:solidFill>
          <a:latin typeface="Arial" panose="020B0604020202020204" pitchFamily="34" charset="0"/>
          <a:ea typeface="+mn-ea"/>
          <a:cs typeface="Arial" panose="020B0604020202020204" pitchFamily="34" charset="0"/>
        </a:defRPr>
      </a:lvl3pPr>
      <a:lvl4pPr marL="578644" indent="0" algn="l" defTabSz="385763" rtl="0" eaLnBrk="1" latinLnBrk="0" hangingPunct="1">
        <a:spcBef>
          <a:spcPct val="20000"/>
        </a:spcBef>
        <a:buFont typeface="Arial" panose="020B0604020202020204" pitchFamily="34" charset="0"/>
        <a:buNone/>
        <a:defRPr sz="1013" kern="1200">
          <a:solidFill>
            <a:schemeClr val="tx1"/>
          </a:solidFill>
          <a:latin typeface="Arial" panose="020B0604020202020204" pitchFamily="34" charset="0"/>
          <a:ea typeface="+mn-ea"/>
          <a:cs typeface="Arial" panose="020B0604020202020204" pitchFamily="34" charset="0"/>
        </a:defRPr>
      </a:lvl4pPr>
      <a:lvl5pPr marL="771525" indent="0" algn="l" defTabSz="385763" rtl="0" eaLnBrk="1" latinLnBrk="0" hangingPunct="1">
        <a:spcBef>
          <a:spcPct val="20000"/>
        </a:spcBef>
        <a:buFont typeface="Arial" panose="020B0604020202020204" pitchFamily="34" charset="0"/>
        <a:buNone/>
        <a:defRPr sz="1013" kern="1200">
          <a:solidFill>
            <a:schemeClr val="tx1"/>
          </a:solidFill>
          <a:latin typeface="Arial" panose="020B0604020202020204" pitchFamily="34" charset="0"/>
          <a:ea typeface="+mn-ea"/>
          <a:cs typeface="Arial" panose="020B0604020202020204" pitchFamily="34" charset="0"/>
        </a:defRPr>
      </a:lvl5pPr>
      <a:lvl6pPr marL="1060847" indent="-96441" algn="l" defTabSz="385763" rtl="0" eaLnBrk="1" latinLnBrk="0" hangingPunct="1">
        <a:spcBef>
          <a:spcPct val="20000"/>
        </a:spcBef>
        <a:buFont typeface="Arial" panose="020B0604020202020204" pitchFamily="34" charset="0"/>
        <a:buChar char="•"/>
        <a:defRPr sz="844" kern="1200">
          <a:solidFill>
            <a:schemeClr val="tx1"/>
          </a:solidFill>
          <a:latin typeface="+mn-lt"/>
          <a:ea typeface="+mn-ea"/>
          <a:cs typeface="+mn-cs"/>
        </a:defRPr>
      </a:lvl6pPr>
      <a:lvl7pPr marL="1253729" indent="-96441" algn="l" defTabSz="385763" rtl="0" eaLnBrk="1" latinLnBrk="0" hangingPunct="1">
        <a:spcBef>
          <a:spcPct val="20000"/>
        </a:spcBef>
        <a:buFont typeface="Arial" panose="020B0604020202020204" pitchFamily="34" charset="0"/>
        <a:buChar char="•"/>
        <a:defRPr sz="844" kern="1200">
          <a:solidFill>
            <a:schemeClr val="tx1"/>
          </a:solidFill>
          <a:latin typeface="+mn-lt"/>
          <a:ea typeface="+mn-ea"/>
          <a:cs typeface="+mn-cs"/>
        </a:defRPr>
      </a:lvl7pPr>
      <a:lvl8pPr marL="1446610" indent="-96441" algn="l" defTabSz="385763" rtl="0" eaLnBrk="1" latinLnBrk="0" hangingPunct="1">
        <a:spcBef>
          <a:spcPct val="20000"/>
        </a:spcBef>
        <a:buFont typeface="Arial" panose="020B0604020202020204" pitchFamily="34" charset="0"/>
        <a:buChar char="•"/>
        <a:defRPr sz="844" kern="1200">
          <a:solidFill>
            <a:schemeClr val="tx1"/>
          </a:solidFill>
          <a:latin typeface="+mn-lt"/>
          <a:ea typeface="+mn-ea"/>
          <a:cs typeface="+mn-cs"/>
        </a:defRPr>
      </a:lvl8pPr>
      <a:lvl9pPr marL="1639491" indent="-96441" algn="l" defTabSz="385763" rtl="0" eaLnBrk="1" latinLnBrk="0" hangingPunct="1">
        <a:spcBef>
          <a:spcPct val="20000"/>
        </a:spcBef>
        <a:buFont typeface="Arial" panose="020B0604020202020204" pitchFamily="34" charset="0"/>
        <a:buChar char="•"/>
        <a:defRPr sz="844" kern="1200">
          <a:solidFill>
            <a:schemeClr val="tx1"/>
          </a:solidFill>
          <a:latin typeface="+mn-lt"/>
          <a:ea typeface="+mn-ea"/>
          <a:cs typeface="+mn-cs"/>
        </a:defRPr>
      </a:lvl9pPr>
    </p:bodyStyle>
    <p:otherStyle>
      <a:defPPr>
        <a:defRPr lang="en-US"/>
      </a:defPPr>
      <a:lvl1pPr marL="0" algn="l" defTabSz="385763" rtl="0" eaLnBrk="1" latinLnBrk="0" hangingPunct="1">
        <a:defRPr sz="760" kern="1200">
          <a:solidFill>
            <a:schemeClr val="tx1"/>
          </a:solidFill>
          <a:latin typeface="+mn-lt"/>
          <a:ea typeface="+mn-ea"/>
          <a:cs typeface="+mn-cs"/>
        </a:defRPr>
      </a:lvl1pPr>
      <a:lvl2pPr marL="192881" algn="l" defTabSz="385763" rtl="0" eaLnBrk="1" latinLnBrk="0" hangingPunct="1">
        <a:defRPr sz="760" kern="1200">
          <a:solidFill>
            <a:schemeClr val="tx1"/>
          </a:solidFill>
          <a:latin typeface="+mn-lt"/>
          <a:ea typeface="+mn-ea"/>
          <a:cs typeface="+mn-cs"/>
        </a:defRPr>
      </a:lvl2pPr>
      <a:lvl3pPr marL="385763" algn="l" defTabSz="385763" rtl="0" eaLnBrk="1" latinLnBrk="0" hangingPunct="1">
        <a:defRPr sz="760" kern="1200">
          <a:solidFill>
            <a:schemeClr val="tx1"/>
          </a:solidFill>
          <a:latin typeface="+mn-lt"/>
          <a:ea typeface="+mn-ea"/>
          <a:cs typeface="+mn-cs"/>
        </a:defRPr>
      </a:lvl3pPr>
      <a:lvl4pPr marL="578644" algn="l" defTabSz="385763" rtl="0" eaLnBrk="1" latinLnBrk="0" hangingPunct="1">
        <a:defRPr sz="760" kern="1200">
          <a:solidFill>
            <a:schemeClr val="tx1"/>
          </a:solidFill>
          <a:latin typeface="+mn-lt"/>
          <a:ea typeface="+mn-ea"/>
          <a:cs typeface="+mn-cs"/>
        </a:defRPr>
      </a:lvl4pPr>
      <a:lvl5pPr marL="771525" algn="l" defTabSz="385763" rtl="0" eaLnBrk="1" latinLnBrk="0" hangingPunct="1">
        <a:defRPr sz="760" kern="1200">
          <a:solidFill>
            <a:schemeClr val="tx1"/>
          </a:solidFill>
          <a:latin typeface="+mn-lt"/>
          <a:ea typeface="+mn-ea"/>
          <a:cs typeface="+mn-cs"/>
        </a:defRPr>
      </a:lvl5pPr>
      <a:lvl6pPr marL="964406" algn="l" defTabSz="385763" rtl="0" eaLnBrk="1" latinLnBrk="0" hangingPunct="1">
        <a:defRPr sz="760" kern="1200">
          <a:solidFill>
            <a:schemeClr val="tx1"/>
          </a:solidFill>
          <a:latin typeface="+mn-lt"/>
          <a:ea typeface="+mn-ea"/>
          <a:cs typeface="+mn-cs"/>
        </a:defRPr>
      </a:lvl6pPr>
      <a:lvl7pPr marL="1157288" algn="l" defTabSz="385763" rtl="0" eaLnBrk="1" latinLnBrk="0" hangingPunct="1">
        <a:defRPr sz="760" kern="1200">
          <a:solidFill>
            <a:schemeClr val="tx1"/>
          </a:solidFill>
          <a:latin typeface="+mn-lt"/>
          <a:ea typeface="+mn-ea"/>
          <a:cs typeface="+mn-cs"/>
        </a:defRPr>
      </a:lvl7pPr>
      <a:lvl8pPr marL="1350169" algn="l" defTabSz="385763" rtl="0" eaLnBrk="1" latinLnBrk="0" hangingPunct="1">
        <a:defRPr sz="760" kern="1200">
          <a:solidFill>
            <a:schemeClr val="tx1"/>
          </a:solidFill>
          <a:latin typeface="+mn-lt"/>
          <a:ea typeface="+mn-ea"/>
          <a:cs typeface="+mn-cs"/>
        </a:defRPr>
      </a:lvl8pPr>
      <a:lvl9pPr marL="1543050" algn="l" defTabSz="385763" rtl="0" eaLnBrk="1" latinLnBrk="0" hangingPunct="1">
        <a:defRPr sz="7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tags" Target="../tags/tag17.xml"/></Relationships>
</file>

<file path=ppt/slides/_rels/slide2.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tags" Target="../tags/tag21.xml"/></Relationships>
</file>

<file path=ppt/slides/_rels/slide3.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hyperlink" Target="https://www.ecfr.gov/cgi-bin/text-idx?SID=ad275643432556b9dda942343fb89296&amp;mc=true&amp;node=pt38.1.3&amp;rgn=div58#se38.1.3_16" TargetMode="External"/><Relationship Id="rId18" Type="http://schemas.openxmlformats.org/officeDocument/2006/relationships/hyperlink" Target="https://vaww.vrm.km.va.gov/system/templates/selfservice/va_kanew/help/agent/locale/en-US/portal/554400000001034/content/554400000014553/M21-1-Part-IV-Subpart-ii-Chapter-2-Section-B-Determining-Service-Connection-SC?articleViewContext=article_view_browse_tree&amp;isFeatured=undefined&amp;topic=undefined" TargetMode="External"/><Relationship Id="rId3" Type="http://schemas.openxmlformats.org/officeDocument/2006/relationships/tags" Target="../tags/tag24.xml"/><Relationship Id="rId7" Type="http://schemas.openxmlformats.org/officeDocument/2006/relationships/tags" Target="../tags/tag28.xml"/><Relationship Id="rId12" Type="http://schemas.openxmlformats.org/officeDocument/2006/relationships/notesSlide" Target="../notesSlides/notesSlide3.xml"/><Relationship Id="rId17" Type="http://schemas.openxmlformats.org/officeDocument/2006/relationships/hyperlink" Target="https://vaww.vrm.km.va.gov/system/templates/selfservice/va_kanew/help/agent/locale/en-US/portal/554400000001034/content/554400000014222/M21-1-Part-III-Subpart-v-Chapter-1-Section-D-Willful-Misconduct-and-Line-of-Duty-LOD?articleViewContext=article_view_browse_tree&amp;isFeatured=undefined&amp;topic=undefined" TargetMode="External"/><Relationship Id="rId2" Type="http://schemas.openxmlformats.org/officeDocument/2006/relationships/tags" Target="../tags/tag23.xml"/><Relationship Id="rId16" Type="http://schemas.openxmlformats.org/officeDocument/2006/relationships/hyperlink" Target="https://vaww.vrm.km.va.gov/system/templates/selfservice/va_kanew/help/agent/locale/en-US/portal/554400000001034/content/554400000014197/M21-1-Part-III-Subpart-iv-Chapter-4-Section-D-Conditions-of-the-Auditory-System#1c" TargetMode="Externa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slideLayout" Target="../slideLayouts/slideLayout3.xml"/><Relationship Id="rId5" Type="http://schemas.openxmlformats.org/officeDocument/2006/relationships/tags" Target="../tags/tag26.xml"/><Relationship Id="rId15" Type="http://schemas.openxmlformats.org/officeDocument/2006/relationships/hyperlink" Target="https://vaww.vrm.km.va.gov/system/templates/selfservice/va_kanew/help/agent/locale/en-US/portal/554400000001034/content/554400000014143/M21-1-Part-III-Subpart-ii-Chapter-6-Section-A-Establishing-Veteran-Status?articleViewContext=article_view_browse_tree&amp;isFeatured=undefined&amp;topic=undefined" TargetMode="External"/><Relationship Id="rId10" Type="http://schemas.openxmlformats.org/officeDocument/2006/relationships/tags" Target="../tags/tag31.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hyperlink" Target="https://www.ecfr.gov/cgi-bin/text-idx?SID=ad275643432556b9dda942343fb89296&amp;mc=true&amp;node=pt38.1.3&amp;rgn=div58#se38.1.3_17"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notesSlide" Target="../notesSlides/notesSlide6.xml"/><Relationship Id="rId5" Type="http://schemas.openxmlformats.org/officeDocument/2006/relationships/slideLayout" Target="../slideLayouts/slideLayout3.xml"/><Relationship Id="rId4" Type="http://schemas.openxmlformats.org/officeDocument/2006/relationships/tags" Target="../tags/tag35.xml"/></Relationships>
</file>

<file path=ppt/slides/_rels/slide12.xml.rels><?xml version="1.0" encoding="UTF-8" standalone="yes"?>
<Relationships xmlns="http://schemas.openxmlformats.org/package/2006/relationships"><Relationship Id="rId3" Type="http://schemas.openxmlformats.org/officeDocument/2006/relationships/tags" Target="../tags/tag38.xml"/><Relationship Id="rId7" Type="http://schemas.openxmlformats.org/officeDocument/2006/relationships/notesSlide" Target="../notesSlides/notesSlide7.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slideLayout" Target="../slideLayouts/slideLayout2.xml"/><Relationship Id="rId5" Type="http://schemas.openxmlformats.org/officeDocument/2006/relationships/tags" Target="../tags/tag40.xml"/><Relationship Id="rId4" Type="http://schemas.openxmlformats.org/officeDocument/2006/relationships/tags" Target="../tags/tag3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notesSlide" Target="../notesSlides/notesSlide8.xml"/><Relationship Id="rId5" Type="http://schemas.openxmlformats.org/officeDocument/2006/relationships/slideLayout" Target="../slideLayouts/slideLayout3.xml"/><Relationship Id="rId4" Type="http://schemas.openxmlformats.org/officeDocument/2006/relationships/tags" Target="../tags/tag44.xml"/></Relationships>
</file>

<file path=ppt/slides/_rels/slide16.xml.rels><?xml version="1.0" encoding="UTF-8" standalone="yes"?>
<Relationships xmlns="http://schemas.openxmlformats.org/package/2006/relationships"><Relationship Id="rId3" Type="http://schemas.openxmlformats.org/officeDocument/2006/relationships/tags" Target="../tags/tag47.xml"/><Relationship Id="rId7" Type="http://schemas.openxmlformats.org/officeDocument/2006/relationships/notesSlide" Target="../notesSlides/notesSlide9.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slideLayout" Target="../slideLayouts/slideLayout2.xml"/><Relationship Id="rId5" Type="http://schemas.openxmlformats.org/officeDocument/2006/relationships/tags" Target="../tags/tag49.xml"/><Relationship Id="rId4" Type="http://schemas.openxmlformats.org/officeDocument/2006/relationships/tags" Target="../tags/tag4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customXml" Target="../ink/ink2.xml"/><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notesSlide" Target="../notesSlides/notesSlide10.xml"/><Relationship Id="rId5" Type="http://schemas.openxmlformats.org/officeDocument/2006/relationships/slideLayout" Target="../slideLayouts/slideLayout3.xml"/><Relationship Id="rId4" Type="http://schemas.openxmlformats.org/officeDocument/2006/relationships/tags" Target="../tags/tag53.xml"/></Relationships>
</file>

<file path=ppt/slides/_rels/slide25.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notesSlide" Target="../notesSlides/notesSlide11.xml"/><Relationship Id="rId5" Type="http://schemas.openxmlformats.org/officeDocument/2006/relationships/slideLayout" Target="../slideLayouts/slideLayout3.xml"/><Relationship Id="rId4" Type="http://schemas.openxmlformats.org/officeDocument/2006/relationships/tags" Target="../tags/tag5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notesSlide" Target="../notesSlides/notesSlide12.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Layout" Target="../slideLayouts/slideLayout2.xml"/><Relationship Id="rId5" Type="http://schemas.openxmlformats.org/officeDocument/2006/relationships/tags" Target="../tags/tag62.xml"/><Relationship Id="rId4" Type="http://schemas.openxmlformats.org/officeDocument/2006/relationships/tags" Target="../tags/tag6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notesSlide" Target="../notesSlides/notesSlide14.xml"/><Relationship Id="rId5" Type="http://schemas.openxmlformats.org/officeDocument/2006/relationships/slideLayout" Target="../slideLayouts/slideLayout3.xml"/><Relationship Id="rId4" Type="http://schemas.openxmlformats.org/officeDocument/2006/relationships/tags" Target="../tags/tag6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notesSlide" Target="../notesSlides/notesSlide15.xml"/><Relationship Id="rId5" Type="http://schemas.openxmlformats.org/officeDocument/2006/relationships/slideLayout" Target="../slideLayouts/slideLayout3.xml"/><Relationship Id="rId4" Type="http://schemas.openxmlformats.org/officeDocument/2006/relationships/tags" Target="../tags/tag70.xml"/></Relationships>
</file>

<file path=ppt/slides/_rels/slide35.xml.rels><?xml version="1.0" encoding="UTF-8" standalone="yes"?>
<Relationships xmlns="http://schemas.openxmlformats.org/package/2006/relationships"><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notesSlide" Target="../notesSlides/notesSlide16.xml"/><Relationship Id="rId5" Type="http://schemas.openxmlformats.org/officeDocument/2006/relationships/slideLayout" Target="../slideLayouts/slideLayout3.xml"/><Relationship Id="rId4" Type="http://schemas.openxmlformats.org/officeDocument/2006/relationships/tags" Target="../tags/tag74.xml"/></Relationships>
</file>

<file path=ppt/slides/_rels/slide36.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notesSlide" Target="../notesSlides/notesSlide17.xml"/><Relationship Id="rId5" Type="http://schemas.openxmlformats.org/officeDocument/2006/relationships/slideLayout" Target="../slideLayouts/slideLayout3.xml"/><Relationship Id="rId4" Type="http://schemas.openxmlformats.org/officeDocument/2006/relationships/tags" Target="../tags/tag78.xml"/></Relationships>
</file>

<file path=ppt/slides/_rels/slide37.xml.rels><?xml version="1.0" encoding="UTF-8" standalone="yes"?>
<Relationships xmlns="http://schemas.openxmlformats.org/package/2006/relationships"><Relationship Id="rId3" Type="http://schemas.openxmlformats.org/officeDocument/2006/relationships/tags" Target="../tags/tag81.xml"/><Relationship Id="rId7" Type="http://schemas.openxmlformats.org/officeDocument/2006/relationships/notesSlide" Target="../notesSlides/notesSlide18.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slideLayout" Target="../slideLayouts/slideLayout2.xml"/><Relationship Id="rId5" Type="http://schemas.openxmlformats.org/officeDocument/2006/relationships/tags" Target="../tags/tag83.xml"/><Relationship Id="rId4" Type="http://schemas.openxmlformats.org/officeDocument/2006/relationships/tags" Target="../tags/tag82.xml"/></Relationships>
</file>

<file path=ppt/slides/_rels/slide38.xml.rels><?xml version="1.0" encoding="UTF-8" standalone="yes"?>
<Relationships xmlns="http://schemas.openxmlformats.org/package/2006/relationships"><Relationship Id="rId3" Type="http://schemas.openxmlformats.org/officeDocument/2006/relationships/hyperlink" Target="https://www.ecfr.gov/cgi-bin/text-idx?SID=5869175dfdf92550071adb62ba2db3f2&amp;mc=true&amp;node=se38.1.3_1309&amp;rgn=div8" TargetMode="External"/><Relationship Id="rId2" Type="http://schemas.openxmlformats.org/officeDocument/2006/relationships/hyperlink" Target="https://www.ecfr.gov/cgi-bin/text-idx?SID=5869175dfdf92550071adb62ba2db3f2&amp;mc=true&amp;node=se38.1.3_1307&amp;rgn=div8" TargetMode="External"/><Relationship Id="rId1" Type="http://schemas.openxmlformats.org/officeDocument/2006/relationships/slideLayout" Target="../slideLayouts/slideLayout2.xml"/><Relationship Id="rId4" Type="http://schemas.openxmlformats.org/officeDocument/2006/relationships/hyperlink" Target="https://www.ecfr.gov/cgi-bin/text-idx?SID=5869175dfdf92550071adb62ba2db3f2&amp;mc=true&amp;node=se38.1.3_1318&amp;rgn=div8"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ecfr.gov/cgi-bin/text-idx?SID=5869175dfdf92550071adb62ba2db3f2&amp;mc=true&amp;node=se38.1.3_1307&amp;rgn=div8"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C51ADA3-CA98-4963-8745-F0739629068A}"/>
              </a:ext>
            </a:extLst>
          </p:cNvPr>
          <p:cNvSpPr>
            <a:spLocks noGrp="1"/>
          </p:cNvSpPr>
          <p:nvPr>
            <p:ph type="ctrTitle"/>
            <p:custDataLst>
              <p:tags r:id="rId2"/>
            </p:custDataLst>
          </p:nvPr>
        </p:nvSpPr>
        <p:spPr>
          <a:xfrm>
            <a:off x="852351" y="2819400"/>
            <a:ext cx="7439297" cy="1219200"/>
          </a:xfrm>
        </p:spPr>
        <p:txBody>
          <a:bodyPr/>
          <a:lstStyle/>
          <a:p>
            <a:r>
              <a:rPr lang="en-US" dirty="0"/>
              <a:t>Reviewing National Guard and Reserve</a:t>
            </a:r>
            <a:br>
              <a:rPr lang="en-US" dirty="0"/>
            </a:br>
            <a:r>
              <a:rPr lang="en-US" dirty="0"/>
              <a:t>Claims for Proper Claims Processing</a:t>
            </a:r>
          </a:p>
        </p:txBody>
      </p:sp>
      <p:sp>
        <p:nvSpPr>
          <p:cNvPr id="6" name="Text Placeholder 5">
            <a:extLst>
              <a:ext uri="{FF2B5EF4-FFF2-40B4-BE49-F238E27FC236}">
                <a16:creationId xmlns:a16="http://schemas.microsoft.com/office/drawing/2014/main" id="{F29BDB24-5920-40DB-8ECF-28989C23273A}"/>
              </a:ext>
            </a:extLst>
          </p:cNvPr>
          <p:cNvSpPr>
            <a:spLocks noGrp="1"/>
          </p:cNvSpPr>
          <p:nvPr>
            <p:ph type="body" sz="quarter" idx="10"/>
            <p:custDataLst>
              <p:tags r:id="rId3"/>
            </p:custDataLst>
          </p:nvPr>
        </p:nvSpPr>
        <p:spPr>
          <a:xfrm>
            <a:off x="685800" y="4724400"/>
            <a:ext cx="2362200" cy="838200"/>
          </a:xfrm>
        </p:spPr>
        <p:txBody>
          <a:bodyPr/>
          <a:lstStyle/>
          <a:p>
            <a:endParaRPr lang="en-US" sz="2100" dirty="0"/>
          </a:p>
          <a:p>
            <a:endParaRPr lang="en-US" sz="2100" dirty="0"/>
          </a:p>
        </p:txBody>
      </p:sp>
      <p:sp>
        <p:nvSpPr>
          <p:cNvPr id="7" name="Text Placeholder 6">
            <a:extLst>
              <a:ext uri="{FF2B5EF4-FFF2-40B4-BE49-F238E27FC236}">
                <a16:creationId xmlns:a16="http://schemas.microsoft.com/office/drawing/2014/main" id="{C83260C7-5D45-40AD-9AB9-D5093DB8BDA2}"/>
              </a:ext>
            </a:extLst>
          </p:cNvPr>
          <p:cNvSpPr>
            <a:spLocks noGrp="1"/>
          </p:cNvSpPr>
          <p:nvPr>
            <p:ph type="body" sz="quarter" idx="11"/>
            <p:custDataLst>
              <p:tags r:id="rId4"/>
            </p:custDataLst>
          </p:nvPr>
        </p:nvSpPr>
        <p:spPr>
          <a:xfrm>
            <a:off x="6096000" y="4680527"/>
            <a:ext cx="2362200" cy="838200"/>
          </a:xfrm>
        </p:spPr>
        <p:txBody>
          <a:bodyPr/>
          <a:lstStyle/>
          <a:p>
            <a:r>
              <a:rPr lang="en-US" sz="2100" dirty="0"/>
              <a:t>August 2025</a:t>
            </a:r>
          </a:p>
          <a:p>
            <a:r>
              <a:rPr lang="en-US" sz="2100" dirty="0"/>
              <a:t>Boise VARO</a:t>
            </a:r>
          </a:p>
        </p:txBody>
      </p:sp>
    </p:spTree>
    <p:custDataLst>
      <p:tags r:id="rId1"/>
    </p:custDataLst>
    <p:extLst>
      <p:ext uri="{BB962C8B-B14F-4D97-AF65-F5344CB8AC3E}">
        <p14:creationId xmlns:p14="http://schemas.microsoft.com/office/powerpoint/2010/main" val="30331538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t>Objectives</a:t>
            </a:r>
          </a:p>
        </p:txBody>
      </p:sp>
      <p:sp>
        <p:nvSpPr>
          <p:cNvPr id="3" name="Content Placeholder 2"/>
          <p:cNvSpPr>
            <a:spLocks noGrp="1"/>
          </p:cNvSpPr>
          <p:nvPr>
            <p:ph idx="1"/>
            <p:custDataLst>
              <p:tags r:id="rId3"/>
            </p:custDataLst>
          </p:nvPr>
        </p:nvSpPr>
        <p:spPr>
          <a:xfrm>
            <a:off x="457200" y="1438275"/>
            <a:ext cx="8229600" cy="4933949"/>
          </a:xfrm>
        </p:spPr>
        <p:txBody>
          <a:bodyPr>
            <a:normAutofit lnSpcReduction="10000"/>
          </a:bodyPr>
          <a:lstStyle/>
          <a:p>
            <a:pPr lvl="0"/>
            <a:r>
              <a:rPr lang="en-US" dirty="0"/>
              <a:t>Identify the different components of the United States Military</a:t>
            </a:r>
          </a:p>
          <a:p>
            <a:pPr lvl="0"/>
            <a:endParaRPr lang="en-US" dirty="0"/>
          </a:p>
          <a:p>
            <a:pPr lvl="0"/>
            <a:r>
              <a:rPr lang="en-US" dirty="0"/>
              <a:t>Be able to describe the differences between the Reserves and the National Guard</a:t>
            </a:r>
          </a:p>
          <a:p>
            <a:endParaRPr lang="en-US" dirty="0"/>
          </a:p>
          <a:p>
            <a:pPr lvl="0"/>
            <a:r>
              <a:rPr lang="en-US" dirty="0"/>
              <a:t>Demonstrate a comprehensive understanding of what is considered </a:t>
            </a:r>
            <a:r>
              <a:rPr lang="en-US" i="1" dirty="0"/>
              <a:t>active duty</a:t>
            </a:r>
            <a:r>
              <a:rPr lang="en-US" dirty="0"/>
              <a:t> and/or qualifying service for National Guardsmen and Reservists</a:t>
            </a:r>
          </a:p>
          <a:p>
            <a:endParaRPr lang="en-US" dirty="0"/>
          </a:p>
          <a:p>
            <a:pPr lvl="0"/>
            <a:r>
              <a:rPr lang="en-US" dirty="0"/>
              <a:t>Be able to distinguish between the different types of National Guard assignments</a:t>
            </a:r>
          </a:p>
          <a:p>
            <a:pPr marL="0" indent="0">
              <a:buNone/>
            </a:pPr>
            <a:endParaRPr lang="en-US" dirty="0"/>
          </a:p>
          <a:p>
            <a:pPr lvl="0"/>
            <a:r>
              <a:rPr lang="en-US" dirty="0"/>
              <a:t>Determine the Veteran’s status on any specific date</a:t>
            </a:r>
          </a:p>
          <a:p>
            <a:pPr marL="0" indent="0">
              <a:buNone/>
            </a:pPr>
            <a:r>
              <a:rPr lang="en-US" dirty="0"/>
              <a:t> </a:t>
            </a:r>
          </a:p>
          <a:p>
            <a:pPr lvl="0"/>
            <a:r>
              <a:rPr lang="en-US" dirty="0"/>
              <a:t>Be able to properly review a National Guard claim and request the necessary opinions in order to appropriately adjudicate the claim.</a:t>
            </a:r>
            <a:endParaRPr lang="en-US" sz="1800" dirty="0"/>
          </a:p>
        </p:txBody>
      </p:sp>
      <p:sp>
        <p:nvSpPr>
          <p:cNvPr id="4" name="Slide Number Placeholder 3"/>
          <p:cNvSpPr>
            <a:spLocks noGrp="1"/>
          </p:cNvSpPr>
          <p:nvPr>
            <p:ph type="sldNum" sz="quarter" idx="12"/>
            <p:custDataLst>
              <p:tags r:id="rId4"/>
            </p:custDataLst>
          </p:nvPr>
        </p:nvSpPr>
        <p:spPr>
          <a:xfrm>
            <a:off x="6931152" y="6601974"/>
            <a:ext cx="2133600" cy="365125"/>
          </a:xfrm>
        </p:spPr>
        <p:txBody>
          <a:bodyPr/>
          <a:lstStyle/>
          <a:p>
            <a:fld id="{7C414AED-89CE-4A48-8B2B-1B3A5C68EA2A}" type="slidenum">
              <a:rPr lang="en-US" smtClean="0"/>
              <a:t>2</a:t>
            </a:fld>
            <a:endParaRPr lang="en-US"/>
          </a:p>
        </p:txBody>
      </p:sp>
    </p:spTree>
    <p:custDataLst>
      <p:tags r:id="rId1"/>
    </p:custDataLst>
    <p:extLst>
      <p:ext uri="{BB962C8B-B14F-4D97-AF65-F5344CB8AC3E}">
        <p14:creationId xmlns:p14="http://schemas.microsoft.com/office/powerpoint/2010/main" val="26375397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t>References</a:t>
            </a:r>
          </a:p>
        </p:txBody>
      </p:sp>
      <p:sp>
        <p:nvSpPr>
          <p:cNvPr id="3" name="Content Placeholder 2"/>
          <p:cNvSpPr>
            <a:spLocks noGrp="1"/>
          </p:cNvSpPr>
          <p:nvPr>
            <p:ph idx="1"/>
            <p:custDataLst>
              <p:tags r:id="rId3"/>
            </p:custDataLst>
          </p:nvPr>
        </p:nvSpPr>
        <p:spPr>
          <a:xfrm>
            <a:off x="457200" y="2057400"/>
            <a:ext cx="8229600" cy="3916363"/>
          </a:xfrm>
        </p:spPr>
        <p:txBody>
          <a:bodyPr>
            <a:normAutofit fontScale="92500" lnSpcReduction="10000"/>
          </a:bodyPr>
          <a:lstStyle/>
          <a:p>
            <a:r>
              <a:rPr lang="en-US" sz="1800" b="0" i="0" u="none" strike="noStrike" baseline="0" dirty="0">
                <a:solidFill>
                  <a:srgbClr val="0561C1"/>
                </a:solidFill>
                <a:latin typeface="Bitter"/>
              </a:rPr>
              <a:t>38 CFR 3.6 — Duty periods </a:t>
            </a:r>
          </a:p>
          <a:p>
            <a:r>
              <a:rPr lang="en-US" sz="1800" b="0" i="0" u="none" strike="noStrike" baseline="0" dirty="0">
                <a:solidFill>
                  <a:srgbClr val="0561C1"/>
                </a:solidFill>
                <a:latin typeface="Bitter"/>
              </a:rPr>
              <a:t>38 CFR 3.7 — Individuals and groups considered to have performed active military, naval, or air service </a:t>
            </a:r>
          </a:p>
          <a:p>
            <a:r>
              <a:rPr lang="en-US" sz="1800" b="0" i="0" u="none" strike="noStrike" baseline="0" dirty="0">
                <a:solidFill>
                  <a:srgbClr val="0562C1"/>
                </a:solidFill>
                <a:latin typeface="Bitter"/>
              </a:rPr>
              <a:t>38 CFR 3.385 — Disability due to impaired hearing </a:t>
            </a:r>
          </a:p>
          <a:p>
            <a:r>
              <a:rPr lang="en-US" sz="1800" b="0" i="0" u="none" strike="noStrike" baseline="0" dirty="0">
                <a:solidFill>
                  <a:srgbClr val="0562C1"/>
                </a:solidFill>
                <a:latin typeface="Bitter"/>
              </a:rPr>
              <a:t>38 CFR 3.307 — Presumptive service connection for chronic, tropical, or prisoner-of-war related disease, disease associated with exposure to certain herbicide agents, or disease associated with exposure to contaminants in the water supply at Camp Lejeune; wartime and service on or after January 1, 1947 </a:t>
            </a:r>
          </a:p>
          <a:p>
            <a:r>
              <a:rPr lang="en-US" sz="1800" b="0" i="0" u="none" strike="noStrike" baseline="0" dirty="0">
                <a:solidFill>
                  <a:srgbClr val="0562C1"/>
                </a:solidFill>
                <a:latin typeface="Bitter"/>
              </a:rPr>
              <a:t>38 CFR 3.309 — Disease subject to presumptive service connection</a:t>
            </a:r>
          </a:p>
          <a:p>
            <a:r>
              <a:rPr lang="en-US" sz="1800" b="0" i="0" u="none" strike="noStrike" baseline="0" dirty="0">
                <a:solidFill>
                  <a:srgbClr val="0562C1"/>
                </a:solidFill>
                <a:latin typeface="Bitter"/>
              </a:rPr>
              <a:t>38 U.S.C. 106 — Certain service deemed to be active service </a:t>
            </a:r>
          </a:p>
          <a:p>
            <a:r>
              <a:rPr lang="en-US" sz="1800" b="0" i="0" u="none" strike="noStrike" baseline="0" dirty="0">
                <a:solidFill>
                  <a:srgbClr val="0562C1"/>
                </a:solidFill>
                <a:latin typeface="Bitter"/>
              </a:rPr>
              <a:t>VAOPGCPREC 08-01 — Meaning of “injury” for Purposes of Active Service — 38 U.S.C. 101(24) </a:t>
            </a:r>
          </a:p>
          <a:p>
            <a:r>
              <a:rPr lang="en-US" sz="1800" b="0" i="0" u="none" strike="noStrike" baseline="0" dirty="0">
                <a:solidFill>
                  <a:srgbClr val="0562C1"/>
                </a:solidFill>
                <a:latin typeface="Bitter"/>
              </a:rPr>
              <a:t>VAOPGCPREC 04-02 — Meaning of “injury” for Purposes of Active Service — 38 U.S.C. 101(24 </a:t>
            </a:r>
            <a:endParaRPr lang="en-US" dirty="0"/>
          </a:p>
        </p:txBody>
      </p:sp>
      <p:sp>
        <p:nvSpPr>
          <p:cNvPr id="4" name="Slide Number Placeholder 3"/>
          <p:cNvSpPr>
            <a:spLocks noGrp="1"/>
          </p:cNvSpPr>
          <p:nvPr>
            <p:ph type="sldNum" sz="quarter" idx="12"/>
            <p:custDataLst>
              <p:tags r:id="rId4"/>
            </p:custDataLst>
          </p:nvPr>
        </p:nvSpPr>
        <p:spPr>
          <a:xfrm>
            <a:off x="6931152" y="6601974"/>
            <a:ext cx="2133600" cy="365125"/>
          </a:xfrm>
        </p:spPr>
        <p:txBody>
          <a:bodyPr/>
          <a:lstStyle/>
          <a:p>
            <a:fld id="{7C414AED-89CE-4A48-8B2B-1B3A5C68EA2A}" type="slidenum">
              <a:rPr lang="en-US" smtClean="0"/>
              <a:t>3</a:t>
            </a:fld>
            <a:endParaRPr lang="en-US"/>
          </a:p>
        </p:txBody>
      </p:sp>
      <p:sp>
        <p:nvSpPr>
          <p:cNvPr id="5" name="New shape"/>
          <p:cNvSpPr/>
          <p:nvPr>
            <p:custDataLst>
              <p:tags r:id="rId5"/>
            </p:custDataLst>
          </p:nvPr>
        </p:nvSpPr>
        <p:spPr>
          <a:xfrm>
            <a:off x="548640" y="2103120"/>
            <a:ext cx="2540000" cy="381000"/>
          </a:xfrm>
          <a:prstGeom prst="rect">
            <a:avLst/>
          </a:prstGeom>
          <a:noFill/>
          <a:ln>
            <a:solidFill>
              <a:srgbClr val="FFFFFF">
                <a:alpha val="1961"/>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00">
                <a:hlinkClick r:id="rId13"/>
              </a:rPr>
              <a:t>_</a:t>
            </a:r>
          </a:p>
        </p:txBody>
      </p:sp>
      <p:sp>
        <p:nvSpPr>
          <p:cNvPr id="6" name="New shape"/>
          <p:cNvSpPr/>
          <p:nvPr>
            <p:custDataLst>
              <p:tags r:id="rId6"/>
            </p:custDataLst>
          </p:nvPr>
        </p:nvSpPr>
        <p:spPr>
          <a:xfrm>
            <a:off x="548640" y="2453640"/>
            <a:ext cx="2540000" cy="381000"/>
          </a:xfrm>
          <a:prstGeom prst="rect">
            <a:avLst/>
          </a:prstGeom>
          <a:noFill/>
          <a:ln>
            <a:solidFill>
              <a:srgbClr val="FFFFFF">
                <a:alpha val="1961"/>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00">
                <a:hlinkClick r:id="rId14"/>
              </a:rPr>
              <a:t>_</a:t>
            </a:r>
          </a:p>
        </p:txBody>
      </p:sp>
      <p:sp>
        <p:nvSpPr>
          <p:cNvPr id="7" name="New shape"/>
          <p:cNvSpPr/>
          <p:nvPr>
            <p:custDataLst>
              <p:tags r:id="rId7"/>
            </p:custDataLst>
          </p:nvPr>
        </p:nvSpPr>
        <p:spPr>
          <a:xfrm>
            <a:off x="548640" y="3078480"/>
            <a:ext cx="2540000" cy="381000"/>
          </a:xfrm>
          <a:prstGeom prst="rect">
            <a:avLst/>
          </a:prstGeom>
          <a:noFill/>
          <a:ln>
            <a:solidFill>
              <a:srgbClr val="FFFFFF">
                <a:alpha val="1961"/>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00">
                <a:hlinkClick r:id="rId15"/>
              </a:rPr>
              <a:t>_</a:t>
            </a:r>
          </a:p>
        </p:txBody>
      </p:sp>
      <p:sp>
        <p:nvSpPr>
          <p:cNvPr id="8" name="New shape"/>
          <p:cNvSpPr/>
          <p:nvPr>
            <p:custDataLst>
              <p:tags r:id="rId8"/>
            </p:custDataLst>
          </p:nvPr>
        </p:nvSpPr>
        <p:spPr>
          <a:xfrm>
            <a:off x="548640" y="3429000"/>
            <a:ext cx="2540000" cy="381000"/>
          </a:xfrm>
          <a:prstGeom prst="rect">
            <a:avLst/>
          </a:prstGeom>
          <a:noFill/>
          <a:ln>
            <a:solidFill>
              <a:srgbClr val="FFFFFF">
                <a:alpha val="1961"/>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00">
                <a:hlinkClick r:id="rId16"/>
              </a:rPr>
              <a:t>_</a:t>
            </a:r>
          </a:p>
        </p:txBody>
      </p:sp>
      <p:sp>
        <p:nvSpPr>
          <p:cNvPr id="9" name="New shape"/>
          <p:cNvSpPr/>
          <p:nvPr>
            <p:custDataLst>
              <p:tags r:id="rId9"/>
            </p:custDataLst>
          </p:nvPr>
        </p:nvSpPr>
        <p:spPr>
          <a:xfrm>
            <a:off x="548640" y="4053840"/>
            <a:ext cx="2540000" cy="381000"/>
          </a:xfrm>
          <a:prstGeom prst="rect">
            <a:avLst/>
          </a:prstGeom>
          <a:noFill/>
          <a:ln>
            <a:solidFill>
              <a:srgbClr val="FFFFFF">
                <a:alpha val="1961"/>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00">
                <a:hlinkClick r:id="rId17"/>
              </a:rPr>
              <a:t>_</a:t>
            </a:r>
          </a:p>
        </p:txBody>
      </p:sp>
      <p:sp>
        <p:nvSpPr>
          <p:cNvPr id="10" name="New shape"/>
          <p:cNvSpPr/>
          <p:nvPr>
            <p:custDataLst>
              <p:tags r:id="rId10"/>
            </p:custDataLst>
          </p:nvPr>
        </p:nvSpPr>
        <p:spPr>
          <a:xfrm>
            <a:off x="548640" y="4404360"/>
            <a:ext cx="2540000" cy="381000"/>
          </a:xfrm>
          <a:prstGeom prst="rect">
            <a:avLst/>
          </a:prstGeom>
          <a:noFill/>
          <a:ln>
            <a:solidFill>
              <a:srgbClr val="FFFFFF">
                <a:alpha val="1961"/>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100">
                <a:hlinkClick r:id="rId18"/>
              </a:rPr>
              <a:t>_</a:t>
            </a:r>
          </a:p>
        </p:txBody>
      </p:sp>
    </p:spTree>
    <p:custDataLst>
      <p:tags r:id="rId1"/>
    </p:custDataLst>
    <p:extLst>
      <p:ext uri="{BB962C8B-B14F-4D97-AF65-F5344CB8AC3E}">
        <p14:creationId xmlns:p14="http://schemas.microsoft.com/office/powerpoint/2010/main" val="218590311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DA5C-F15B-4101-BA8C-1C748408D2F7}"/>
              </a:ext>
            </a:extLst>
          </p:cNvPr>
          <p:cNvSpPr>
            <a:spLocks noGrp="1"/>
          </p:cNvSpPr>
          <p:nvPr>
            <p:ph type="title"/>
          </p:nvPr>
        </p:nvSpPr>
        <p:spPr>
          <a:xfrm>
            <a:off x="0" y="793628"/>
            <a:ext cx="9144000" cy="635562"/>
          </a:xfrm>
        </p:spPr>
        <p:txBody>
          <a:bodyPr/>
          <a:lstStyle/>
          <a:p>
            <a:r>
              <a:rPr lang="en-US" dirty="0"/>
              <a:t>References Continued</a:t>
            </a:r>
          </a:p>
        </p:txBody>
      </p:sp>
      <p:sp>
        <p:nvSpPr>
          <p:cNvPr id="3" name="Content Placeholder 2">
            <a:extLst>
              <a:ext uri="{FF2B5EF4-FFF2-40B4-BE49-F238E27FC236}">
                <a16:creationId xmlns:a16="http://schemas.microsoft.com/office/drawing/2014/main" id="{511882BF-FCE7-425C-BF75-7E6709B8C2D8}"/>
              </a:ext>
            </a:extLst>
          </p:cNvPr>
          <p:cNvSpPr>
            <a:spLocks noGrp="1"/>
          </p:cNvSpPr>
          <p:nvPr>
            <p:ph idx="1"/>
          </p:nvPr>
        </p:nvSpPr>
        <p:spPr/>
        <p:txBody>
          <a:bodyPr/>
          <a:lstStyle/>
          <a:p>
            <a:pPr algn="l"/>
            <a:endParaRPr lang="en-US" sz="1800" b="0" i="0" u="none" strike="noStrike" baseline="0" dirty="0">
              <a:solidFill>
                <a:srgbClr val="000000"/>
              </a:solidFill>
              <a:latin typeface="Bitter"/>
            </a:endParaRPr>
          </a:p>
          <a:p>
            <a:pPr marL="285750" indent="-285750">
              <a:buFont typeface="Arial" panose="020B0604020202020204" pitchFamily="34" charset="0"/>
              <a:buChar char="•"/>
            </a:pPr>
            <a:r>
              <a:rPr lang="en-US" sz="1800" b="0" i="0" u="none" strike="noStrike" baseline="0" dirty="0">
                <a:solidFill>
                  <a:srgbClr val="0562C1"/>
                </a:solidFill>
                <a:latin typeface="Bitter"/>
              </a:rPr>
              <a:t>M21-1 III.i.1.A. — Establishing Veterans Status </a:t>
            </a:r>
          </a:p>
          <a:p>
            <a:pPr marL="285750" indent="-285750">
              <a:buFont typeface="Arial" panose="020B0604020202020204" pitchFamily="34" charset="0"/>
              <a:buChar char="•"/>
            </a:pPr>
            <a:r>
              <a:rPr lang="en-US" sz="1800" b="0" i="0" u="none" strike="noStrike" baseline="0" dirty="0">
                <a:solidFill>
                  <a:srgbClr val="0562C1"/>
                </a:solidFill>
                <a:latin typeface="Bitter"/>
              </a:rPr>
              <a:t>M21-1 II.iii.3.B. — System Updates at Intake </a:t>
            </a:r>
          </a:p>
          <a:p>
            <a:pPr marL="285750" indent="-285750">
              <a:buFont typeface="Arial" panose="020B0604020202020204" pitchFamily="34" charset="0"/>
              <a:buChar char="•"/>
            </a:pPr>
            <a:r>
              <a:rPr lang="en-US" sz="1800" b="0" i="0" u="none" strike="noStrike" baseline="0" dirty="0">
                <a:solidFill>
                  <a:srgbClr val="0562C1"/>
                </a:solidFill>
                <a:latin typeface="Bitter"/>
              </a:rPr>
              <a:t>M21-1 X.v.1.C. — Administrative Decisions </a:t>
            </a:r>
          </a:p>
          <a:p>
            <a:pPr marL="285750" indent="-285750">
              <a:buFont typeface="Arial" panose="020B0604020202020204" pitchFamily="34" charset="0"/>
              <a:buChar char="•"/>
            </a:pPr>
            <a:r>
              <a:rPr lang="en-US" sz="1800" b="0" i="0" u="none" strike="noStrike" baseline="0" dirty="0">
                <a:solidFill>
                  <a:srgbClr val="0562C1"/>
                </a:solidFill>
                <a:latin typeface="Bitter"/>
              </a:rPr>
              <a:t>M21-1 V.iii.2.B. — Conditions of the Auditory System </a:t>
            </a:r>
          </a:p>
          <a:p>
            <a:pPr marL="285750" indent="-285750">
              <a:buFont typeface="Arial" panose="020B0604020202020204" pitchFamily="34" charset="0"/>
              <a:buChar char="•"/>
            </a:pPr>
            <a:r>
              <a:rPr lang="en-US" sz="1800" b="0" i="0" u="none" strike="noStrike" baseline="0" dirty="0">
                <a:solidFill>
                  <a:srgbClr val="0561C1"/>
                </a:solidFill>
                <a:latin typeface="Bitter"/>
              </a:rPr>
              <a:t>M21-1 V.ii.2. — Determining Service Connection </a:t>
            </a:r>
          </a:p>
          <a:p>
            <a:pPr marL="285750" indent="-285750">
              <a:buFont typeface="Arial" panose="020B0604020202020204" pitchFamily="34" charset="0"/>
              <a:buChar char="•"/>
            </a:pPr>
            <a:r>
              <a:rPr lang="en-US" sz="1800" b="0" i="0" u="none" strike="noStrike" baseline="0" dirty="0">
                <a:solidFill>
                  <a:srgbClr val="0562C1"/>
                </a:solidFill>
                <a:latin typeface="Bitter"/>
              </a:rPr>
              <a:t>M21-1 X.iv.1.C. — Willful Misconduct and Line of Duty (LOD) </a:t>
            </a:r>
          </a:p>
          <a:p>
            <a:pPr marL="285750" indent="-285750">
              <a:buFont typeface="Arial" panose="020B0604020202020204" pitchFamily="34" charset="0"/>
              <a:buChar char="•"/>
            </a:pPr>
            <a:r>
              <a:rPr lang="en-US" sz="1800" b="0" i="0" u="none" strike="noStrike" baseline="0" dirty="0">
                <a:solidFill>
                  <a:srgbClr val="0562C1"/>
                </a:solidFill>
                <a:latin typeface="Bitter"/>
              </a:rPr>
              <a:t>M21-1 IV.i.1.A. — Duty to Assist with Providing a Medical Examination or Opinion </a:t>
            </a:r>
            <a:r>
              <a:rPr lang="en-US" sz="1800" b="0" i="1" u="none" strike="noStrike" baseline="0" dirty="0">
                <a:solidFill>
                  <a:srgbClr val="0562C1"/>
                </a:solidFill>
                <a:latin typeface="Bitter"/>
              </a:rPr>
              <a:t>Smith </a:t>
            </a:r>
            <a:r>
              <a:rPr lang="en-US" sz="1800" b="0" i="0" u="none" strike="noStrike" baseline="0" dirty="0">
                <a:solidFill>
                  <a:srgbClr val="0562C1"/>
                </a:solidFill>
                <a:latin typeface="Bitter"/>
              </a:rPr>
              <a:t>(Valerie Y.) </a:t>
            </a:r>
            <a:r>
              <a:rPr lang="en-US" sz="1800" b="0" i="1" u="none" strike="noStrike" baseline="0" dirty="0">
                <a:solidFill>
                  <a:srgbClr val="0562C1"/>
                </a:solidFill>
                <a:latin typeface="Bitter"/>
              </a:rPr>
              <a:t>v. Shinseki, </a:t>
            </a:r>
            <a:r>
              <a:rPr lang="en-US" sz="1800" b="0" i="0" u="none" strike="noStrike" baseline="0" dirty="0">
                <a:solidFill>
                  <a:srgbClr val="0562C1"/>
                </a:solidFill>
                <a:latin typeface="Bitter"/>
              </a:rPr>
              <a:t>24 </a:t>
            </a:r>
            <a:r>
              <a:rPr lang="en-US" sz="1800" b="0" i="0" u="none" strike="noStrike" baseline="0" dirty="0" err="1">
                <a:solidFill>
                  <a:srgbClr val="0562C1"/>
                </a:solidFill>
                <a:latin typeface="Bitter"/>
              </a:rPr>
              <a:t>Vet.App</a:t>
            </a:r>
            <a:r>
              <a:rPr lang="en-US" sz="1800" b="0" i="0" u="none" strike="noStrike" baseline="0" dirty="0">
                <a:solidFill>
                  <a:srgbClr val="0562C1"/>
                </a:solidFill>
                <a:latin typeface="Bitter"/>
              </a:rPr>
              <a:t>. 40, 44 (2010) </a:t>
            </a:r>
            <a:endParaRPr lang="en-US" dirty="0"/>
          </a:p>
        </p:txBody>
      </p:sp>
      <p:sp>
        <p:nvSpPr>
          <p:cNvPr id="4" name="Slide Number Placeholder 3">
            <a:extLst>
              <a:ext uri="{FF2B5EF4-FFF2-40B4-BE49-F238E27FC236}">
                <a16:creationId xmlns:a16="http://schemas.microsoft.com/office/drawing/2014/main" id="{D67ADEB4-E2D9-480B-9915-A233C0DAD4EC}"/>
              </a:ext>
            </a:extLst>
          </p:cNvPr>
          <p:cNvSpPr>
            <a:spLocks noGrp="1"/>
          </p:cNvSpPr>
          <p:nvPr>
            <p:ph type="sldNum" sz="quarter" idx="12"/>
          </p:nvPr>
        </p:nvSpPr>
        <p:spPr/>
        <p:txBody>
          <a:bodyPr/>
          <a:lstStyle/>
          <a:p>
            <a:fld id="{7C414AED-89CE-4A48-8B2B-1B3A5C68EA2A}" type="slidenum">
              <a:rPr lang="en-US" smtClean="0"/>
              <a:t>4</a:t>
            </a:fld>
            <a:endParaRPr lang="en-US"/>
          </a:p>
        </p:txBody>
      </p:sp>
    </p:spTree>
    <p:extLst>
      <p:ext uri="{BB962C8B-B14F-4D97-AF65-F5344CB8AC3E}">
        <p14:creationId xmlns:p14="http://schemas.microsoft.com/office/powerpoint/2010/main" val="116646910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4289F-0BE6-2524-17CE-7FE88E0A8740}"/>
              </a:ext>
            </a:extLst>
          </p:cNvPr>
          <p:cNvSpPr>
            <a:spLocks noGrp="1"/>
          </p:cNvSpPr>
          <p:nvPr>
            <p:ph type="title"/>
          </p:nvPr>
        </p:nvSpPr>
        <p:spPr>
          <a:xfrm>
            <a:off x="0" y="793627"/>
            <a:ext cx="9144000" cy="463673"/>
          </a:xfrm>
        </p:spPr>
        <p:txBody>
          <a:bodyPr>
            <a:normAutofit fontScale="90000"/>
          </a:bodyPr>
          <a:lstStyle/>
          <a:p>
            <a:r>
              <a:rPr lang="en-US" dirty="0"/>
              <a:t>COMPONENTS OF THE UNITED STATES MILITARY</a:t>
            </a:r>
          </a:p>
        </p:txBody>
      </p:sp>
      <p:pic>
        <p:nvPicPr>
          <p:cNvPr id="6" name="Content Placeholder 5">
            <a:extLst>
              <a:ext uri="{FF2B5EF4-FFF2-40B4-BE49-F238E27FC236}">
                <a16:creationId xmlns:a16="http://schemas.microsoft.com/office/drawing/2014/main" id="{9A108EC8-31F4-D7CF-A4B2-DD272FF669A2}"/>
              </a:ext>
            </a:extLst>
          </p:cNvPr>
          <p:cNvPicPr>
            <a:picLocks noGrp="1" noChangeAspect="1"/>
          </p:cNvPicPr>
          <p:nvPr>
            <p:ph idx="1"/>
          </p:nvPr>
        </p:nvPicPr>
        <p:blipFill>
          <a:blip r:embed="rId3"/>
          <a:stretch>
            <a:fillRect/>
          </a:stretch>
        </p:blipFill>
        <p:spPr>
          <a:xfrm>
            <a:off x="847726" y="1666875"/>
            <a:ext cx="7324724" cy="4524375"/>
          </a:xfrm>
        </p:spPr>
      </p:pic>
      <p:sp>
        <p:nvSpPr>
          <p:cNvPr id="4" name="Slide Number Placeholder 3">
            <a:extLst>
              <a:ext uri="{FF2B5EF4-FFF2-40B4-BE49-F238E27FC236}">
                <a16:creationId xmlns:a16="http://schemas.microsoft.com/office/drawing/2014/main" id="{8392F0AA-8963-A5C5-214A-88788C1C0D9F}"/>
              </a:ext>
            </a:extLst>
          </p:cNvPr>
          <p:cNvSpPr>
            <a:spLocks noGrp="1"/>
          </p:cNvSpPr>
          <p:nvPr>
            <p:ph type="sldNum" sz="quarter" idx="12"/>
          </p:nvPr>
        </p:nvSpPr>
        <p:spPr/>
        <p:txBody>
          <a:bodyPr/>
          <a:lstStyle/>
          <a:p>
            <a:fld id="{7C414AED-89CE-4A48-8B2B-1B3A5C68EA2A}" type="slidenum">
              <a:rPr lang="en-US" smtClean="0"/>
              <a:t>5</a:t>
            </a:fld>
            <a:endParaRPr lang="en-US"/>
          </a:p>
        </p:txBody>
      </p:sp>
    </p:spTree>
    <p:extLst>
      <p:ext uri="{BB962C8B-B14F-4D97-AF65-F5344CB8AC3E}">
        <p14:creationId xmlns:p14="http://schemas.microsoft.com/office/powerpoint/2010/main" val="168648001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7CC6-29B0-1DB4-AA59-29AE59B90D77}"/>
              </a:ext>
            </a:extLst>
          </p:cNvPr>
          <p:cNvSpPr>
            <a:spLocks noGrp="1"/>
          </p:cNvSpPr>
          <p:nvPr>
            <p:ph type="title"/>
          </p:nvPr>
        </p:nvSpPr>
        <p:spPr>
          <a:xfrm>
            <a:off x="0" y="793627"/>
            <a:ext cx="9144000" cy="2025773"/>
          </a:xfrm>
        </p:spPr>
        <p:txBody>
          <a:bodyPr>
            <a:normAutofit fontScale="90000"/>
          </a:bodyPr>
          <a:lstStyle/>
          <a:p>
            <a:r>
              <a:rPr lang="en-US" dirty="0"/>
              <a:t>Components of the Military:</a:t>
            </a:r>
            <a:br>
              <a:rPr lang="en-US" dirty="0"/>
            </a:br>
            <a:r>
              <a:rPr lang="en-US" dirty="0"/>
              <a:t>Active Duty</a:t>
            </a:r>
            <a:br>
              <a:rPr lang="en-US" dirty="0"/>
            </a:b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AF23A42F-066B-C8EA-A339-020C8833EE94}"/>
              </a:ext>
            </a:extLst>
          </p:cNvPr>
          <p:cNvSpPr>
            <a:spLocks noGrp="1"/>
          </p:cNvSpPr>
          <p:nvPr>
            <p:ph idx="1"/>
          </p:nvPr>
        </p:nvSpPr>
        <p:spPr>
          <a:xfrm>
            <a:off x="457200" y="3286125"/>
            <a:ext cx="8229600" cy="3315849"/>
          </a:xfrm>
        </p:spPr>
        <p:txBody>
          <a:bodyPr>
            <a:normAutofit fontScale="92500" lnSpcReduction="10000"/>
          </a:bodyPr>
          <a:lstStyle/>
          <a:p>
            <a:pPr marL="342900" indent="-342900">
              <a:buFont typeface="Arial" panose="020B0604020202020204" pitchFamily="34" charset="0"/>
              <a:buChar char="•"/>
            </a:pPr>
            <a:r>
              <a:rPr lang="en-US" sz="2400" b="0" i="0" dirty="0">
                <a:solidFill>
                  <a:srgbClr val="212529"/>
                </a:solidFill>
                <a:effectLst/>
                <a:latin typeface="Times New Roman" panose="02020603050405020304" pitchFamily="18" charset="0"/>
                <a:cs typeface="Times New Roman" panose="02020603050405020304" pitchFamily="18" charset="0"/>
              </a:rPr>
              <a:t>Nation’s first line of defense</a:t>
            </a:r>
          </a:p>
          <a:p>
            <a:pPr marL="342900" indent="-342900">
              <a:buFont typeface="Arial" panose="020B0604020202020204" pitchFamily="34" charset="0"/>
              <a:buChar char="•"/>
            </a:pPr>
            <a:r>
              <a:rPr lang="en-US" sz="2400" b="0" i="0" dirty="0">
                <a:solidFill>
                  <a:srgbClr val="212529"/>
                </a:solidFill>
                <a:effectLst/>
                <a:latin typeface="Times New Roman" panose="02020603050405020304" pitchFamily="18" charset="0"/>
                <a:cs typeface="Times New Roman" panose="02020603050405020304" pitchFamily="18" charset="0"/>
              </a:rPr>
              <a:t>Largest component of the military </a:t>
            </a:r>
          </a:p>
          <a:p>
            <a:pPr marL="342900" indent="-342900">
              <a:buFont typeface="Arial" panose="020B0604020202020204" pitchFamily="34" charset="0"/>
              <a:buChar char="•"/>
            </a:pPr>
            <a:r>
              <a:rPr lang="en-US" sz="2400" dirty="0">
                <a:solidFill>
                  <a:srgbClr val="212529"/>
                </a:solidFill>
                <a:latin typeface="Times New Roman" panose="02020603050405020304" pitchFamily="18" charset="0"/>
                <a:cs typeface="Times New Roman" panose="02020603050405020304" pitchFamily="18" charset="0"/>
              </a:rPr>
              <a:t>S</a:t>
            </a:r>
            <a:r>
              <a:rPr lang="en-US" sz="2400" b="0" i="0" dirty="0">
                <a:solidFill>
                  <a:srgbClr val="212529"/>
                </a:solidFill>
                <a:effectLst/>
                <a:latin typeface="Times New Roman" panose="02020603050405020304" pitchFamily="18" charset="0"/>
                <a:cs typeface="Times New Roman" panose="02020603050405020304" pitchFamily="18" charset="0"/>
              </a:rPr>
              <a:t>ix branches: Army, Air Force, Navy, Marines, Coast Guard and Space Force. </a:t>
            </a:r>
          </a:p>
          <a:p>
            <a:pPr marL="342900" indent="-342900">
              <a:buFont typeface="Arial" panose="020B0604020202020204" pitchFamily="34" charset="0"/>
              <a:buChar char="•"/>
            </a:pPr>
            <a:r>
              <a:rPr lang="en-US" sz="2400" b="0" i="0" dirty="0">
                <a:solidFill>
                  <a:srgbClr val="212529"/>
                </a:solidFill>
                <a:effectLst/>
                <a:latin typeface="Times New Roman" panose="02020603050405020304" pitchFamily="18" charset="0"/>
                <a:cs typeface="Times New Roman" panose="02020603050405020304" pitchFamily="18" charset="0"/>
              </a:rPr>
              <a:t>The Army is the oldest branch of the U.S. military, while Space Force is the newest</a:t>
            </a:r>
          </a:p>
          <a:p>
            <a:pPr marL="342900" indent="-342900">
              <a:buFont typeface="Arial" panose="020B0604020202020204" pitchFamily="34" charset="0"/>
              <a:buChar char="•"/>
            </a:pPr>
            <a:r>
              <a:rPr lang="en-US" sz="2400" b="0" i="0" dirty="0">
                <a:solidFill>
                  <a:srgbClr val="212529"/>
                </a:solidFill>
                <a:effectLst/>
                <a:latin typeface="Times New Roman" panose="02020603050405020304" pitchFamily="18" charset="0"/>
                <a:cs typeface="Times New Roman" panose="02020603050405020304" pitchFamily="18" charset="0"/>
              </a:rPr>
              <a:t>Each branch of the armed forces falls under the Department of Defense except for the Coast Guard, which is under Homeland Security</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3B5B211-BAE9-9A99-04FB-D483466D753E}"/>
              </a:ext>
            </a:extLst>
          </p:cNvPr>
          <p:cNvSpPr>
            <a:spLocks noGrp="1"/>
          </p:cNvSpPr>
          <p:nvPr>
            <p:ph type="sldNum" sz="quarter" idx="12"/>
          </p:nvPr>
        </p:nvSpPr>
        <p:spPr/>
        <p:txBody>
          <a:bodyPr/>
          <a:lstStyle/>
          <a:p>
            <a:fld id="{7C414AED-89CE-4A48-8B2B-1B3A5C68EA2A}" type="slidenum">
              <a:rPr lang="en-US" smtClean="0"/>
              <a:t>6</a:t>
            </a:fld>
            <a:endParaRPr lang="en-US"/>
          </a:p>
        </p:txBody>
      </p:sp>
      <p:pic>
        <p:nvPicPr>
          <p:cNvPr id="7" name="Picture 6">
            <a:extLst>
              <a:ext uri="{FF2B5EF4-FFF2-40B4-BE49-F238E27FC236}">
                <a16:creationId xmlns:a16="http://schemas.microsoft.com/office/drawing/2014/main" id="{EDB8657F-0D86-56EF-044C-A50443EF6E4D}"/>
              </a:ext>
            </a:extLst>
          </p:cNvPr>
          <p:cNvPicPr>
            <a:picLocks noChangeAspect="1"/>
          </p:cNvPicPr>
          <p:nvPr/>
        </p:nvPicPr>
        <p:blipFill>
          <a:blip r:embed="rId3"/>
          <a:stretch>
            <a:fillRect/>
          </a:stretch>
        </p:blipFill>
        <p:spPr>
          <a:xfrm>
            <a:off x="3638550" y="1651385"/>
            <a:ext cx="2057400" cy="1550670"/>
          </a:xfrm>
          <a:prstGeom prst="rect">
            <a:avLst/>
          </a:prstGeom>
        </p:spPr>
      </p:pic>
    </p:spTree>
    <p:extLst>
      <p:ext uri="{BB962C8B-B14F-4D97-AF65-F5344CB8AC3E}">
        <p14:creationId xmlns:p14="http://schemas.microsoft.com/office/powerpoint/2010/main" val="198804411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6595-A67A-67D1-91F8-FB66C31FD846}"/>
              </a:ext>
            </a:extLst>
          </p:cNvPr>
          <p:cNvSpPr>
            <a:spLocks noGrp="1"/>
          </p:cNvSpPr>
          <p:nvPr>
            <p:ph type="title"/>
          </p:nvPr>
        </p:nvSpPr>
        <p:spPr/>
        <p:txBody>
          <a:bodyPr/>
          <a:lstStyle/>
          <a:p>
            <a:r>
              <a:rPr lang="en-US" dirty="0"/>
              <a:t>Components of the Military:</a:t>
            </a:r>
            <a:br>
              <a:rPr lang="en-US" dirty="0"/>
            </a:br>
            <a:r>
              <a:rPr lang="en-US" dirty="0"/>
              <a:t>Reserve Component</a:t>
            </a:r>
          </a:p>
        </p:txBody>
      </p:sp>
      <p:sp>
        <p:nvSpPr>
          <p:cNvPr id="3" name="Content Placeholder 2">
            <a:extLst>
              <a:ext uri="{FF2B5EF4-FFF2-40B4-BE49-F238E27FC236}">
                <a16:creationId xmlns:a16="http://schemas.microsoft.com/office/drawing/2014/main" id="{1FBA1890-3D43-C816-D527-3B86A15756F3}"/>
              </a:ext>
            </a:extLst>
          </p:cNvPr>
          <p:cNvSpPr>
            <a:spLocks noGrp="1"/>
          </p:cNvSpPr>
          <p:nvPr>
            <p:ph idx="1"/>
          </p:nvPr>
        </p:nvSpPr>
        <p:spPr>
          <a:xfrm>
            <a:off x="457200" y="2057401"/>
            <a:ext cx="8229600" cy="4714874"/>
          </a:xfrm>
        </p:spPr>
        <p:txBody>
          <a:bodyPr>
            <a:normAutofit/>
          </a:bodyPr>
          <a:lstStyle/>
          <a:p>
            <a:r>
              <a:rPr lang="en-US" sz="2400" dirty="0">
                <a:latin typeface="Times New Roman" panose="02020603050405020304" pitchFamily="18" charset="0"/>
                <a:cs typeface="Times New Roman" panose="02020603050405020304" pitchFamily="18" charset="0"/>
              </a:rPr>
              <a:t>Second line of defense</a:t>
            </a:r>
          </a:p>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solidFill>
                  <a:srgbClr val="212529"/>
                </a:solidFill>
                <a:latin typeface="Times New Roman" panose="02020603050405020304" pitchFamily="18" charset="0"/>
                <a:cs typeface="Times New Roman" panose="02020603050405020304" pitchFamily="18" charset="0"/>
              </a:rPr>
              <a:t>Consists </a:t>
            </a:r>
            <a:r>
              <a:rPr lang="en-US" sz="2400" b="0" i="0" dirty="0">
                <a:solidFill>
                  <a:srgbClr val="212529"/>
                </a:solidFill>
                <a:effectLst/>
                <a:latin typeface="Times New Roman" panose="02020603050405020304" pitchFamily="18" charset="0"/>
                <a:cs typeface="Times New Roman" panose="02020603050405020304" pitchFamily="18" charset="0"/>
              </a:rPr>
              <a:t>of two elements: the Reserves and the National Guard </a:t>
            </a:r>
          </a:p>
          <a:p>
            <a:endParaRPr lang="en-US" sz="2400" b="0" i="0" dirty="0">
              <a:solidFill>
                <a:srgbClr val="212529"/>
              </a:solidFill>
              <a:effectLst/>
              <a:latin typeface="Times New Roman" panose="02020603050405020304" pitchFamily="18" charset="0"/>
              <a:cs typeface="Times New Roman" panose="02020603050405020304" pitchFamily="18" charset="0"/>
            </a:endParaRPr>
          </a:p>
          <a:p>
            <a:r>
              <a:rPr lang="en-US" sz="2400" b="0" i="0" dirty="0">
                <a:solidFill>
                  <a:srgbClr val="212529"/>
                </a:solidFill>
                <a:effectLst/>
                <a:latin typeface="Times New Roman" panose="02020603050405020304" pitchFamily="18" charset="0"/>
                <a:cs typeface="Times New Roman" panose="02020603050405020304" pitchFamily="18" charset="0"/>
              </a:rPr>
              <a:t>Both are made up of part-time and full-time Service </a:t>
            </a:r>
            <a:r>
              <a:rPr lang="en-US" sz="2400" dirty="0">
                <a:solidFill>
                  <a:srgbClr val="212529"/>
                </a:solidFill>
                <a:latin typeface="Times New Roman" panose="02020603050405020304" pitchFamily="18" charset="0"/>
                <a:cs typeface="Times New Roman" panose="02020603050405020304" pitchFamily="18" charset="0"/>
              </a:rPr>
              <a:t>M</a:t>
            </a:r>
            <a:r>
              <a:rPr lang="en-US" sz="2400" b="0" i="0" dirty="0">
                <a:solidFill>
                  <a:srgbClr val="212529"/>
                </a:solidFill>
                <a:effectLst/>
                <a:latin typeface="Times New Roman" panose="02020603050405020304" pitchFamily="18" charset="0"/>
                <a:cs typeface="Times New Roman" panose="02020603050405020304" pitchFamily="18" charset="0"/>
              </a:rPr>
              <a:t>embers as well as civilian employees. </a:t>
            </a:r>
          </a:p>
        </p:txBody>
      </p:sp>
      <p:sp>
        <p:nvSpPr>
          <p:cNvPr id="4" name="Slide Number Placeholder 3">
            <a:extLst>
              <a:ext uri="{FF2B5EF4-FFF2-40B4-BE49-F238E27FC236}">
                <a16:creationId xmlns:a16="http://schemas.microsoft.com/office/drawing/2014/main" id="{491FC45F-1E06-873D-C8E9-EBBA9EF88A75}"/>
              </a:ext>
            </a:extLst>
          </p:cNvPr>
          <p:cNvSpPr>
            <a:spLocks noGrp="1"/>
          </p:cNvSpPr>
          <p:nvPr>
            <p:ph type="sldNum" sz="quarter" idx="12"/>
          </p:nvPr>
        </p:nvSpPr>
        <p:spPr/>
        <p:txBody>
          <a:bodyPr/>
          <a:lstStyle/>
          <a:p>
            <a:fld id="{36A6A193-2FDC-48DD-8023-1C75B05EEA9A}" type="slidenum">
              <a:rPr lang="en-US" smtClean="0"/>
              <a:t>7</a:t>
            </a:fld>
            <a:endParaRPr lang="en-US"/>
          </a:p>
        </p:txBody>
      </p:sp>
    </p:spTree>
    <p:extLst>
      <p:ext uri="{BB962C8B-B14F-4D97-AF65-F5344CB8AC3E}">
        <p14:creationId xmlns:p14="http://schemas.microsoft.com/office/powerpoint/2010/main" val="405906677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A6678-F538-42ED-50AD-8521F2CBE64C}"/>
              </a:ext>
            </a:extLst>
          </p:cNvPr>
          <p:cNvSpPr>
            <a:spLocks noGrp="1"/>
          </p:cNvSpPr>
          <p:nvPr>
            <p:ph type="title"/>
          </p:nvPr>
        </p:nvSpPr>
        <p:spPr>
          <a:xfrm>
            <a:off x="0" y="793627"/>
            <a:ext cx="9144000" cy="1854323"/>
          </a:xfrm>
        </p:spPr>
        <p:txBody>
          <a:bodyPr/>
          <a:lstStyle/>
          <a:p>
            <a:r>
              <a:rPr lang="en-US" dirty="0"/>
              <a:t>Reserves</a:t>
            </a:r>
          </a:p>
        </p:txBody>
      </p:sp>
      <p:sp>
        <p:nvSpPr>
          <p:cNvPr id="3" name="Content Placeholder 2">
            <a:extLst>
              <a:ext uri="{FF2B5EF4-FFF2-40B4-BE49-F238E27FC236}">
                <a16:creationId xmlns:a16="http://schemas.microsoft.com/office/drawing/2014/main" id="{89A4FE05-22E9-CA71-96A8-4391C17E4392}"/>
              </a:ext>
            </a:extLst>
          </p:cNvPr>
          <p:cNvSpPr>
            <a:spLocks noGrp="1"/>
          </p:cNvSpPr>
          <p:nvPr>
            <p:ph idx="1"/>
          </p:nvPr>
        </p:nvSpPr>
        <p:spPr>
          <a:xfrm>
            <a:off x="361622" y="3140198"/>
            <a:ext cx="8229600" cy="3461776"/>
          </a:xfrm>
        </p:spPr>
        <p:txBody>
          <a:bodyPr>
            <a:noAutofit/>
          </a:bodyPr>
          <a:lstStyle/>
          <a:p>
            <a:r>
              <a:rPr lang="en-US" sz="2400" b="0" i="0" dirty="0">
                <a:solidFill>
                  <a:srgbClr val="212529"/>
                </a:solidFill>
                <a:effectLst/>
                <a:latin typeface="Times New Roman" panose="02020603050405020304" pitchFamily="18" charset="0"/>
                <a:cs typeface="Times New Roman" panose="02020603050405020304" pitchFamily="18" charset="0"/>
              </a:rPr>
              <a:t>All branches of the military have a Reserve element except for the Space Force. </a:t>
            </a:r>
          </a:p>
          <a:p>
            <a:r>
              <a:rPr lang="en-US" sz="2400" b="0" i="0" dirty="0">
                <a:solidFill>
                  <a:srgbClr val="212529"/>
                </a:solidFill>
                <a:effectLst/>
                <a:latin typeface="Times New Roman" panose="02020603050405020304" pitchFamily="18" charset="0"/>
                <a:cs typeface="Times New Roman" panose="02020603050405020304" pitchFamily="18" charset="0"/>
              </a:rPr>
              <a:t>Support or augment their Active-Duty counterparts in times of war, national emergencies and threats to national security, both stateside and overseas</a:t>
            </a:r>
          </a:p>
          <a:p>
            <a:r>
              <a:rPr lang="en-US" sz="2400" dirty="0">
                <a:solidFill>
                  <a:srgbClr val="212529"/>
                </a:solidFill>
                <a:latin typeface="Times New Roman" panose="02020603050405020304" pitchFamily="18" charset="0"/>
                <a:cs typeface="Times New Roman" panose="02020603050405020304" pitchFamily="18" charset="0"/>
              </a:rPr>
              <a:t>Reserves </a:t>
            </a:r>
            <a:r>
              <a:rPr lang="en-US" sz="2400" b="0" i="0" dirty="0">
                <a:solidFill>
                  <a:srgbClr val="212529"/>
                </a:solidFill>
                <a:effectLst/>
                <a:latin typeface="Times New Roman" panose="02020603050405020304" pitchFamily="18" charset="0"/>
                <a:cs typeface="Times New Roman" panose="02020603050405020304" pitchFamily="18" charset="0"/>
              </a:rPr>
              <a:t>can only be activated and funded by the </a:t>
            </a:r>
            <a:r>
              <a:rPr lang="en-US" sz="2400" dirty="0">
                <a:solidFill>
                  <a:srgbClr val="212529"/>
                </a:solidFill>
                <a:latin typeface="Times New Roman" panose="02020603050405020304" pitchFamily="18" charset="0"/>
                <a:cs typeface="Times New Roman" panose="02020603050405020304" pitchFamily="18" charset="0"/>
              </a:rPr>
              <a:t>F</a:t>
            </a:r>
            <a:r>
              <a:rPr lang="en-US" sz="2400" b="0" i="0" dirty="0">
                <a:solidFill>
                  <a:srgbClr val="212529"/>
                </a:solidFill>
                <a:effectLst/>
                <a:latin typeface="Times New Roman" panose="02020603050405020304" pitchFamily="18" charset="0"/>
                <a:cs typeface="Times New Roman" panose="02020603050405020304" pitchFamily="18" charset="0"/>
              </a:rPr>
              <a:t>ederal </a:t>
            </a:r>
            <a:r>
              <a:rPr lang="en-US" sz="2400" dirty="0">
                <a:solidFill>
                  <a:srgbClr val="212529"/>
                </a:solidFill>
                <a:latin typeface="Times New Roman" panose="02020603050405020304" pitchFamily="18" charset="0"/>
                <a:cs typeface="Times New Roman" panose="02020603050405020304" pitchFamily="18" charset="0"/>
              </a:rPr>
              <a:t>G</a:t>
            </a:r>
            <a:r>
              <a:rPr lang="en-US" sz="2400" b="0" i="0" dirty="0">
                <a:solidFill>
                  <a:srgbClr val="212529"/>
                </a:solidFill>
                <a:effectLst/>
                <a:latin typeface="Times New Roman" panose="02020603050405020304" pitchFamily="18" charset="0"/>
                <a:cs typeface="Times New Roman" panose="02020603050405020304" pitchFamily="18" charset="0"/>
              </a:rPr>
              <a:t>overnment</a:t>
            </a:r>
          </a:p>
          <a:p>
            <a:r>
              <a:rPr lang="en-US" sz="2400" dirty="0">
                <a:solidFill>
                  <a:srgbClr val="212529"/>
                </a:solidFill>
                <a:latin typeface="Times New Roman" panose="02020603050405020304" pitchFamily="18" charset="0"/>
                <a:cs typeface="Times New Roman" panose="02020603050405020304" pitchFamily="18" charset="0"/>
              </a:rPr>
              <a:t>Commander-in-Chief is the President of the United States</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2B3A319-653C-33F7-770D-E018D654EEBD}"/>
              </a:ext>
            </a:extLst>
          </p:cNvPr>
          <p:cNvSpPr>
            <a:spLocks noGrp="1"/>
          </p:cNvSpPr>
          <p:nvPr>
            <p:ph type="sldNum" sz="quarter" idx="12"/>
          </p:nvPr>
        </p:nvSpPr>
        <p:spPr/>
        <p:txBody>
          <a:bodyPr/>
          <a:lstStyle/>
          <a:p>
            <a:fld id="{36A6A193-2FDC-48DD-8023-1C75B05EEA9A}" type="slidenum">
              <a:rPr lang="en-US" smtClean="0"/>
              <a:t>8</a:t>
            </a:fld>
            <a:endParaRPr lang="en-US"/>
          </a:p>
        </p:txBody>
      </p:sp>
      <p:pic>
        <p:nvPicPr>
          <p:cNvPr id="6" name="Picture 5">
            <a:extLst>
              <a:ext uri="{FF2B5EF4-FFF2-40B4-BE49-F238E27FC236}">
                <a16:creationId xmlns:a16="http://schemas.microsoft.com/office/drawing/2014/main" id="{860493B0-8236-386F-BA79-C02380A44775}"/>
              </a:ext>
            </a:extLst>
          </p:cNvPr>
          <p:cNvPicPr>
            <a:picLocks noChangeAspect="1"/>
          </p:cNvPicPr>
          <p:nvPr/>
        </p:nvPicPr>
        <p:blipFill>
          <a:blip r:embed="rId2"/>
          <a:stretch>
            <a:fillRect/>
          </a:stretch>
        </p:blipFill>
        <p:spPr>
          <a:xfrm>
            <a:off x="3181350" y="903017"/>
            <a:ext cx="2914650" cy="1962339"/>
          </a:xfrm>
          <a:prstGeom prst="rect">
            <a:avLst/>
          </a:prstGeom>
        </p:spPr>
      </p:pic>
    </p:spTree>
    <p:extLst>
      <p:ext uri="{BB962C8B-B14F-4D97-AF65-F5344CB8AC3E}">
        <p14:creationId xmlns:p14="http://schemas.microsoft.com/office/powerpoint/2010/main" val="41984749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1E468-9C18-6A46-68EC-5A9F79D12C95}"/>
              </a:ext>
            </a:extLst>
          </p:cNvPr>
          <p:cNvSpPr>
            <a:spLocks noGrp="1"/>
          </p:cNvSpPr>
          <p:nvPr>
            <p:ph type="title"/>
          </p:nvPr>
        </p:nvSpPr>
        <p:spPr>
          <a:xfrm>
            <a:off x="0" y="793627"/>
            <a:ext cx="9144000" cy="2121023"/>
          </a:xfrm>
        </p:spPr>
        <p:txBody>
          <a:bodyPr/>
          <a:lstStyle/>
          <a:p>
            <a:r>
              <a:rPr lang="en-US" dirty="0"/>
              <a:t>Reserve Component</a:t>
            </a:r>
          </a:p>
        </p:txBody>
      </p:sp>
      <p:sp>
        <p:nvSpPr>
          <p:cNvPr id="3" name="Content Placeholder 2">
            <a:extLst>
              <a:ext uri="{FF2B5EF4-FFF2-40B4-BE49-F238E27FC236}">
                <a16:creationId xmlns:a16="http://schemas.microsoft.com/office/drawing/2014/main" id="{4129DDDA-9103-7CCB-253A-10CF670A92CE}"/>
              </a:ext>
            </a:extLst>
          </p:cNvPr>
          <p:cNvSpPr>
            <a:spLocks noGrp="1"/>
          </p:cNvSpPr>
          <p:nvPr>
            <p:ph idx="1"/>
          </p:nvPr>
        </p:nvSpPr>
        <p:spPr>
          <a:xfrm>
            <a:off x="457200" y="2609850"/>
            <a:ext cx="8229600" cy="4248150"/>
          </a:xfrm>
        </p:spPr>
        <p:txBody>
          <a:bodyPr>
            <a:noAutofit/>
          </a:bodyPr>
          <a:lstStyle/>
          <a:p>
            <a:r>
              <a:rPr lang="en-US" sz="2000" dirty="0">
                <a:solidFill>
                  <a:srgbClr val="212529"/>
                </a:solidFill>
                <a:latin typeface="Times New Roman" panose="02020603050405020304" pitchFamily="18" charset="0"/>
                <a:cs typeface="Times New Roman" panose="02020603050405020304" pitchFamily="18" charset="0"/>
              </a:rPr>
              <a:t>S</a:t>
            </a:r>
            <a:r>
              <a:rPr lang="en-US" sz="2000" b="0" i="0" dirty="0">
                <a:solidFill>
                  <a:srgbClr val="212529"/>
                </a:solidFill>
                <a:effectLst/>
                <a:latin typeface="Times New Roman" panose="02020603050405020304" pitchFamily="18" charset="0"/>
                <a:cs typeface="Times New Roman" panose="02020603050405020304" pitchFamily="18" charset="0"/>
              </a:rPr>
              <a:t>econd arm of the Reserve </a:t>
            </a:r>
            <a:r>
              <a:rPr lang="en-US" sz="2000" dirty="0">
                <a:solidFill>
                  <a:srgbClr val="212529"/>
                </a:solidFill>
                <a:latin typeface="Times New Roman" panose="02020603050405020304" pitchFamily="18" charset="0"/>
                <a:cs typeface="Times New Roman" panose="02020603050405020304" pitchFamily="18" charset="0"/>
              </a:rPr>
              <a:t>C</a:t>
            </a:r>
            <a:r>
              <a:rPr lang="en-US" sz="2000" b="0" i="0" dirty="0">
                <a:solidFill>
                  <a:srgbClr val="212529"/>
                </a:solidFill>
                <a:effectLst/>
                <a:latin typeface="Times New Roman" panose="02020603050405020304" pitchFamily="18" charset="0"/>
                <a:cs typeface="Times New Roman" panose="02020603050405020304" pitchFamily="18" charset="0"/>
              </a:rPr>
              <a:t>omponent and consists of both the Army and Air Force</a:t>
            </a:r>
          </a:p>
          <a:p>
            <a:r>
              <a:rPr lang="en-US" sz="2000" b="0" i="0" dirty="0">
                <a:solidFill>
                  <a:srgbClr val="212529"/>
                </a:solidFill>
                <a:effectLst/>
                <a:latin typeface="Times New Roman" panose="02020603050405020304" pitchFamily="18" charset="0"/>
                <a:cs typeface="Times New Roman" panose="02020603050405020304" pitchFamily="18" charset="0"/>
              </a:rPr>
              <a:t> Like the Reserves, members of the National Guard, or Guardsmen, are trained and ready to defend the nation during times of war, threats to national security and national emergencies. </a:t>
            </a:r>
          </a:p>
          <a:p>
            <a:r>
              <a:rPr lang="en-US" sz="2000" b="0" i="0" dirty="0">
                <a:solidFill>
                  <a:srgbClr val="212529"/>
                </a:solidFill>
                <a:effectLst/>
                <a:latin typeface="Times New Roman" panose="02020603050405020304" pitchFamily="18" charset="0"/>
                <a:cs typeface="Times New Roman" panose="02020603050405020304" pitchFamily="18" charset="0"/>
              </a:rPr>
              <a:t>National Guard is also called up for state emergencies. Because of this, and contrary to the Reserves, the National Guard reports to both the state and federal government</a:t>
            </a:r>
          </a:p>
          <a:p>
            <a:r>
              <a:rPr lang="en-US" sz="2000" dirty="0">
                <a:solidFill>
                  <a:srgbClr val="212529"/>
                </a:solidFill>
                <a:latin typeface="Times New Roman" panose="02020603050405020304" pitchFamily="18" charset="0"/>
                <a:cs typeface="Times New Roman" panose="02020603050405020304" pitchFamily="18" charset="0"/>
              </a:rPr>
              <a:t>Two Commanders-in-Chief (Governor and the President of the United States)</a:t>
            </a:r>
          </a:p>
          <a:p>
            <a:r>
              <a:rPr lang="en-US" sz="2000" dirty="0">
                <a:solidFill>
                  <a:srgbClr val="212529"/>
                </a:solidFill>
                <a:latin typeface="Times New Roman" panose="02020603050405020304" pitchFamily="18" charset="0"/>
                <a:cs typeface="Times New Roman" panose="02020603050405020304" pitchFamily="18" charset="0"/>
              </a:rPr>
              <a:t>M</a:t>
            </a:r>
            <a:r>
              <a:rPr lang="en-US" sz="2000" b="0" i="0" dirty="0">
                <a:solidFill>
                  <a:srgbClr val="212529"/>
                </a:solidFill>
                <a:effectLst/>
                <a:latin typeface="Times New Roman" panose="02020603050405020304" pitchFamily="18" charset="0"/>
                <a:cs typeface="Times New Roman" panose="02020603050405020304" pitchFamily="18" charset="0"/>
              </a:rPr>
              <a:t>embers of the National Guard can hold a variety of different statuses, which makes determining VA benefits difficult.  </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FDF8403-A8BE-95DE-5316-12E88CD77AC4}"/>
              </a:ext>
            </a:extLst>
          </p:cNvPr>
          <p:cNvSpPr>
            <a:spLocks noGrp="1"/>
          </p:cNvSpPr>
          <p:nvPr>
            <p:ph type="sldNum" sz="quarter" idx="12"/>
          </p:nvPr>
        </p:nvSpPr>
        <p:spPr/>
        <p:txBody>
          <a:bodyPr/>
          <a:lstStyle/>
          <a:p>
            <a:fld id="{36A6A193-2FDC-48DD-8023-1C75B05EEA9A}" type="slidenum">
              <a:rPr lang="en-US" smtClean="0"/>
              <a:t>9</a:t>
            </a:fld>
            <a:endParaRPr lang="en-US"/>
          </a:p>
        </p:txBody>
      </p:sp>
      <p:pic>
        <p:nvPicPr>
          <p:cNvPr id="5" name="Picture 4">
            <a:extLst>
              <a:ext uri="{FF2B5EF4-FFF2-40B4-BE49-F238E27FC236}">
                <a16:creationId xmlns:a16="http://schemas.microsoft.com/office/drawing/2014/main" id="{75ECDC9C-D37B-CFE0-DA7B-81BEF46FEF64}"/>
              </a:ext>
            </a:extLst>
          </p:cNvPr>
          <p:cNvPicPr>
            <a:picLocks noChangeAspect="1"/>
          </p:cNvPicPr>
          <p:nvPr/>
        </p:nvPicPr>
        <p:blipFill>
          <a:blip r:embed="rId2"/>
          <a:stretch>
            <a:fillRect/>
          </a:stretch>
        </p:blipFill>
        <p:spPr>
          <a:xfrm>
            <a:off x="2828925" y="1352550"/>
            <a:ext cx="3228975" cy="1257300"/>
          </a:xfrm>
          <a:prstGeom prst="rect">
            <a:avLst/>
          </a:prstGeom>
        </p:spPr>
      </p:pic>
    </p:spTree>
    <p:extLst>
      <p:ext uri="{BB962C8B-B14F-4D97-AF65-F5344CB8AC3E}">
        <p14:creationId xmlns:p14="http://schemas.microsoft.com/office/powerpoint/2010/main" val="176372273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3556-1160-4F4C-B097-0F9219BD23A7}"/>
              </a:ext>
            </a:extLst>
          </p:cNvPr>
          <p:cNvSpPr>
            <a:spLocks noGrp="1"/>
          </p:cNvSpPr>
          <p:nvPr>
            <p:ph type="title"/>
          </p:nvPr>
        </p:nvSpPr>
        <p:spPr/>
        <p:txBody>
          <a:bodyPr/>
          <a:lstStyle/>
          <a:p>
            <a:r>
              <a:rPr lang="en-US" dirty="0"/>
              <a:t>Definition</a:t>
            </a:r>
          </a:p>
        </p:txBody>
      </p:sp>
      <p:sp>
        <p:nvSpPr>
          <p:cNvPr id="3" name="Content Placeholder 2">
            <a:extLst>
              <a:ext uri="{FF2B5EF4-FFF2-40B4-BE49-F238E27FC236}">
                <a16:creationId xmlns:a16="http://schemas.microsoft.com/office/drawing/2014/main" id="{D7FF19C7-4815-417D-8DA7-25F0283D585A}"/>
              </a:ext>
            </a:extLst>
          </p:cNvPr>
          <p:cNvSpPr>
            <a:spLocks noGrp="1"/>
          </p:cNvSpPr>
          <p:nvPr>
            <p:ph idx="1"/>
          </p:nvPr>
        </p:nvSpPr>
        <p:spPr/>
        <p:txBody>
          <a:bodyPr>
            <a:normAutofit/>
          </a:bodyPr>
          <a:lstStyle/>
          <a:p>
            <a:pPr>
              <a:lnSpc>
                <a:spcPct val="115000"/>
              </a:lnSpc>
              <a:spcBef>
                <a:spcPts val="1000"/>
              </a:spcBef>
              <a:spcAft>
                <a:spcPts val="500"/>
              </a:spcAft>
            </a:pPr>
            <a:r>
              <a:rPr lang="en-US" sz="2200" b="1" i="1" dirty="0">
                <a:solidFill>
                  <a:srgbClr val="000000"/>
                </a:solidFill>
                <a:effectLst/>
                <a:latin typeface="+mn-lt"/>
                <a:ea typeface="Calibri" panose="020F0502020204030204" pitchFamily="34" charset="0"/>
                <a:cs typeface="Times New Roman" panose="02020603050405020304" pitchFamily="18" charset="0"/>
              </a:rPr>
              <a:t>Veteran</a:t>
            </a:r>
            <a:r>
              <a:rPr lang="en-US" sz="2200" dirty="0">
                <a:solidFill>
                  <a:srgbClr val="000000"/>
                </a:solidFill>
                <a:effectLst/>
                <a:latin typeface="+mn-lt"/>
                <a:ea typeface="Calibri" panose="020F0502020204030204" pitchFamily="34" charset="0"/>
                <a:cs typeface="Times New Roman" panose="02020603050405020304" pitchFamily="18" charset="0"/>
              </a:rPr>
              <a:t> - a person who served in the </a:t>
            </a:r>
            <a:r>
              <a:rPr lang="en-US" sz="2200" b="1" i="1" dirty="0">
                <a:solidFill>
                  <a:srgbClr val="000000"/>
                </a:solidFill>
                <a:effectLst/>
                <a:latin typeface="+mn-lt"/>
                <a:ea typeface="Calibri" panose="020F0502020204030204" pitchFamily="34" charset="0"/>
                <a:cs typeface="Times New Roman" panose="02020603050405020304" pitchFamily="18" charset="0"/>
              </a:rPr>
              <a:t>active</a:t>
            </a:r>
            <a:r>
              <a:rPr lang="en-US" sz="2200" dirty="0">
                <a:solidFill>
                  <a:srgbClr val="000000"/>
                </a:solidFill>
                <a:effectLst/>
                <a:latin typeface="+mn-lt"/>
                <a:ea typeface="Calibri" panose="020F0502020204030204" pitchFamily="34" charset="0"/>
                <a:cs typeface="Times New Roman" panose="02020603050405020304" pitchFamily="18" charset="0"/>
              </a:rPr>
              <a:t> military, naval, air, or space service and who was discharged or released under conditions other than dishonorable  (38 CFR 3.1 (d))</a:t>
            </a:r>
            <a:endParaRPr lang="en-US" sz="2200" dirty="0">
              <a:effectLst/>
              <a:latin typeface="+mn-lt"/>
              <a:ea typeface="Calibri" panose="020F0502020204030204" pitchFamily="34" charset="0"/>
              <a:cs typeface="Times New Roman" panose="02020603050405020304" pitchFamily="18" charset="0"/>
            </a:endParaRPr>
          </a:p>
          <a:p>
            <a:pPr marL="0" marR="0">
              <a:lnSpc>
                <a:spcPct val="115000"/>
              </a:lnSpc>
              <a:spcBef>
                <a:spcPts val="1000"/>
              </a:spcBef>
              <a:spcAft>
                <a:spcPts val="500"/>
              </a:spcAft>
            </a:pPr>
            <a:endParaRPr lang="en-US" sz="2200" dirty="0">
              <a:solidFill>
                <a:srgbClr val="000000"/>
              </a:solidFill>
              <a:effectLst/>
              <a:latin typeface="+mn-lt"/>
              <a:ea typeface="Calibri" panose="020F0502020204030204" pitchFamily="34" charset="0"/>
              <a:cs typeface="Times New Roman" panose="02020603050405020304" pitchFamily="18" charset="0"/>
            </a:endParaRPr>
          </a:p>
          <a:p>
            <a:pPr marL="0" marR="0">
              <a:lnSpc>
                <a:spcPct val="115000"/>
              </a:lnSpc>
              <a:spcBef>
                <a:spcPts val="1000"/>
              </a:spcBef>
              <a:spcAft>
                <a:spcPts val="500"/>
              </a:spcAft>
            </a:pPr>
            <a:endParaRPr lang="en-US" sz="2200" dirty="0">
              <a:solidFill>
                <a:srgbClr val="000000"/>
              </a:solidFill>
              <a:latin typeface="+mn-lt"/>
              <a:ea typeface="Calibri" panose="020F0502020204030204" pitchFamily="34" charset="0"/>
              <a:cs typeface="Times New Roman" panose="02020603050405020304" pitchFamily="18" charset="0"/>
            </a:endParaRPr>
          </a:p>
          <a:p>
            <a:pPr marL="0" marR="0">
              <a:lnSpc>
                <a:spcPct val="115000"/>
              </a:lnSpc>
              <a:spcBef>
                <a:spcPts val="1000"/>
              </a:spcBef>
              <a:spcAft>
                <a:spcPts val="5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5105B5AB-028B-42CE-8CD2-214BA673DA34}"/>
              </a:ext>
            </a:extLst>
          </p:cNvPr>
          <p:cNvSpPr>
            <a:spLocks noGrp="1"/>
          </p:cNvSpPr>
          <p:nvPr>
            <p:ph type="sldNum" sz="quarter" idx="12"/>
          </p:nvPr>
        </p:nvSpPr>
        <p:spPr/>
        <p:txBody>
          <a:bodyPr/>
          <a:lstStyle/>
          <a:p>
            <a:fld id="{7C414AED-89CE-4A48-8B2B-1B3A5C68EA2A}" type="slidenum">
              <a:rPr lang="en-US" smtClean="0"/>
              <a:t>10</a:t>
            </a:fld>
            <a:endParaRPr lang="en-US"/>
          </a:p>
        </p:txBody>
      </p:sp>
      <p:pic>
        <p:nvPicPr>
          <p:cNvPr id="1030" name="Picture 6" descr="5 Reasons Veterans Leave Civilian Jobs | Military.com">
            <a:extLst>
              <a:ext uri="{FF2B5EF4-FFF2-40B4-BE49-F238E27FC236}">
                <a16:creationId xmlns:a16="http://schemas.microsoft.com/office/drawing/2014/main" id="{0694D28A-5B44-40F1-95D6-4CCC41891A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4728" y="3933682"/>
            <a:ext cx="4756728" cy="2216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606749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520823"/>
          </a:xfrm>
        </p:spPr>
        <p:txBody>
          <a:bodyPr/>
          <a:lstStyle/>
          <a:p>
            <a:r>
              <a:rPr lang="en-US" dirty="0">
                <a:effectLst/>
              </a:rPr>
              <a:t>Types of Qualifying Service</a:t>
            </a:r>
            <a:endParaRPr lang="en-US" dirty="0"/>
          </a:p>
        </p:txBody>
      </p:sp>
      <p:sp>
        <p:nvSpPr>
          <p:cNvPr id="3" name="Content Placeholder 2"/>
          <p:cNvSpPr>
            <a:spLocks noGrp="1"/>
          </p:cNvSpPr>
          <p:nvPr>
            <p:ph idx="1"/>
            <p:custDataLst>
              <p:tags r:id="rId3"/>
            </p:custDataLst>
          </p:nvPr>
        </p:nvSpPr>
        <p:spPr>
          <a:xfrm>
            <a:off x="457200" y="1581150"/>
            <a:ext cx="8229600" cy="4743449"/>
          </a:xfrm>
        </p:spPr>
        <p:txBody>
          <a:bodyPr>
            <a:normAutofit fontScale="92500" lnSpcReduction="20000"/>
          </a:bodyPr>
          <a:lstStyle/>
          <a:p>
            <a:pPr marL="0" indent="0">
              <a:lnSpc>
                <a:spcPct val="110000"/>
              </a:lnSpc>
              <a:buNone/>
            </a:pPr>
            <a:r>
              <a:rPr lang="en-US" i="1" dirty="0"/>
              <a:t>Qualifying service </a:t>
            </a:r>
            <a:r>
              <a:rPr lang="en-US" dirty="0"/>
              <a:t>is any type of service that qualifies or potentially qualifies a claimant for VA benefits such as:</a:t>
            </a:r>
          </a:p>
          <a:p>
            <a:pPr marL="0" indent="0">
              <a:lnSpc>
                <a:spcPct val="110000"/>
              </a:lnSpc>
              <a:buNone/>
            </a:pPr>
            <a:endParaRPr lang="en-US" sz="2000" dirty="0"/>
          </a:p>
          <a:p>
            <a:pPr>
              <a:lnSpc>
                <a:spcPct val="110000"/>
              </a:lnSpc>
            </a:pPr>
            <a:r>
              <a:rPr lang="en-US" sz="2000" dirty="0"/>
              <a:t>Active duty</a:t>
            </a:r>
          </a:p>
          <a:p>
            <a:pPr>
              <a:lnSpc>
                <a:spcPct val="110000"/>
              </a:lnSpc>
            </a:pPr>
            <a:r>
              <a:rPr lang="en-US" sz="2000" dirty="0"/>
              <a:t>Any period of active duty for training (ADT) during which a person is disabled or dies from an </a:t>
            </a:r>
            <a:r>
              <a:rPr lang="en-US" sz="2000" b="1" dirty="0"/>
              <a:t>injury or disease </a:t>
            </a:r>
            <a:r>
              <a:rPr lang="en-US" sz="2000" dirty="0"/>
              <a:t>incurred or aggravated in the line of duty.</a:t>
            </a:r>
          </a:p>
          <a:p>
            <a:pPr>
              <a:lnSpc>
                <a:spcPct val="110000"/>
              </a:lnSpc>
            </a:pPr>
            <a:r>
              <a:rPr lang="en-US" sz="2000" dirty="0"/>
              <a:t>Any period of inactive duty for training (IADT) during which a person is disabled or dies from an </a:t>
            </a:r>
            <a:r>
              <a:rPr lang="en-US" sz="2000" b="1" dirty="0"/>
              <a:t>injury</a:t>
            </a:r>
            <a:r>
              <a:rPr lang="en-US" sz="2000" dirty="0"/>
              <a:t> incurred or aggravated in the line of duty </a:t>
            </a:r>
            <a:r>
              <a:rPr lang="en-US" sz="2000" b="1" dirty="0"/>
              <a:t>or</a:t>
            </a:r>
            <a:r>
              <a:rPr lang="en-US" sz="2000" dirty="0">
                <a:effectLst>
                  <a:outerShdw blurRad="38100" dist="38100" dir="2700000" algn="tl">
                    <a:srgbClr val="000000">
                      <a:alpha val="43137"/>
                    </a:srgbClr>
                  </a:outerShdw>
                </a:effectLst>
              </a:rPr>
              <a:t> </a:t>
            </a:r>
            <a:r>
              <a:rPr lang="en-US" sz="2000" dirty="0"/>
              <a:t>from </a:t>
            </a:r>
            <a:r>
              <a:rPr lang="en-US" sz="2000" b="1" dirty="0"/>
              <a:t>any of the following conditions that occurred during training</a:t>
            </a:r>
            <a:r>
              <a:rPr lang="en-US" sz="2000" dirty="0"/>
              <a:t>: </a:t>
            </a:r>
          </a:p>
          <a:p>
            <a:pPr lvl="2">
              <a:lnSpc>
                <a:spcPct val="110000"/>
              </a:lnSpc>
            </a:pPr>
            <a:r>
              <a:rPr lang="en-US" sz="1700" dirty="0"/>
              <a:t>acute myocardial infarction</a:t>
            </a:r>
          </a:p>
          <a:p>
            <a:pPr lvl="2">
              <a:lnSpc>
                <a:spcPct val="110000"/>
              </a:lnSpc>
            </a:pPr>
            <a:r>
              <a:rPr lang="en-US" sz="1700" dirty="0"/>
              <a:t>cardiac arrest, or</a:t>
            </a:r>
          </a:p>
          <a:p>
            <a:pPr lvl="2">
              <a:lnSpc>
                <a:spcPct val="110000"/>
              </a:lnSpc>
            </a:pPr>
            <a:r>
              <a:rPr lang="en-US" sz="1700" dirty="0"/>
              <a:t>a cerebrovascular accident</a:t>
            </a:r>
          </a:p>
          <a:p>
            <a:pPr lvl="2">
              <a:lnSpc>
                <a:spcPct val="110000"/>
              </a:lnSpc>
            </a:pPr>
            <a:r>
              <a:rPr lang="en-US" sz="1700" dirty="0"/>
              <a:t>OR an injury while proceeding directly due, or returning from, a period of ADT and IADT</a:t>
            </a:r>
          </a:p>
        </p:txBody>
      </p:sp>
      <p:sp>
        <p:nvSpPr>
          <p:cNvPr id="4" name="Slide Number Placeholder 3"/>
          <p:cNvSpPr>
            <a:spLocks noGrp="1"/>
          </p:cNvSpPr>
          <p:nvPr>
            <p:ph type="sldNum" sz="quarter" idx="12"/>
            <p:custDataLst>
              <p:tags r:id="rId4"/>
            </p:custDataLst>
          </p:nvPr>
        </p:nvSpPr>
        <p:spPr>
          <a:xfrm>
            <a:off x="6931152" y="6601974"/>
            <a:ext cx="2133600" cy="365125"/>
          </a:xfrm>
        </p:spPr>
        <p:txBody>
          <a:bodyPr/>
          <a:lstStyle/>
          <a:p>
            <a:fld id="{7C414AED-89CE-4A48-8B2B-1B3A5C68EA2A}" type="slidenum">
              <a:rPr lang="en-US" smtClean="0"/>
              <a:t>11</a:t>
            </a:fld>
            <a:endParaRPr lang="en-US"/>
          </a:p>
        </p:txBody>
      </p:sp>
    </p:spTree>
    <p:custDataLst>
      <p:tags r:id="rId1"/>
    </p:custDataLst>
    <p:extLst>
      <p:ext uri="{BB962C8B-B14F-4D97-AF65-F5344CB8AC3E}">
        <p14:creationId xmlns:p14="http://schemas.microsoft.com/office/powerpoint/2010/main" val="145185840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t>National Guard and Reserve Service</a:t>
            </a:r>
          </a:p>
        </p:txBody>
      </p:sp>
      <p:sp>
        <p:nvSpPr>
          <p:cNvPr id="3" name="Content Placeholder 2"/>
          <p:cNvSpPr>
            <a:spLocks noGrp="1"/>
          </p:cNvSpPr>
          <p:nvPr>
            <p:ph idx="1"/>
            <p:custDataLst>
              <p:tags r:id="rId3"/>
            </p:custDataLst>
          </p:nvPr>
        </p:nvSpPr>
        <p:spPr>
          <a:xfrm>
            <a:off x="457200" y="2057400"/>
            <a:ext cx="8229600" cy="752475"/>
          </a:xfrm>
        </p:spPr>
        <p:txBody>
          <a:bodyPr>
            <a:normAutofit/>
          </a:bodyPr>
          <a:lstStyle/>
          <a:p>
            <a:pPr>
              <a:lnSpc>
                <a:spcPct val="110000"/>
              </a:lnSpc>
            </a:pPr>
            <a:r>
              <a:rPr lang="en-US" dirty="0"/>
              <a:t>Service as a National Guard member is not considered </a:t>
            </a:r>
            <a:r>
              <a:rPr lang="en-US" i="1" dirty="0"/>
              <a:t>active</a:t>
            </a:r>
            <a:r>
              <a:rPr lang="en-US" dirty="0"/>
              <a:t> service and is not adequate service upon which to establish Veteran status. </a:t>
            </a:r>
          </a:p>
        </p:txBody>
      </p:sp>
      <p:sp>
        <p:nvSpPr>
          <p:cNvPr id="4" name="Slide Number Placeholder 3"/>
          <p:cNvSpPr>
            <a:spLocks noGrp="1"/>
          </p:cNvSpPr>
          <p:nvPr>
            <p:ph type="sldNum" sz="quarter" idx="12"/>
            <p:custDataLst>
              <p:tags r:id="rId4"/>
            </p:custDataLst>
          </p:nvPr>
        </p:nvSpPr>
        <p:spPr>
          <a:xfrm>
            <a:off x="6931152" y="6601974"/>
            <a:ext cx="2133600" cy="365125"/>
          </a:xfrm>
        </p:spPr>
        <p:txBody>
          <a:bodyPr/>
          <a:lstStyle/>
          <a:p>
            <a:fld id="{7C414AED-89CE-4A48-8B2B-1B3A5C68EA2A}" type="slidenum">
              <a:rPr lang="en-US" smtClean="0"/>
              <a:t>12</a:t>
            </a:fld>
            <a:endParaRPr lang="en-US"/>
          </a:p>
        </p:txBody>
      </p:sp>
      <p:sp>
        <p:nvSpPr>
          <p:cNvPr id="5" name="TextBox 4">
            <a:extLst>
              <a:ext uri="{FF2B5EF4-FFF2-40B4-BE49-F238E27FC236}">
                <a16:creationId xmlns:a16="http://schemas.microsoft.com/office/drawing/2014/main" id="{5DFCE491-9850-4C51-AF2B-0287B659AA89}"/>
              </a:ext>
            </a:extLst>
          </p:cNvPr>
          <p:cNvSpPr txBox="1"/>
          <p:nvPr>
            <p:custDataLst>
              <p:tags r:id="rId5"/>
            </p:custDataLst>
          </p:nvPr>
        </p:nvSpPr>
        <p:spPr>
          <a:xfrm>
            <a:off x="457200" y="3321171"/>
            <a:ext cx="8240617" cy="2031325"/>
          </a:xfrm>
          <a:prstGeom prst="rect">
            <a:avLst/>
          </a:prstGeom>
          <a:noFill/>
        </p:spPr>
        <p:txBody>
          <a:bodyPr wrap="square" rtlCol="0">
            <a:spAutoFit/>
          </a:bodyPr>
          <a:lstStyle/>
          <a:p>
            <a:r>
              <a:rPr lang="en-US" dirty="0"/>
              <a:t>In order to establish service connection based on National Guard and Reserve status, the evidence must show a disease or injury incurred in or was aggravated by a period of active duty or </a:t>
            </a:r>
            <a:r>
              <a:rPr lang="en-US" b="1" dirty="0"/>
              <a:t>active duty for training</a:t>
            </a:r>
            <a:r>
              <a:rPr lang="en-US" dirty="0"/>
              <a:t>; or that an injury incurred in or was aggravated by a period of </a:t>
            </a:r>
            <a:r>
              <a:rPr lang="en-US" b="1" dirty="0"/>
              <a:t>inactive duty for training</a:t>
            </a:r>
            <a:r>
              <a:rPr lang="en-US" dirty="0"/>
              <a:t>. </a:t>
            </a:r>
          </a:p>
          <a:p>
            <a:endParaRPr lang="en-US" dirty="0"/>
          </a:p>
          <a:p>
            <a:r>
              <a:rPr lang="en-US" dirty="0"/>
              <a:t>Simply having a medical condition or injury arise while being a member of the National Guard or Reserves is not sufficient to establish service connection.  </a:t>
            </a:r>
          </a:p>
        </p:txBody>
      </p:sp>
    </p:spTree>
    <p:custDataLst>
      <p:tags r:id="rId1"/>
    </p:custDataLst>
    <p:extLst>
      <p:ext uri="{BB962C8B-B14F-4D97-AF65-F5344CB8AC3E}">
        <p14:creationId xmlns:p14="http://schemas.microsoft.com/office/powerpoint/2010/main" val="213452329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D0ABD-D189-33AC-1F34-743F02A27434}"/>
              </a:ext>
            </a:extLst>
          </p:cNvPr>
          <p:cNvSpPr>
            <a:spLocks noGrp="1"/>
          </p:cNvSpPr>
          <p:nvPr>
            <p:ph type="title"/>
          </p:nvPr>
        </p:nvSpPr>
        <p:spPr>
          <a:xfrm>
            <a:off x="0" y="793628"/>
            <a:ext cx="9144000" cy="804264"/>
          </a:xfrm>
        </p:spPr>
        <p:txBody>
          <a:bodyPr/>
          <a:lstStyle/>
          <a:p>
            <a:r>
              <a:rPr lang="en-US" sz="2800" dirty="0">
                <a:effectLst/>
                <a:latin typeface="Times New Roman" panose="02020603050405020304" pitchFamily="18" charset="0"/>
                <a:ea typeface="Times New Roman" panose="02020603050405020304" pitchFamily="18" charset="0"/>
              </a:rPr>
              <a:t>ACTIVE DUTY FOR TRAINING</a:t>
            </a:r>
            <a:endParaRPr lang="en-US" dirty="0"/>
          </a:p>
        </p:txBody>
      </p:sp>
      <p:sp>
        <p:nvSpPr>
          <p:cNvPr id="3" name="Content Placeholder 2">
            <a:extLst>
              <a:ext uri="{FF2B5EF4-FFF2-40B4-BE49-F238E27FC236}">
                <a16:creationId xmlns:a16="http://schemas.microsoft.com/office/drawing/2014/main" id="{CB9DBB33-33B2-40AD-E029-29D2BEB147AC}"/>
              </a:ext>
            </a:extLst>
          </p:cNvPr>
          <p:cNvSpPr>
            <a:spLocks noGrp="1"/>
          </p:cNvSpPr>
          <p:nvPr>
            <p:ph idx="1"/>
          </p:nvPr>
        </p:nvSpPr>
        <p:spPr/>
        <p:txBody>
          <a:bodyPr>
            <a:normAutofit/>
          </a:bodyPr>
          <a:lstStyle/>
          <a:p>
            <a:pPr marL="0" indent="0">
              <a:buNone/>
            </a:pPr>
            <a:r>
              <a:rPr lang="en-US" sz="2400" dirty="0">
                <a:effectLst/>
                <a:latin typeface="Times New Roman" panose="02020603050405020304" pitchFamily="18" charset="0"/>
                <a:ea typeface="Times New Roman" panose="02020603050405020304" pitchFamily="18" charset="0"/>
              </a:rPr>
              <a:t>Definition:  A tour of duty which is used for training members of the Reserve Components to provide trained units and qualified persons to fill the needs of the Armed Forces in time of war or national emergency and such other times as the national security requires. This includes Annual Training, special tours of Active Duty for Training, school tours, and the initial duty for training performed by non-prior service enlistees. (Also called ADT or ACDUTRA)</a:t>
            </a:r>
          </a:p>
          <a:p>
            <a:endParaRPr lang="en-US" dirty="0"/>
          </a:p>
        </p:txBody>
      </p:sp>
      <p:sp>
        <p:nvSpPr>
          <p:cNvPr id="4" name="Slide Number Placeholder 3">
            <a:extLst>
              <a:ext uri="{FF2B5EF4-FFF2-40B4-BE49-F238E27FC236}">
                <a16:creationId xmlns:a16="http://schemas.microsoft.com/office/drawing/2014/main" id="{FEE53021-D99F-57D6-5858-CB0658600C33}"/>
              </a:ext>
            </a:extLst>
          </p:cNvPr>
          <p:cNvSpPr>
            <a:spLocks noGrp="1"/>
          </p:cNvSpPr>
          <p:nvPr>
            <p:ph type="sldNum" sz="quarter" idx="12"/>
          </p:nvPr>
        </p:nvSpPr>
        <p:spPr/>
        <p:txBody>
          <a:bodyPr/>
          <a:lstStyle/>
          <a:p>
            <a:fld id="{36A6A193-2FDC-48DD-8023-1C75B05EEA9A}" type="slidenum">
              <a:rPr lang="en-US" smtClean="0"/>
              <a:t>13</a:t>
            </a:fld>
            <a:endParaRPr lang="en-US"/>
          </a:p>
        </p:txBody>
      </p:sp>
    </p:spTree>
    <p:extLst>
      <p:ext uri="{BB962C8B-B14F-4D97-AF65-F5344CB8AC3E}">
        <p14:creationId xmlns:p14="http://schemas.microsoft.com/office/powerpoint/2010/main" val="293778624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F9F9B-944F-4AEB-147A-34F4A5F5EF9C}"/>
              </a:ext>
            </a:extLst>
          </p:cNvPr>
          <p:cNvSpPr>
            <a:spLocks noGrp="1"/>
          </p:cNvSpPr>
          <p:nvPr>
            <p:ph type="title"/>
          </p:nvPr>
        </p:nvSpPr>
        <p:spPr/>
        <p:txBody>
          <a:bodyPr/>
          <a:lstStyle/>
          <a:p>
            <a:r>
              <a:rPr lang="en-US" dirty="0"/>
              <a:t>INACTIVE DUTY TRAINING</a:t>
            </a:r>
          </a:p>
        </p:txBody>
      </p:sp>
      <p:sp>
        <p:nvSpPr>
          <p:cNvPr id="3" name="Content Placeholder 2">
            <a:extLst>
              <a:ext uri="{FF2B5EF4-FFF2-40B4-BE49-F238E27FC236}">
                <a16:creationId xmlns:a16="http://schemas.microsoft.com/office/drawing/2014/main" id="{EE352F71-CED1-592B-2251-05E4514933DF}"/>
              </a:ext>
            </a:extLst>
          </p:cNvPr>
          <p:cNvSpPr>
            <a:spLocks noGrp="1"/>
          </p:cNvSpPr>
          <p:nvPr>
            <p:ph idx="1"/>
          </p:nvPr>
        </p:nvSpPr>
        <p:spPr>
          <a:xfrm>
            <a:off x="457200" y="2057400"/>
            <a:ext cx="8229600" cy="3188855"/>
          </a:xfrm>
        </p:spPr>
        <p:txBody>
          <a:bodyPr/>
          <a:lstStyle/>
          <a:p>
            <a:endParaRPr lang="en-US" sz="1800" dirty="0">
              <a:effectLst/>
              <a:latin typeface="Times New Roman" panose="02020603050405020304" pitchFamily="18" charset="0"/>
              <a:ea typeface="Times New Roman" panose="02020603050405020304" pitchFamily="18" charset="0"/>
            </a:endParaRPr>
          </a:p>
          <a:p>
            <a:r>
              <a:rPr lang="en-US" sz="2400" dirty="0">
                <a:effectLst/>
                <a:latin typeface="Times New Roman" panose="02020603050405020304" pitchFamily="18" charset="0"/>
                <a:ea typeface="Times New Roman" panose="02020603050405020304" pitchFamily="18" charset="0"/>
              </a:rPr>
              <a:t>Definition: Authorized training performed by a member of a Reserve Components not on Active </a:t>
            </a:r>
            <a:r>
              <a:rPr lang="en-US" sz="2400" dirty="0">
                <a:latin typeface="Times New Roman" panose="02020603050405020304" pitchFamily="18" charset="0"/>
                <a:ea typeface="Times New Roman" panose="02020603050405020304" pitchFamily="18" charset="0"/>
              </a:rPr>
              <a:t>D</a:t>
            </a:r>
            <a:r>
              <a:rPr lang="en-US" sz="2400" dirty="0">
                <a:effectLst/>
                <a:latin typeface="Times New Roman" panose="02020603050405020304" pitchFamily="18" charset="0"/>
                <a:ea typeface="Times New Roman" panose="02020603050405020304" pitchFamily="18" charset="0"/>
              </a:rPr>
              <a:t>uty or Active </a:t>
            </a:r>
            <a:r>
              <a:rPr lang="en-US" sz="2400" dirty="0">
                <a:latin typeface="Times New Roman" panose="02020603050405020304" pitchFamily="18" charset="0"/>
                <a:ea typeface="Times New Roman" panose="02020603050405020304" pitchFamily="18" charset="0"/>
              </a:rPr>
              <a:t>D</a:t>
            </a:r>
            <a:r>
              <a:rPr lang="en-US" sz="2400" dirty="0">
                <a:effectLst/>
                <a:latin typeface="Times New Roman" panose="02020603050405020304" pitchFamily="18" charset="0"/>
                <a:ea typeface="Times New Roman" panose="02020603050405020304" pitchFamily="18" charset="0"/>
              </a:rPr>
              <a:t>uty for Training and consisting of regularly scheduled unit training assemblies, or additional training assemblies (weekend drills)</a:t>
            </a:r>
            <a:endParaRPr lang="en-US" sz="2400" dirty="0"/>
          </a:p>
        </p:txBody>
      </p:sp>
      <p:sp>
        <p:nvSpPr>
          <p:cNvPr id="4" name="Slide Number Placeholder 3">
            <a:extLst>
              <a:ext uri="{FF2B5EF4-FFF2-40B4-BE49-F238E27FC236}">
                <a16:creationId xmlns:a16="http://schemas.microsoft.com/office/drawing/2014/main" id="{2DC5A913-458D-9874-2784-BB8DEA06A293}"/>
              </a:ext>
            </a:extLst>
          </p:cNvPr>
          <p:cNvSpPr>
            <a:spLocks noGrp="1"/>
          </p:cNvSpPr>
          <p:nvPr>
            <p:ph type="sldNum" sz="quarter" idx="12"/>
          </p:nvPr>
        </p:nvSpPr>
        <p:spPr/>
        <p:txBody>
          <a:bodyPr/>
          <a:lstStyle/>
          <a:p>
            <a:fld id="{7C414AED-89CE-4A48-8B2B-1B3A5C68EA2A}" type="slidenum">
              <a:rPr lang="en-US" smtClean="0"/>
              <a:t>14</a:t>
            </a:fld>
            <a:endParaRPr lang="en-US"/>
          </a:p>
        </p:txBody>
      </p:sp>
    </p:spTree>
    <p:extLst>
      <p:ext uri="{BB962C8B-B14F-4D97-AF65-F5344CB8AC3E}">
        <p14:creationId xmlns:p14="http://schemas.microsoft.com/office/powerpoint/2010/main" val="380713594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t>In-service Injury</a:t>
            </a:r>
          </a:p>
        </p:txBody>
      </p:sp>
      <p:sp>
        <p:nvSpPr>
          <p:cNvPr id="3" name="Content Placeholder 2"/>
          <p:cNvSpPr>
            <a:spLocks noGrp="1"/>
          </p:cNvSpPr>
          <p:nvPr>
            <p:ph idx="1"/>
            <p:custDataLst>
              <p:tags r:id="rId3"/>
            </p:custDataLst>
          </p:nvPr>
        </p:nvSpPr>
        <p:spPr>
          <a:xfrm>
            <a:off x="457200" y="2057400"/>
            <a:ext cx="8229600" cy="3916363"/>
          </a:xfrm>
        </p:spPr>
        <p:txBody>
          <a:bodyPr>
            <a:normAutofit/>
          </a:bodyPr>
          <a:lstStyle/>
          <a:p>
            <a:r>
              <a:rPr lang="en-US" sz="2000" dirty="0"/>
              <a:t>For the purposes of considering a claim for SC for posttraumatic stress disorder, a sexual assault that occurred during IADT is considered an “injury.” </a:t>
            </a:r>
          </a:p>
          <a:p>
            <a:endParaRPr lang="en-US" sz="2000" dirty="0"/>
          </a:p>
          <a:p>
            <a:r>
              <a:rPr lang="en-US" sz="2000" dirty="0"/>
              <a:t>A disabling condition as a result of administration of an anthrax vaccination during inactive duty training may be considered disabled by an “injury” incurred during such training. </a:t>
            </a:r>
          </a:p>
        </p:txBody>
      </p:sp>
      <p:sp>
        <p:nvSpPr>
          <p:cNvPr id="4" name="Slide Number Placeholder 3"/>
          <p:cNvSpPr>
            <a:spLocks noGrp="1"/>
          </p:cNvSpPr>
          <p:nvPr>
            <p:ph type="sldNum" sz="quarter" idx="12"/>
            <p:custDataLst>
              <p:tags r:id="rId4"/>
            </p:custDataLst>
          </p:nvPr>
        </p:nvSpPr>
        <p:spPr>
          <a:xfrm>
            <a:off x="6931152" y="6601974"/>
            <a:ext cx="2133600" cy="365125"/>
          </a:xfrm>
        </p:spPr>
        <p:txBody>
          <a:bodyPr/>
          <a:lstStyle/>
          <a:p>
            <a:fld id="{7C414AED-89CE-4A48-8B2B-1B3A5C68EA2A}" type="slidenum">
              <a:rPr lang="en-US" smtClean="0"/>
              <a:t>15</a:t>
            </a:fld>
            <a:endParaRPr lang="en-US"/>
          </a:p>
        </p:txBody>
      </p:sp>
    </p:spTree>
    <p:custDataLst>
      <p:tags r:id="rId1"/>
    </p:custDataLst>
    <p:extLst>
      <p:ext uri="{BB962C8B-B14F-4D97-AF65-F5344CB8AC3E}">
        <p14:creationId xmlns:p14="http://schemas.microsoft.com/office/powerpoint/2010/main" val="358940214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effectLst/>
              </a:rPr>
              <a:t>Academy Attendees</a:t>
            </a:r>
            <a:endParaRPr lang="en-US"/>
          </a:p>
        </p:txBody>
      </p:sp>
      <p:graphicFrame>
        <p:nvGraphicFramePr>
          <p:cNvPr id="5" name="Content Placeholder 4"/>
          <p:cNvGraphicFramePr>
            <a:graphicFrameLocks noGrp="1"/>
          </p:cNvGraphicFramePr>
          <p:nvPr>
            <p:ph idx="1"/>
            <p:custDataLst>
              <p:tags r:id="rId3"/>
            </p:custDataLst>
            <p:extLst>
              <p:ext uri="{D42A27DB-BD31-4B8C-83A1-F6EECF244321}">
                <p14:modId xmlns:p14="http://schemas.microsoft.com/office/powerpoint/2010/main" val="4150694895"/>
              </p:ext>
            </p:extLst>
          </p:nvPr>
        </p:nvGraphicFramePr>
        <p:xfrm>
          <a:off x="742850" y="2320353"/>
          <a:ext cx="7658299" cy="3710928"/>
        </p:xfrm>
        <a:graphic>
          <a:graphicData uri="http://schemas.openxmlformats.org/drawingml/2006/table">
            <a:tbl>
              <a:tblPr firstRow="1" bandRow="1">
                <a:effectLst>
                  <a:innerShdw blurRad="114300">
                    <a:prstClr val="black"/>
                  </a:innerShdw>
                </a:effectLst>
                <a:tableStyleId>{5C22544A-7EE6-4342-B048-85BDC9FD1C3A}</a:tableStyleId>
              </a:tblPr>
              <a:tblGrid>
                <a:gridCol w="1866826">
                  <a:extLst>
                    <a:ext uri="{9D8B030D-6E8A-4147-A177-3AD203B41FA5}">
                      <a16:colId xmlns:a16="http://schemas.microsoft.com/office/drawing/2014/main" val="20000"/>
                    </a:ext>
                  </a:extLst>
                </a:gridCol>
                <a:gridCol w="1808550">
                  <a:extLst>
                    <a:ext uri="{9D8B030D-6E8A-4147-A177-3AD203B41FA5}">
                      <a16:colId xmlns:a16="http://schemas.microsoft.com/office/drawing/2014/main" val="20001"/>
                    </a:ext>
                  </a:extLst>
                </a:gridCol>
                <a:gridCol w="3982923">
                  <a:extLst>
                    <a:ext uri="{9D8B030D-6E8A-4147-A177-3AD203B41FA5}">
                      <a16:colId xmlns:a16="http://schemas.microsoft.com/office/drawing/2014/main" val="20002"/>
                    </a:ext>
                  </a:extLst>
                </a:gridCol>
              </a:tblGrid>
              <a:tr h="354534">
                <a:tc>
                  <a:txBody>
                    <a:bodyPr/>
                    <a:lstStyle/>
                    <a:p>
                      <a:r>
                        <a:rPr lang="en-US" sz="1500" b="1">
                          <a:solidFill>
                            <a:schemeClr val="bg1"/>
                          </a:solidFill>
                          <a:effectLst/>
                          <a:latin typeface="Arial" panose="020B0604020202020204" pitchFamily="34" charset="0"/>
                          <a:cs typeface="Arial" panose="020B0604020202020204" pitchFamily="34" charset="0"/>
                        </a:rPr>
                        <a:t>If a(n) …</a:t>
                      </a:r>
                      <a:endParaRPr lang="en-US" sz="1500">
                        <a:solidFill>
                          <a:schemeClr val="bg1"/>
                        </a:solidFill>
                        <a:effectLst/>
                        <a:latin typeface="Arial" panose="020B0604020202020204" pitchFamily="34" charset="0"/>
                        <a:cs typeface="Arial" panose="020B0604020202020204" pitchFamily="34" charset="0"/>
                      </a:endParaRPr>
                    </a:p>
                  </a:txBody>
                  <a:tcPr marL="63976"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sz="1500" b="1">
                          <a:solidFill>
                            <a:schemeClr val="bg1"/>
                          </a:solidFill>
                          <a:effectLst/>
                          <a:latin typeface="Arial" panose="020B0604020202020204" pitchFamily="34" charset="0"/>
                          <a:cs typeface="Arial" panose="020B0604020202020204" pitchFamily="34" charset="0"/>
                        </a:rPr>
                        <a:t>Enters service … </a:t>
                      </a:r>
                      <a:endParaRPr lang="en-US" sz="1500">
                        <a:solidFill>
                          <a:schemeClr val="bg1"/>
                        </a:solidFill>
                        <a:effectLst/>
                        <a:latin typeface="Arial" panose="020B0604020202020204" pitchFamily="34" charset="0"/>
                        <a:cs typeface="Arial" panose="020B0604020202020204" pitchFamily="34" charset="0"/>
                      </a:endParaRP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60000"/>
                        <a:lumOff val="40000"/>
                      </a:schemeClr>
                    </a:solidFill>
                  </a:tcPr>
                </a:tc>
                <a:tc>
                  <a:txBody>
                    <a:bodyPr/>
                    <a:lstStyle/>
                    <a:p>
                      <a:r>
                        <a:rPr lang="en-US" sz="1500" b="1">
                          <a:solidFill>
                            <a:schemeClr val="bg1"/>
                          </a:solidFill>
                          <a:effectLst/>
                          <a:latin typeface="Arial" panose="020B0604020202020204" pitchFamily="34" charset="0"/>
                          <a:cs typeface="Arial" panose="020B0604020202020204" pitchFamily="34" charset="0"/>
                        </a:rPr>
                        <a:t>Then that service is characterized as …</a:t>
                      </a:r>
                      <a:endParaRPr lang="en-US" sz="1500">
                        <a:solidFill>
                          <a:schemeClr val="bg1"/>
                        </a:solidFill>
                        <a:effectLst/>
                        <a:latin typeface="Arial" panose="020B0604020202020204" pitchFamily="34" charset="0"/>
                        <a:cs typeface="Arial" panose="020B0604020202020204" pitchFamily="34" charset="0"/>
                      </a:endParaRPr>
                    </a:p>
                  </a:txBody>
                  <a:tcPr marL="63976"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1262140">
                <a:tc>
                  <a:txBody>
                    <a:bodyPr/>
                    <a:lstStyle/>
                    <a:p>
                      <a:pPr fontAlgn="t"/>
                      <a:r>
                        <a:rPr lang="en-US" sz="1500">
                          <a:solidFill>
                            <a:schemeClr val="tx1"/>
                          </a:solidFill>
                          <a:effectLst/>
                          <a:latin typeface="Arial" panose="020B0604020202020204" pitchFamily="34" charset="0"/>
                          <a:cs typeface="Arial" panose="020B0604020202020204" pitchFamily="34" charset="0"/>
                        </a:rPr>
                        <a:t>member of the</a:t>
                      </a:r>
                    </a:p>
                    <a:p>
                      <a:pPr marL="285750" indent="-285750" fontAlgn="t">
                        <a:buClr>
                          <a:schemeClr val="tx1"/>
                        </a:buClr>
                        <a:buFont typeface="Arial" panose="020B0604020202020204" pitchFamily="34" charset="0"/>
                        <a:buChar char="•"/>
                      </a:pPr>
                      <a:r>
                        <a:rPr lang="en-US" sz="1500">
                          <a:solidFill>
                            <a:schemeClr val="tx1"/>
                          </a:solidFill>
                          <a:effectLst/>
                          <a:latin typeface="Arial" panose="020B0604020202020204" pitchFamily="34" charset="0"/>
                          <a:cs typeface="Arial" panose="020B0604020202020204" pitchFamily="34" charset="0"/>
                        </a:rPr>
                        <a:t>National Guard, or</a:t>
                      </a:r>
                    </a:p>
                    <a:p>
                      <a:pPr marL="285750" indent="-285750" fontAlgn="t">
                        <a:buClr>
                          <a:schemeClr val="tx1"/>
                        </a:buClr>
                        <a:buFont typeface="Arial" panose="020B0604020202020204" pitchFamily="34" charset="0"/>
                        <a:buChar char="•"/>
                      </a:pPr>
                      <a:r>
                        <a:rPr lang="en-US" sz="1500">
                          <a:solidFill>
                            <a:schemeClr val="tx1"/>
                          </a:solidFill>
                          <a:effectLst/>
                          <a:latin typeface="Arial" panose="020B0604020202020204" pitchFamily="34" charset="0"/>
                          <a:cs typeface="Arial" panose="020B0604020202020204" pitchFamily="34" charset="0"/>
                        </a:rPr>
                        <a:t>Reserves</a:t>
                      </a: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fontAlgn="t"/>
                      <a:r>
                        <a:rPr lang="en-US" sz="1500">
                          <a:solidFill>
                            <a:schemeClr val="tx1"/>
                          </a:solidFill>
                          <a:effectLst/>
                          <a:latin typeface="Arial" panose="020B0604020202020204" pitchFamily="34" charset="0"/>
                          <a:cs typeface="Arial" panose="020B0604020202020204" pitchFamily="34" charset="0"/>
                        </a:rPr>
                        <a:t>for the sole purpose of attending the academy</a:t>
                      </a: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fontAlgn="t"/>
                      <a:r>
                        <a:rPr lang="en-US" sz="1500">
                          <a:solidFill>
                            <a:schemeClr val="tx1"/>
                          </a:solidFill>
                          <a:effectLst/>
                          <a:latin typeface="Arial" panose="020B0604020202020204" pitchFamily="34" charset="0"/>
                          <a:cs typeface="Arial" panose="020B0604020202020204" pitchFamily="34" charset="0"/>
                        </a:rPr>
                        <a:t>ADT.</a:t>
                      </a:r>
                    </a:p>
                    <a:p>
                      <a:pPr fontAlgn="t"/>
                      <a:endParaRPr lang="en-US" sz="1500">
                        <a:solidFill>
                          <a:schemeClr val="tx1"/>
                        </a:solidFill>
                        <a:effectLst/>
                        <a:latin typeface="Arial" panose="020B0604020202020204" pitchFamily="34" charset="0"/>
                        <a:cs typeface="Arial" panose="020B0604020202020204" pitchFamily="34" charset="0"/>
                      </a:endParaRPr>
                    </a:p>
                    <a:p>
                      <a:pPr fontAlgn="t"/>
                      <a:r>
                        <a:rPr lang="en-US" sz="1500" b="1" i="1">
                          <a:solidFill>
                            <a:schemeClr val="tx1"/>
                          </a:solidFill>
                          <a:effectLst/>
                          <a:latin typeface="Arial" panose="020B0604020202020204" pitchFamily="34" charset="0"/>
                          <a:cs typeface="Arial" panose="020B0604020202020204" pitchFamily="34" charset="0"/>
                        </a:rPr>
                        <a:t>Exception</a:t>
                      </a:r>
                      <a:r>
                        <a:rPr lang="en-US" sz="1500">
                          <a:solidFill>
                            <a:schemeClr val="tx1"/>
                          </a:solidFill>
                          <a:effectLst/>
                          <a:latin typeface="Arial" panose="020B0604020202020204" pitchFamily="34" charset="0"/>
                          <a:cs typeface="Arial" panose="020B0604020202020204" pitchFamily="34" charset="0"/>
                        </a:rPr>
                        <a:t>:  If the service member continues on to active duty after the academy, consider the academy time as active duty.</a:t>
                      </a: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1"/>
                  </a:ext>
                </a:extLst>
              </a:tr>
              <a:tr h="1262140">
                <a:tc>
                  <a:txBody>
                    <a:bodyPr/>
                    <a:lstStyle/>
                    <a:p>
                      <a:pPr fontAlgn="t"/>
                      <a:r>
                        <a:rPr lang="en-US" sz="1500">
                          <a:solidFill>
                            <a:schemeClr val="tx1"/>
                          </a:solidFill>
                          <a:effectLst/>
                          <a:latin typeface="Arial" panose="020B0604020202020204" pitchFamily="34" charset="0"/>
                          <a:cs typeface="Arial" panose="020B0604020202020204" pitchFamily="34" charset="0"/>
                        </a:rPr>
                        <a:t>civilian</a:t>
                      </a: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fontAlgn="t"/>
                      <a:r>
                        <a:rPr lang="en-US" sz="1500" dirty="0">
                          <a:solidFill>
                            <a:schemeClr val="tx1"/>
                          </a:solidFill>
                          <a:effectLst/>
                          <a:latin typeface="Arial" panose="020B0604020202020204" pitchFamily="34" charset="0"/>
                          <a:cs typeface="Arial" panose="020B0604020202020204" pitchFamily="34" charset="0"/>
                        </a:rPr>
                        <a:t>for the sole purpose of attending the academy</a:t>
                      </a: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fontAlgn="t"/>
                      <a:r>
                        <a:rPr lang="en-US" sz="1500">
                          <a:solidFill>
                            <a:schemeClr val="tx1"/>
                          </a:solidFill>
                          <a:effectLst/>
                          <a:latin typeface="Arial" panose="020B0604020202020204" pitchFamily="34" charset="0"/>
                          <a:cs typeface="Arial" panose="020B0604020202020204" pitchFamily="34" charset="0"/>
                        </a:rPr>
                        <a:t>ADT.</a:t>
                      </a:r>
                    </a:p>
                    <a:p>
                      <a:pPr fontAlgn="t"/>
                      <a:endParaRPr lang="en-US" sz="1500">
                        <a:solidFill>
                          <a:schemeClr val="tx1"/>
                        </a:solidFill>
                        <a:effectLst/>
                        <a:latin typeface="Arial" panose="020B0604020202020204" pitchFamily="34" charset="0"/>
                        <a:cs typeface="Arial" panose="020B0604020202020204" pitchFamily="34" charset="0"/>
                      </a:endParaRPr>
                    </a:p>
                    <a:p>
                      <a:pPr fontAlgn="t"/>
                      <a:r>
                        <a:rPr lang="en-US" sz="1500" b="1" i="1">
                          <a:solidFill>
                            <a:schemeClr val="tx1"/>
                          </a:solidFill>
                          <a:effectLst/>
                          <a:latin typeface="Arial" panose="020B0604020202020204" pitchFamily="34" charset="0"/>
                          <a:cs typeface="Arial" panose="020B0604020202020204" pitchFamily="34" charset="0"/>
                        </a:rPr>
                        <a:t>Exception</a:t>
                      </a:r>
                      <a:r>
                        <a:rPr lang="en-US" sz="1500">
                          <a:solidFill>
                            <a:schemeClr val="tx1"/>
                          </a:solidFill>
                          <a:effectLst/>
                          <a:latin typeface="Arial" panose="020B0604020202020204" pitchFamily="34" charset="0"/>
                          <a:cs typeface="Arial" panose="020B0604020202020204" pitchFamily="34" charset="0"/>
                        </a:rPr>
                        <a:t>:  If the service member continues on to active duty after the academy, consider the academy time as active duty.</a:t>
                      </a: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808337">
                <a:tc>
                  <a:txBody>
                    <a:bodyPr/>
                    <a:lstStyle/>
                    <a:p>
                      <a:pPr fontAlgn="t"/>
                      <a:r>
                        <a:rPr lang="en-US" sz="1500">
                          <a:solidFill>
                            <a:schemeClr val="tx1"/>
                          </a:solidFill>
                          <a:effectLst/>
                          <a:latin typeface="Arial" panose="020B0604020202020204" pitchFamily="34" charset="0"/>
                          <a:cs typeface="Arial" panose="020B0604020202020204" pitchFamily="34" charset="0"/>
                        </a:rPr>
                        <a:t>active duty service member</a:t>
                      </a: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fontAlgn="t"/>
                      <a:r>
                        <a:rPr lang="en-US" sz="1500">
                          <a:solidFill>
                            <a:schemeClr val="tx1"/>
                          </a:solidFill>
                          <a:effectLst/>
                          <a:latin typeface="Arial" panose="020B0604020202020204" pitchFamily="34" charset="0"/>
                          <a:cs typeface="Arial" panose="020B0604020202020204" pitchFamily="34" charset="0"/>
                        </a:rPr>
                        <a:t>without receiving a release from active duty</a:t>
                      </a: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fontAlgn="t"/>
                      <a:r>
                        <a:rPr lang="en-US" sz="1500" dirty="0">
                          <a:solidFill>
                            <a:schemeClr val="tx1"/>
                          </a:solidFill>
                          <a:effectLst/>
                          <a:latin typeface="Arial" panose="020B0604020202020204" pitchFamily="34" charset="0"/>
                          <a:cs typeface="Arial" panose="020B0604020202020204" pitchFamily="34" charset="0"/>
                        </a:rPr>
                        <a:t>active duty.</a:t>
                      </a:r>
                    </a:p>
                  </a:txBody>
                  <a:tcPr marL="63976" marR="63976" marT="63816" marB="63816"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3"/>
                  </a:ext>
                </a:extLst>
              </a:tr>
            </a:tbl>
          </a:graphicData>
        </a:graphic>
      </p:graphicFrame>
      <p:sp>
        <p:nvSpPr>
          <p:cNvPr id="4" name="Slide Number Placeholder 3"/>
          <p:cNvSpPr>
            <a:spLocks noGrp="1"/>
          </p:cNvSpPr>
          <p:nvPr>
            <p:ph type="sldNum" sz="quarter" idx="12"/>
            <p:custDataLst>
              <p:tags r:id="rId4"/>
            </p:custDataLst>
          </p:nvPr>
        </p:nvSpPr>
        <p:spPr>
          <a:xfrm>
            <a:off x="6931152" y="6601974"/>
            <a:ext cx="2133600" cy="365125"/>
          </a:xfrm>
        </p:spPr>
        <p:txBody>
          <a:bodyPr/>
          <a:lstStyle/>
          <a:p>
            <a:fld id="{7C414AED-89CE-4A48-8B2B-1B3A5C68EA2A}" type="slidenum">
              <a:rPr lang="en-US" smtClean="0"/>
              <a:t>16</a:t>
            </a:fld>
            <a:endParaRPr lang="en-US"/>
          </a:p>
        </p:txBody>
      </p:sp>
      <p:sp>
        <p:nvSpPr>
          <p:cNvPr id="6" name="Content Placeholder 2"/>
          <p:cNvSpPr txBox="1"/>
          <p:nvPr>
            <p:custDataLst>
              <p:tags r:id="rId5"/>
            </p:custDataLst>
          </p:nvPr>
        </p:nvSpPr>
        <p:spPr bwMode="auto">
          <a:xfrm>
            <a:off x="348936" y="1880496"/>
            <a:ext cx="8209430" cy="400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9056" tIns="34529" rIns="69056" bIns="34529" numCol="1" anchor="t" anchorCtr="0" compatLnSpc="1">
            <a:prstTxWarp prst="textNoShape">
              <a:avLst/>
            </a:prstTxWarp>
            <a:normAutofit/>
          </a:bodyPr>
          <a:lstStyle>
            <a:lvl1pPr marL="342900" indent="-342900" algn="l" rtl="0" eaLnBrk="1" fontAlgn="base" hangingPunct="1">
              <a:spcBef>
                <a:spcPct val="20000"/>
              </a:spcBef>
              <a:spcAft>
                <a:spcPct val="0"/>
              </a:spcAft>
              <a:buClr>
                <a:schemeClr val="accent6">
                  <a:lumMod val="75000"/>
                </a:schemeClr>
              </a:buClr>
              <a:buFont typeface="Wingdings" panose="05000000000000000000" pitchFamily="2" charset="2"/>
              <a:buChar char="Ø"/>
              <a:defRPr sz="2800">
                <a:solidFill>
                  <a:srgbClr val="1D3275"/>
                </a:solidFill>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20000"/>
              </a:spcBef>
              <a:spcAft>
                <a:spcPct val="0"/>
              </a:spcAft>
              <a:buClr>
                <a:srgbClr val="C00000"/>
              </a:buClr>
              <a:buFont typeface="Wingdings" panose="05000000000000000000" pitchFamily="2" charset="2"/>
              <a:buChar char="v"/>
              <a:defRPr sz="2400">
                <a:solidFill>
                  <a:srgbClr val="1D3275"/>
                </a:solidFill>
                <a:latin typeface="Times New Roman" panose="02020603050405020304" pitchFamily="18" charset="0"/>
                <a:cs typeface="Times New Roman" panose="02020603050405020304" pitchFamily="18" charset="0"/>
              </a:defRPr>
            </a:lvl2pPr>
            <a:lvl3pPr marL="1143000" indent="-228600" algn="l" rtl="0" eaLnBrk="1" fontAlgn="base" hangingPunct="1">
              <a:spcBef>
                <a:spcPct val="20000"/>
              </a:spcBef>
              <a:spcAft>
                <a:spcPct val="0"/>
              </a:spcAft>
              <a:buClr>
                <a:schemeClr val="accent2"/>
              </a:buClr>
              <a:buFont typeface="Courier New" panose="02070309020205020404" pitchFamily="49" charset="0"/>
              <a:buChar char="o"/>
              <a:defRPr sz="2000">
                <a:solidFill>
                  <a:srgbClr val="1D3275"/>
                </a:solidFill>
                <a:latin typeface="Times New Roman" panose="02020603050405020304" pitchFamily="18" charset="0"/>
                <a:cs typeface="Times New Roman" panose="02020603050405020304" pitchFamily="18" charset="0"/>
              </a:defRPr>
            </a:lvl3pPr>
            <a:lvl4pPr marL="1600200" indent="-228600" algn="l" rtl="0" eaLnBrk="1" fontAlgn="base" hangingPunct="1">
              <a:spcBef>
                <a:spcPct val="20000"/>
              </a:spcBef>
              <a:spcAft>
                <a:spcPct val="0"/>
              </a:spcAft>
              <a:buClr>
                <a:srgbClr val="FF0000"/>
              </a:buClr>
              <a:buFont typeface="Arial" panose="020B0604020202020204" pitchFamily="34" charset="0"/>
              <a:buChar char="•"/>
              <a:defRPr sz="2000">
                <a:solidFill>
                  <a:srgbClr val="1D3275"/>
                </a:solidFill>
                <a:latin typeface="Times New Roman" panose="02020603050405020304" pitchFamily="18" charset="0"/>
                <a:cs typeface="Times New Roman" panose="02020603050405020304" pitchFamily="18" charset="0"/>
              </a:defRPr>
            </a:lvl4pPr>
            <a:lvl5pPr marL="2057400" indent="-228600" algn="l" rtl="0" eaLnBrk="1" fontAlgn="base" hangingPunct="1">
              <a:spcBef>
                <a:spcPct val="20000"/>
              </a:spcBef>
              <a:spcAft>
                <a:spcPct val="0"/>
              </a:spcAft>
              <a:buClr>
                <a:schemeClr val="accent2"/>
              </a:buClr>
              <a:buFont typeface="Times New Roman" panose="02020603050405020304" pitchFamily="18" charset="0"/>
              <a:buChar char="̴"/>
              <a:defRPr sz="2000">
                <a:solidFill>
                  <a:srgbClr val="1D3275"/>
                </a:solidFill>
                <a:latin typeface="Times New Roman" panose="02020603050405020304" pitchFamily="18" charset="0"/>
                <a:cs typeface="Times New Roman" panose="02020603050405020304" pitchFamily="18" charset="0"/>
              </a:defRPr>
            </a:lvl5pPr>
            <a:lvl6pPr marL="2514600" indent="-228600" algn="l" rtl="0" eaLnBrk="1" fontAlgn="base" hangingPunct="1">
              <a:spcBef>
                <a:spcPct val="20000"/>
              </a:spcBef>
              <a:spcAft>
                <a:spcPct val="0"/>
              </a:spcAft>
              <a:buChar char="»"/>
              <a:defRPr>
                <a:solidFill>
                  <a:srgbClr val="1D3275"/>
                </a:solidFill>
                <a:latin typeface="+mn-lt"/>
              </a:defRPr>
            </a:lvl6pPr>
            <a:lvl7pPr marL="2971800" indent="-228600" algn="l" rtl="0" eaLnBrk="1" fontAlgn="base" hangingPunct="1">
              <a:spcBef>
                <a:spcPct val="20000"/>
              </a:spcBef>
              <a:spcAft>
                <a:spcPct val="0"/>
              </a:spcAft>
              <a:buChar char="»"/>
              <a:defRPr>
                <a:solidFill>
                  <a:srgbClr val="1D3275"/>
                </a:solidFill>
                <a:latin typeface="+mn-lt"/>
              </a:defRPr>
            </a:lvl7pPr>
            <a:lvl8pPr marL="3429000" indent="-228600" algn="l" rtl="0" eaLnBrk="1" fontAlgn="base" hangingPunct="1">
              <a:spcBef>
                <a:spcPct val="20000"/>
              </a:spcBef>
              <a:spcAft>
                <a:spcPct val="0"/>
              </a:spcAft>
              <a:buChar char="»"/>
              <a:defRPr>
                <a:solidFill>
                  <a:srgbClr val="1D3275"/>
                </a:solidFill>
                <a:latin typeface="+mn-lt"/>
              </a:defRPr>
            </a:lvl8pPr>
            <a:lvl9pPr marL="3886200" indent="-228600" algn="l" rtl="0" eaLnBrk="1" fontAlgn="base" hangingPunct="1">
              <a:spcBef>
                <a:spcPct val="20000"/>
              </a:spcBef>
              <a:spcAft>
                <a:spcPct val="0"/>
              </a:spcAft>
              <a:buChar char="»"/>
              <a:defRPr>
                <a:solidFill>
                  <a:srgbClr val="1D3275"/>
                </a:solidFill>
                <a:latin typeface="+mn-lt"/>
              </a:defRPr>
            </a:lvl9pPr>
          </a:lstStyle>
          <a:p>
            <a:pPr>
              <a:spcBef>
                <a:spcPct val="0"/>
              </a:spcBef>
              <a:spcAft>
                <a:spcPts val="600"/>
              </a:spcAft>
              <a:buClr>
                <a:schemeClr val="tx1"/>
              </a:buClr>
              <a:buFont typeface="Arial" panose="020B0604020202020204" pitchFamily="34" charset="0"/>
              <a:buChar char="•"/>
            </a:pPr>
            <a:r>
              <a:rPr lang="en-US" sz="1800" kern="0">
                <a:solidFill>
                  <a:schemeClr val="tx1"/>
                </a:solidFill>
                <a:latin typeface="Arial" panose="020B0604020202020204" pitchFamily="34" charset="0"/>
                <a:cs typeface="Arial" panose="020B0604020202020204" pitchFamily="34" charset="0"/>
              </a:rPr>
              <a:t>United States Military, Air Force, or Naval Academy Preparatory School</a:t>
            </a:r>
          </a:p>
        </p:txBody>
      </p:sp>
    </p:spTree>
    <p:custDataLst>
      <p:tags r:id="rId1"/>
    </p:custDataLst>
    <p:extLst>
      <p:ext uri="{BB962C8B-B14F-4D97-AF65-F5344CB8AC3E}">
        <p14:creationId xmlns:p14="http://schemas.microsoft.com/office/powerpoint/2010/main" val="260749010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F7324-621A-3B03-2E5C-49EFE3F23A64}"/>
              </a:ext>
            </a:extLst>
          </p:cNvPr>
          <p:cNvSpPr>
            <a:spLocks noGrp="1"/>
          </p:cNvSpPr>
          <p:nvPr>
            <p:ph type="title"/>
          </p:nvPr>
        </p:nvSpPr>
        <p:spPr>
          <a:xfrm>
            <a:off x="0" y="793627"/>
            <a:ext cx="9144000" cy="1164481"/>
          </a:xfrm>
        </p:spPr>
        <p:txBody>
          <a:bodyPr/>
          <a:lstStyle/>
          <a:p>
            <a:br>
              <a:rPr lang="en-US" dirty="0"/>
            </a:br>
            <a:r>
              <a:rPr lang="en-US" dirty="0"/>
              <a:t>3 Different Types of Guard/ Reserve Assignments</a:t>
            </a:r>
          </a:p>
        </p:txBody>
      </p:sp>
      <p:sp>
        <p:nvSpPr>
          <p:cNvPr id="3" name="Content Placeholder 2">
            <a:extLst>
              <a:ext uri="{FF2B5EF4-FFF2-40B4-BE49-F238E27FC236}">
                <a16:creationId xmlns:a16="http://schemas.microsoft.com/office/drawing/2014/main" id="{B6499BA4-92AE-1E9C-676B-FA0573172D93}"/>
              </a:ext>
            </a:extLst>
          </p:cNvPr>
          <p:cNvSpPr>
            <a:spLocks noGrp="1"/>
          </p:cNvSpPr>
          <p:nvPr>
            <p:ph idx="1"/>
          </p:nvPr>
        </p:nvSpPr>
        <p:spPr>
          <a:xfrm>
            <a:off x="452582" y="1357746"/>
            <a:ext cx="8234218" cy="4987636"/>
          </a:xfrm>
        </p:spPr>
        <p:txBody>
          <a:bodyPr>
            <a:normAutofit/>
          </a:bodyPr>
          <a:lstStyle/>
          <a:p>
            <a:pPr marL="0" marR="0"/>
            <a:endParaRPr lang="en-US" sz="1800" dirty="0">
              <a:latin typeface="Times New Roman" panose="02020603050405020304" pitchFamily="18" charset="0"/>
              <a:ea typeface="Times New Roman" panose="02020603050405020304" pitchFamily="18" charset="0"/>
            </a:endParaRPr>
          </a:p>
          <a:p>
            <a:pPr marR="0" algn="ctr"/>
            <a:r>
              <a:rPr lang="en-US" sz="1800" dirty="0">
                <a:effectLst/>
                <a:latin typeface="Times New Roman" panose="02020603050405020304" pitchFamily="18" charset="0"/>
                <a:ea typeface="Times New Roman" panose="02020603050405020304" pitchFamily="18" charset="0"/>
              </a:rPr>
              <a:t>“</a:t>
            </a:r>
            <a:r>
              <a:rPr lang="en-US" sz="1800" b="1" dirty="0">
                <a:effectLst/>
                <a:latin typeface="Times New Roman" panose="02020603050405020304" pitchFamily="18" charset="0"/>
                <a:ea typeface="Times New Roman" panose="02020603050405020304" pitchFamily="18" charset="0"/>
              </a:rPr>
              <a:t>Traditional” Guardsman or Reservist</a:t>
            </a:r>
          </a:p>
          <a:p>
            <a:endParaRPr lang="en-US" dirty="0"/>
          </a:p>
          <a:p>
            <a:pPr marL="385763" lvl="2" indent="0">
              <a:buNone/>
            </a:pPr>
            <a:r>
              <a:rPr lang="en-US" dirty="0">
                <a:latin typeface="Times New Roman" panose="02020603050405020304" pitchFamily="18" charset="0"/>
                <a:cs typeface="Times New Roman" panose="02020603050405020304" pitchFamily="18" charset="0"/>
              </a:rPr>
              <a:t> - 	  </a:t>
            </a:r>
            <a:r>
              <a:rPr lang="en-US" sz="1800" dirty="0">
                <a:latin typeface="Times New Roman" panose="02020603050405020304" pitchFamily="18" charset="0"/>
                <a:cs typeface="Times New Roman" panose="02020603050405020304" pitchFamily="18" charset="0"/>
              </a:rPr>
              <a:t>Initial period of basic training and specialized job skill training, (may be split) </a:t>
            </a:r>
          </a:p>
          <a:p>
            <a:pPr marL="0" marR="0" indent="457200"/>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Participates in weekend drills</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 (IADT)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 Two-week annual training (ADT)</a:t>
            </a:r>
          </a:p>
          <a:p>
            <a:pPr marL="914400" indent="-457200"/>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ea typeface="Times New Roman" panose="02020603050405020304" pitchFamily="18" charset="0"/>
              </a:rPr>
              <a:t>A service-connected disability will turn IADT/ADT into “Active Duty”</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indent="-457200"/>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DD Form 214 is issued for periods of ADT (i.e.) Basic </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raining.  Although Annual </a:t>
            </a:r>
            <a:r>
              <a:rPr lang="en-US" sz="1800" dirty="0">
                <a:latin typeface="Times New Roman" panose="02020603050405020304" pitchFamily="18" charset="0"/>
                <a:ea typeface="Times New Roman" panose="02020603050405020304" pitchFamily="18" charset="0"/>
                <a:cs typeface="Times New Roman" panose="02020603050405020304" pitchFamily="18" charset="0"/>
              </a:rPr>
              <a:t>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raining is considered to be ADT, no DD form 214 is issued. </a:t>
            </a:r>
          </a:p>
          <a:p>
            <a:pPr marL="914400" marR="0" indent="-457200"/>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NGB 22 is issued for other duty service verification	</a:t>
            </a:r>
          </a:p>
          <a:p>
            <a:pPr marL="914400" marR="0" indent="-457200">
              <a:buFontTx/>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Eligible to receive retirement after age 60</a:t>
            </a:r>
          </a:p>
          <a:p>
            <a:pPr marL="914400" marR="0" indent="-457200">
              <a:buFontTx/>
              <a:buChar char="-"/>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May be put on orders temporarily when federally activated under Title 10;  or may be put on orders temporarily when state activated under Title 32 for ADSW (Active Duty for Special Work) or ADOS ( Active Duty for Operational Support)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0BA82AB3-EA9E-EC13-5D16-6AF8FE05140F}"/>
              </a:ext>
            </a:extLst>
          </p:cNvPr>
          <p:cNvSpPr>
            <a:spLocks noGrp="1"/>
          </p:cNvSpPr>
          <p:nvPr>
            <p:ph type="sldNum" sz="quarter" idx="12"/>
          </p:nvPr>
        </p:nvSpPr>
        <p:spPr/>
        <p:txBody>
          <a:bodyPr/>
          <a:lstStyle/>
          <a:p>
            <a:fld id="{7C414AED-89CE-4A48-8B2B-1B3A5C68EA2A}" type="slidenum">
              <a:rPr lang="en-US" smtClean="0"/>
              <a:t>17</a:t>
            </a:fld>
            <a:endParaRPr lang="en-US"/>
          </a:p>
        </p:txBody>
      </p:sp>
    </p:spTree>
    <p:extLst>
      <p:ext uri="{BB962C8B-B14F-4D97-AF65-F5344CB8AC3E}">
        <p14:creationId xmlns:p14="http://schemas.microsoft.com/office/powerpoint/2010/main" val="200354007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42EB7-793E-B218-82ED-21F868B408A8}"/>
              </a:ext>
            </a:extLst>
          </p:cNvPr>
          <p:cNvSpPr>
            <a:spLocks noGrp="1"/>
          </p:cNvSpPr>
          <p:nvPr>
            <p:ph type="title"/>
          </p:nvPr>
        </p:nvSpPr>
        <p:spPr/>
        <p:txBody>
          <a:bodyPr/>
          <a:lstStyle/>
          <a:p>
            <a:br>
              <a:rPr lang="en-US" dirty="0"/>
            </a:br>
            <a:r>
              <a:rPr lang="en-US" dirty="0"/>
              <a:t>3 Different Types of Guard/Reserve Assignments</a:t>
            </a:r>
          </a:p>
        </p:txBody>
      </p:sp>
      <p:sp>
        <p:nvSpPr>
          <p:cNvPr id="3" name="Content Placeholder 2">
            <a:extLst>
              <a:ext uri="{FF2B5EF4-FFF2-40B4-BE49-F238E27FC236}">
                <a16:creationId xmlns:a16="http://schemas.microsoft.com/office/drawing/2014/main" id="{A3630C31-173B-515C-308C-324023FAE28E}"/>
              </a:ext>
            </a:extLst>
          </p:cNvPr>
          <p:cNvSpPr>
            <a:spLocks noGrp="1"/>
          </p:cNvSpPr>
          <p:nvPr>
            <p:ph idx="1"/>
          </p:nvPr>
        </p:nvSpPr>
        <p:spPr>
          <a:xfrm>
            <a:off x="457200" y="1880494"/>
            <a:ext cx="8229600" cy="4721480"/>
          </a:xfrm>
        </p:spPr>
        <p:txBody>
          <a:bodyPr>
            <a:normAutofit fontScale="85000" lnSpcReduction="20000"/>
          </a:bodyPr>
          <a:lstStyle/>
          <a:p>
            <a:pPr marL="0" marR="0" algn="ctr"/>
            <a:r>
              <a:rPr lang="en-US" sz="2000" b="1" dirty="0">
                <a:effectLst/>
                <a:latin typeface="Times New Roman" panose="02020603050405020304" pitchFamily="18" charset="0"/>
                <a:ea typeface="Times New Roman" panose="02020603050405020304" pitchFamily="18" charset="0"/>
              </a:rPr>
              <a:t>Civilian </a:t>
            </a:r>
            <a:r>
              <a:rPr lang="en-US" b="1" dirty="0">
                <a:latin typeface="Times New Roman" panose="02020603050405020304" pitchFamily="18" charset="0"/>
                <a:ea typeface="Times New Roman" panose="02020603050405020304" pitchFamily="18" charset="0"/>
              </a:rPr>
              <a:t>E</a:t>
            </a:r>
            <a:r>
              <a:rPr lang="en-US" sz="2000" b="1" dirty="0">
                <a:effectLst/>
                <a:latin typeface="Times New Roman" panose="02020603050405020304" pitchFamily="18" charset="0"/>
                <a:ea typeface="Times New Roman" panose="02020603050405020304" pitchFamily="18" charset="0"/>
              </a:rPr>
              <a:t>mployee/ Technician </a:t>
            </a:r>
          </a:p>
          <a:p>
            <a:pPr marL="0" marR="0" algn="ctr"/>
            <a:endParaRPr lang="en-US" sz="2100" b="1" dirty="0">
              <a:effectLst/>
              <a:latin typeface="Times New Roman" panose="02020603050405020304" pitchFamily="18" charset="0"/>
              <a:ea typeface="Times New Roman" panose="02020603050405020304" pitchFamily="18" charset="0"/>
            </a:endParaRPr>
          </a:p>
          <a:p>
            <a:pPr marL="914400" marR="0" indent="-457200">
              <a:buFontTx/>
              <a:buChar char="-"/>
            </a:pPr>
            <a:r>
              <a:rPr lang="en-US" sz="2100" dirty="0">
                <a:effectLst/>
                <a:latin typeface="Times New Roman" panose="02020603050405020304" pitchFamily="18" charset="0"/>
                <a:ea typeface="Times New Roman" panose="02020603050405020304" pitchFamily="18" charset="0"/>
              </a:rPr>
              <a:t>Civil Service </a:t>
            </a:r>
            <a:r>
              <a:rPr lang="en-US" sz="2100" dirty="0">
                <a:latin typeface="Times New Roman" panose="02020603050405020304" pitchFamily="18" charset="0"/>
                <a:ea typeface="Times New Roman" panose="02020603050405020304" pitchFamily="18" charset="0"/>
              </a:rPr>
              <a:t>E</a:t>
            </a:r>
            <a:r>
              <a:rPr lang="en-US" sz="2100" dirty="0">
                <a:effectLst/>
                <a:latin typeface="Times New Roman" panose="02020603050405020304" pitchFamily="18" charset="0"/>
                <a:ea typeface="Times New Roman" panose="02020603050405020304" pitchFamily="18" charset="0"/>
              </a:rPr>
              <a:t>mployee who </a:t>
            </a:r>
            <a:r>
              <a:rPr lang="en-US" sz="2100" dirty="0">
                <a:latin typeface="Times New Roman" panose="02020603050405020304" pitchFamily="18" charset="0"/>
                <a:ea typeface="Times New Roman" panose="02020603050405020304" pitchFamily="18" charset="0"/>
              </a:rPr>
              <a:t>wears military uniform </a:t>
            </a:r>
            <a:r>
              <a:rPr lang="en-US" sz="2100" dirty="0">
                <a:effectLst/>
                <a:latin typeface="Times New Roman" panose="02020603050405020304" pitchFamily="18" charset="0"/>
                <a:ea typeface="Times New Roman" panose="02020603050405020304" pitchFamily="18" charset="0"/>
              </a:rPr>
              <a:t>during the 40-hour work week </a:t>
            </a:r>
          </a:p>
          <a:p>
            <a:pPr marL="914400" indent="-457200">
              <a:buFontTx/>
              <a:buChar char="-"/>
            </a:pPr>
            <a:r>
              <a:rPr lang="en-US" sz="2100" dirty="0">
                <a:latin typeface="Times New Roman" panose="02020603050405020304" pitchFamily="18" charset="0"/>
                <a:ea typeface="Times New Roman" panose="02020603050405020304" pitchFamily="18" charset="0"/>
              </a:rPr>
              <a:t>Also obligated to be a member of the Guard/Reserves and participate in weekend drills and annual summer training</a:t>
            </a:r>
          </a:p>
          <a:p>
            <a:pPr marL="914400" marR="0" indent="-457200">
              <a:buFontTx/>
              <a:buChar char="-"/>
            </a:pPr>
            <a:r>
              <a:rPr lang="en-US" sz="2100" dirty="0">
                <a:latin typeface="Times New Roman" panose="02020603050405020304" pitchFamily="18" charset="0"/>
                <a:ea typeface="Times New Roman" panose="02020603050405020304" pitchFamily="18" charset="0"/>
              </a:rPr>
              <a:t>Are covered under WORKERS COMPENSATION for injuries sustained AT WORK</a:t>
            </a:r>
          </a:p>
          <a:p>
            <a:pPr marL="0" marR="0" indent="457200"/>
            <a:r>
              <a:rPr lang="en-US" sz="2100" dirty="0">
                <a:effectLst/>
                <a:latin typeface="Times New Roman" panose="02020603050405020304" pitchFamily="18" charset="0"/>
                <a:ea typeface="Times New Roman" panose="02020603050405020304" pitchFamily="18" charset="0"/>
              </a:rPr>
              <a:t>-	  A service-connected disability will turn IADT/ADT into “Active </a:t>
            </a:r>
            <a:r>
              <a:rPr lang="en-US" sz="2100" dirty="0">
                <a:latin typeface="Times New Roman" panose="02020603050405020304" pitchFamily="18" charset="0"/>
                <a:ea typeface="Times New Roman" panose="02020603050405020304" pitchFamily="18" charset="0"/>
              </a:rPr>
              <a:t>D</a:t>
            </a:r>
            <a:r>
              <a:rPr lang="en-US" sz="2100" dirty="0">
                <a:effectLst/>
                <a:latin typeface="Times New Roman" panose="02020603050405020304" pitchFamily="18" charset="0"/>
                <a:ea typeface="Times New Roman" panose="02020603050405020304" pitchFamily="18" charset="0"/>
              </a:rPr>
              <a:t>uty”</a:t>
            </a:r>
          </a:p>
          <a:p>
            <a:pPr marL="914400" marR="0" indent="-457200"/>
            <a:r>
              <a:rPr lang="en-US" sz="2100" dirty="0">
                <a:effectLst/>
                <a:latin typeface="Times New Roman" panose="02020603050405020304" pitchFamily="18" charset="0"/>
                <a:ea typeface="Times New Roman" panose="02020603050405020304" pitchFamily="18" charset="0"/>
              </a:rPr>
              <a:t>-	DD Form 214 is issued for periods of ADT (i.e.) Basic </a:t>
            </a:r>
            <a:r>
              <a:rPr lang="en-US" sz="2100" dirty="0">
                <a:latin typeface="Times New Roman" panose="02020603050405020304" pitchFamily="18" charset="0"/>
                <a:ea typeface="Times New Roman" panose="02020603050405020304" pitchFamily="18" charset="0"/>
              </a:rPr>
              <a:t>T</a:t>
            </a:r>
            <a:r>
              <a:rPr lang="en-US" sz="2100" dirty="0">
                <a:effectLst/>
                <a:latin typeface="Times New Roman" panose="02020603050405020304" pitchFamily="18" charset="0"/>
                <a:ea typeface="Times New Roman" panose="02020603050405020304" pitchFamily="18" charset="0"/>
              </a:rPr>
              <a:t>raining.  Although Annual </a:t>
            </a:r>
            <a:r>
              <a:rPr lang="en-US" sz="2100" dirty="0">
                <a:latin typeface="Times New Roman" panose="02020603050405020304" pitchFamily="18" charset="0"/>
                <a:ea typeface="Times New Roman" panose="02020603050405020304" pitchFamily="18" charset="0"/>
              </a:rPr>
              <a:t>T</a:t>
            </a:r>
            <a:r>
              <a:rPr lang="en-US" sz="2100" dirty="0">
                <a:effectLst/>
                <a:latin typeface="Times New Roman" panose="02020603050405020304" pitchFamily="18" charset="0"/>
                <a:ea typeface="Times New Roman" panose="02020603050405020304" pitchFamily="18" charset="0"/>
              </a:rPr>
              <a:t>raining is considered to be ADT, no DD form 214 is issued. </a:t>
            </a:r>
          </a:p>
          <a:p>
            <a:pPr marL="914400" marR="0" indent="-457200"/>
            <a:r>
              <a:rPr lang="en-US" sz="2100" dirty="0">
                <a:effectLst/>
                <a:latin typeface="Times New Roman" panose="02020603050405020304" pitchFamily="18" charset="0"/>
                <a:ea typeface="Times New Roman" panose="02020603050405020304" pitchFamily="18" charset="0"/>
              </a:rPr>
              <a:t>-	NGB 22 is issued for other duty service verification	</a:t>
            </a:r>
          </a:p>
          <a:p>
            <a:pPr marL="914400" marR="0" indent="-457200">
              <a:buFontTx/>
              <a:buChar char="-"/>
            </a:pPr>
            <a:r>
              <a:rPr lang="en-US" sz="2100" dirty="0">
                <a:effectLst/>
                <a:latin typeface="Times New Roman" panose="02020603050405020304" pitchFamily="18" charset="0"/>
                <a:ea typeface="Times New Roman" panose="02020603050405020304" pitchFamily="18" charset="0"/>
              </a:rPr>
              <a:t>Eligible to receive retirement after age 60</a:t>
            </a:r>
          </a:p>
          <a:p>
            <a:pPr marL="914400" indent="-457200">
              <a:buFontTx/>
              <a:buChar char="-"/>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May be put on orders temporarily when federally activated under Title 10;  or may be put on orders temporarily when state activated under Title 32 for ADSW (Active Duty for Special Work) or ADOS ( Active Duty for Operational Support) </a:t>
            </a:r>
          </a:p>
          <a:p>
            <a:endParaRPr lang="en-US" dirty="0"/>
          </a:p>
        </p:txBody>
      </p:sp>
      <p:sp>
        <p:nvSpPr>
          <p:cNvPr id="4" name="Slide Number Placeholder 3">
            <a:extLst>
              <a:ext uri="{FF2B5EF4-FFF2-40B4-BE49-F238E27FC236}">
                <a16:creationId xmlns:a16="http://schemas.microsoft.com/office/drawing/2014/main" id="{00DE4BDA-0DD9-3B05-0551-9DDA18E5112B}"/>
              </a:ext>
            </a:extLst>
          </p:cNvPr>
          <p:cNvSpPr>
            <a:spLocks noGrp="1"/>
          </p:cNvSpPr>
          <p:nvPr>
            <p:ph type="sldNum" sz="quarter" idx="12"/>
          </p:nvPr>
        </p:nvSpPr>
        <p:spPr/>
        <p:txBody>
          <a:bodyPr/>
          <a:lstStyle/>
          <a:p>
            <a:fld id="{7C414AED-89CE-4A48-8B2B-1B3A5C68EA2A}" type="slidenum">
              <a:rPr lang="en-US" smtClean="0"/>
              <a:t>18</a:t>
            </a:fld>
            <a:endParaRPr lang="en-US"/>
          </a:p>
        </p:txBody>
      </p:sp>
    </p:spTree>
    <p:extLst>
      <p:ext uri="{BB962C8B-B14F-4D97-AF65-F5344CB8AC3E}">
        <p14:creationId xmlns:p14="http://schemas.microsoft.com/office/powerpoint/2010/main" val="124603840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043B0-DEFE-2D45-2549-A840A0BB77AE}"/>
              </a:ext>
            </a:extLst>
          </p:cNvPr>
          <p:cNvSpPr>
            <a:spLocks noGrp="1"/>
          </p:cNvSpPr>
          <p:nvPr>
            <p:ph type="title"/>
          </p:nvPr>
        </p:nvSpPr>
        <p:spPr>
          <a:xfrm>
            <a:off x="0" y="884238"/>
            <a:ext cx="9144000" cy="713654"/>
          </a:xfrm>
        </p:spPr>
        <p:txBody>
          <a:bodyPr/>
          <a:lstStyle/>
          <a:p>
            <a:r>
              <a:rPr lang="en-US" dirty="0"/>
              <a:t>3 Different Types of Guard/ Reserve Assignments</a:t>
            </a:r>
          </a:p>
        </p:txBody>
      </p:sp>
      <p:sp>
        <p:nvSpPr>
          <p:cNvPr id="3" name="Content Placeholder 2">
            <a:extLst>
              <a:ext uri="{FF2B5EF4-FFF2-40B4-BE49-F238E27FC236}">
                <a16:creationId xmlns:a16="http://schemas.microsoft.com/office/drawing/2014/main" id="{BCE459E3-B116-C584-8CF7-B732318D422F}"/>
              </a:ext>
            </a:extLst>
          </p:cNvPr>
          <p:cNvSpPr>
            <a:spLocks noGrp="1"/>
          </p:cNvSpPr>
          <p:nvPr>
            <p:ph idx="1"/>
          </p:nvPr>
        </p:nvSpPr>
        <p:spPr>
          <a:xfrm>
            <a:off x="457200" y="1597892"/>
            <a:ext cx="8229600" cy="4898158"/>
          </a:xfrm>
        </p:spPr>
        <p:txBody>
          <a:bodyPr>
            <a:normAutofit fontScale="92500" lnSpcReduction="20000"/>
          </a:bodyPr>
          <a:lstStyle/>
          <a:p>
            <a:pPr marR="0" algn="ctr"/>
            <a:r>
              <a:rPr lang="en-US" sz="2000" b="1" dirty="0">
                <a:effectLst/>
                <a:latin typeface="Times New Roman" panose="02020603050405020304" pitchFamily="18" charset="0"/>
                <a:ea typeface="Times New Roman" panose="02020603050405020304" pitchFamily="18" charset="0"/>
              </a:rPr>
              <a:t>		Full time AGR (</a:t>
            </a:r>
            <a:r>
              <a:rPr lang="en-US" sz="2000" b="1" i="1" dirty="0">
                <a:effectLst/>
                <a:latin typeface="Times New Roman" panose="02020603050405020304" pitchFamily="18" charset="0"/>
                <a:ea typeface="Times New Roman" panose="02020603050405020304" pitchFamily="18" charset="0"/>
              </a:rPr>
              <a:t>Active Guard Reserve)</a:t>
            </a:r>
          </a:p>
          <a:p>
            <a:pPr marR="0"/>
            <a:endParaRPr lang="en-US" sz="2000" dirty="0">
              <a:effectLst/>
              <a:latin typeface="Times New Roman" panose="02020603050405020304" pitchFamily="18" charset="0"/>
              <a:ea typeface="Times New Roman" panose="02020603050405020304" pitchFamily="18" charset="0"/>
            </a:endParaRPr>
          </a:p>
          <a:p>
            <a:pPr marR="0"/>
            <a:r>
              <a:rPr lang="en-US" sz="2000" dirty="0">
                <a:effectLst/>
                <a:latin typeface="Times New Roman" panose="02020603050405020304" pitchFamily="18" charset="0"/>
                <a:ea typeface="Times New Roman" panose="02020603050405020304" pitchFamily="18" charset="0"/>
              </a:rPr>
              <a:t>For National Guardsman this assignment is considered to be fulfilling an </a:t>
            </a:r>
            <a:r>
              <a:rPr lang="en-US" sz="2000" dirty="0">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ctive </a:t>
            </a:r>
            <a:r>
              <a:rPr lang="en-US" sz="2000" dirty="0">
                <a:latin typeface="Times New Roman" panose="02020603050405020304" pitchFamily="18" charset="0"/>
                <a:ea typeface="Times New Roman" panose="02020603050405020304" pitchFamily="18" charset="0"/>
              </a:rPr>
              <a:t>D</a:t>
            </a:r>
            <a:r>
              <a:rPr lang="en-US" sz="2000" dirty="0">
                <a:effectLst/>
                <a:latin typeface="Times New Roman" panose="02020603050405020304" pitchFamily="18" charset="0"/>
                <a:ea typeface="Times New Roman" panose="02020603050405020304" pitchFamily="18" charset="0"/>
              </a:rPr>
              <a:t>uty position, except for it is considered to be Active </a:t>
            </a:r>
            <a:r>
              <a:rPr lang="en-US" sz="2000" dirty="0">
                <a:latin typeface="Times New Roman" panose="02020603050405020304" pitchFamily="18" charset="0"/>
                <a:ea typeface="Times New Roman" panose="02020603050405020304" pitchFamily="18" charset="0"/>
              </a:rPr>
              <a:t>D</a:t>
            </a:r>
            <a:r>
              <a:rPr lang="en-US" sz="2000" dirty="0">
                <a:effectLst/>
                <a:latin typeface="Times New Roman" panose="02020603050405020304" pitchFamily="18" charset="0"/>
                <a:ea typeface="Times New Roman" panose="02020603050405020304" pitchFamily="18" charset="0"/>
              </a:rPr>
              <a:t>uty for Training, no matter how long it lasts  (Title 32)</a:t>
            </a:r>
          </a:p>
          <a:p>
            <a:pPr marL="914400" marR="0" indent="-457200">
              <a:buFontTx/>
              <a:buChar char="-"/>
            </a:pPr>
            <a:r>
              <a:rPr lang="en-US" sz="2000" dirty="0">
                <a:effectLst/>
                <a:latin typeface="Times New Roman" panose="02020603050405020304" pitchFamily="18" charset="0"/>
                <a:ea typeface="Times New Roman" panose="02020603050405020304" pitchFamily="18" charset="0"/>
              </a:rPr>
              <a:t>They remain under the command and control of their state or territory Governor</a:t>
            </a:r>
          </a:p>
          <a:p>
            <a:pPr marL="914400" marR="0" indent="-457200"/>
            <a:r>
              <a:rPr lang="en-US" sz="2000" dirty="0">
                <a:effectLst/>
                <a:latin typeface="Times New Roman" panose="02020603050405020304" pitchFamily="18" charset="0"/>
                <a:ea typeface="Times New Roman" panose="02020603050405020304" pitchFamily="18" charset="0"/>
              </a:rPr>
              <a:t>-	Receive same military pay, military benefits, and military retirement.  </a:t>
            </a:r>
          </a:p>
          <a:p>
            <a:pPr marL="0" marR="0" indent="457200"/>
            <a:r>
              <a:rPr lang="en-US" sz="2000" dirty="0">
                <a:effectLst/>
                <a:latin typeface="Times New Roman" panose="02020603050405020304" pitchFamily="18" charset="0"/>
                <a:ea typeface="Times New Roman" panose="02020603050405020304" pitchFamily="18" charset="0"/>
              </a:rPr>
              <a:t>-	   Must also participate in weekend drills and annual training </a:t>
            </a:r>
          </a:p>
          <a:p>
            <a:pPr marL="0" marR="0" indent="457200"/>
            <a:r>
              <a:rPr lang="en-US" sz="2000" dirty="0">
                <a:effectLst/>
                <a:latin typeface="Times New Roman" panose="02020603050405020304" pitchFamily="18" charset="0"/>
                <a:ea typeface="Times New Roman" panose="02020603050405020304" pitchFamily="18" charset="0"/>
              </a:rPr>
              <a:t>-	   Will receive a DD Form 214 for each period of AGR </a:t>
            </a:r>
          </a:p>
          <a:p>
            <a:pPr marL="914400" marR="0" indent="-457200">
              <a:buFontTx/>
              <a:buChar char="-"/>
            </a:pPr>
            <a:r>
              <a:rPr lang="en-US" sz="2000" b="1" dirty="0">
                <a:effectLst/>
                <a:latin typeface="Times New Roman" panose="02020603050405020304" pitchFamily="18" charset="0"/>
                <a:ea typeface="Times New Roman" panose="02020603050405020304" pitchFamily="18" charset="0"/>
              </a:rPr>
              <a:t>AGR for National Guard is not qualifying service UNTIL incurrence or aggravation of one disability is accepted by the VA .  Once this happens, the WHOLE period of service turns into Active Duty for VA purposes</a:t>
            </a:r>
          </a:p>
          <a:p>
            <a:pPr marL="457200" marR="0"/>
            <a:endParaRPr lang="en-US" sz="2000" b="1"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****For Reservists, AGR is considered to be Active </a:t>
            </a:r>
            <a:r>
              <a:rPr lang="en-US" sz="2000" dirty="0">
                <a:latin typeface="Times New Roman" panose="02020603050405020304" pitchFamily="18" charset="0"/>
                <a:ea typeface="Times New Roman" panose="02020603050405020304" pitchFamily="18" charset="0"/>
              </a:rPr>
              <a:t>D</a:t>
            </a:r>
            <a:r>
              <a:rPr lang="en-US" sz="2000" dirty="0">
                <a:effectLst/>
                <a:latin typeface="Times New Roman" panose="02020603050405020304" pitchFamily="18" charset="0"/>
                <a:ea typeface="Times New Roman" panose="02020603050405020304" pitchFamily="18" charset="0"/>
              </a:rPr>
              <a:t>uty and for the WHOLE period of service  (Title 10)</a:t>
            </a:r>
          </a:p>
          <a:p>
            <a:endParaRPr lang="en-US" dirty="0"/>
          </a:p>
        </p:txBody>
      </p:sp>
      <p:sp>
        <p:nvSpPr>
          <p:cNvPr id="4" name="Slide Number Placeholder 3">
            <a:extLst>
              <a:ext uri="{FF2B5EF4-FFF2-40B4-BE49-F238E27FC236}">
                <a16:creationId xmlns:a16="http://schemas.microsoft.com/office/drawing/2014/main" id="{F25270AA-875F-E817-9186-9599145D9588}"/>
              </a:ext>
            </a:extLst>
          </p:cNvPr>
          <p:cNvSpPr>
            <a:spLocks noGrp="1"/>
          </p:cNvSpPr>
          <p:nvPr>
            <p:ph type="sldNum" sz="quarter" idx="12"/>
          </p:nvPr>
        </p:nvSpPr>
        <p:spPr/>
        <p:txBody>
          <a:bodyPr/>
          <a:lstStyle/>
          <a:p>
            <a:fld id="{7C414AED-89CE-4A48-8B2B-1B3A5C68EA2A}" type="slidenum">
              <a:rPr lang="en-US" smtClean="0"/>
              <a:t>19</a:t>
            </a:fld>
            <a:endParaRPr lang="en-US"/>
          </a:p>
        </p:txBody>
      </p:sp>
    </p:spTree>
    <p:extLst>
      <p:ext uri="{BB962C8B-B14F-4D97-AF65-F5344CB8AC3E}">
        <p14:creationId xmlns:p14="http://schemas.microsoft.com/office/powerpoint/2010/main" val="22876446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8A004-2EA7-46FB-85FF-5E16D6B79320}"/>
              </a:ext>
            </a:extLst>
          </p:cNvPr>
          <p:cNvSpPr>
            <a:spLocks noGrp="1"/>
          </p:cNvSpPr>
          <p:nvPr>
            <p:ph type="title"/>
          </p:nvPr>
        </p:nvSpPr>
        <p:spPr>
          <a:xfrm>
            <a:off x="0" y="581025"/>
            <a:ext cx="9144000" cy="466725"/>
          </a:xfrm>
        </p:spPr>
        <p:txBody>
          <a:bodyPr>
            <a:normAutofit fontScale="90000"/>
          </a:bodyPr>
          <a:lstStyle/>
          <a:p>
            <a:r>
              <a:rPr lang="en-US" dirty="0"/>
              <a:t>What if there’s no DD 214??</a:t>
            </a:r>
          </a:p>
        </p:txBody>
      </p:sp>
      <p:sp>
        <p:nvSpPr>
          <p:cNvPr id="3" name="Content Placeholder 2">
            <a:extLst>
              <a:ext uri="{FF2B5EF4-FFF2-40B4-BE49-F238E27FC236}">
                <a16:creationId xmlns:a16="http://schemas.microsoft.com/office/drawing/2014/main" id="{D4E71B33-989C-49DF-9085-1396590AF71C}"/>
              </a:ext>
            </a:extLst>
          </p:cNvPr>
          <p:cNvSpPr>
            <a:spLocks noGrp="1"/>
          </p:cNvSpPr>
          <p:nvPr>
            <p:ph idx="1"/>
          </p:nvPr>
        </p:nvSpPr>
        <p:spPr>
          <a:xfrm>
            <a:off x="457200" y="1209675"/>
            <a:ext cx="8229600" cy="5392299"/>
          </a:xfrm>
        </p:spPr>
        <p:txBody>
          <a:bodyPr>
            <a:normAutofit fontScale="70000" lnSpcReduction="20000"/>
          </a:bodyPr>
          <a:lstStyle/>
          <a:p>
            <a:pPr marL="285750" marR="0" indent="-285750">
              <a:lnSpc>
                <a:spcPct val="115000"/>
              </a:lnSpc>
              <a:spcBef>
                <a:spcPts val="0"/>
              </a:spcBef>
              <a:spcAft>
                <a:spcPts val="1000"/>
              </a:spcAft>
              <a:buFont typeface="Wingdings" panose="05000000000000000000" pitchFamily="2" charset="2"/>
              <a:buChar char="Ø"/>
            </a:pPr>
            <a:r>
              <a:rPr lang="en-US" sz="2100" dirty="0">
                <a:solidFill>
                  <a:srgbClr val="333333"/>
                </a:solidFill>
                <a:latin typeface="+mj-lt"/>
                <a:ea typeface="Times New Roman" panose="02020603050405020304" pitchFamily="18" charset="0"/>
                <a:cs typeface="Times New Roman" panose="02020603050405020304" pitchFamily="18" charset="0"/>
              </a:rPr>
              <a:t>Personnel File:  </a:t>
            </a:r>
          </a:p>
          <a:p>
            <a:pPr marL="728663" lvl="1" indent="-342900">
              <a:lnSpc>
                <a:spcPct val="115000"/>
              </a:lnSpc>
              <a:spcBef>
                <a:spcPts val="0"/>
              </a:spcBef>
              <a:spcAft>
                <a:spcPts val="1000"/>
              </a:spcAft>
            </a:pPr>
            <a:r>
              <a:rPr lang="en-US" sz="2100" dirty="0">
                <a:solidFill>
                  <a:srgbClr val="333333"/>
                </a:solidFill>
                <a:effectLst/>
                <a:latin typeface="+mj-lt"/>
                <a:ea typeface="Times New Roman" panose="02020603050405020304" pitchFamily="18" charset="0"/>
                <a:cs typeface="Times New Roman" panose="02020603050405020304" pitchFamily="18" charset="0"/>
              </a:rPr>
              <a:t>Retirement Points Annual Statement.   </a:t>
            </a:r>
            <a:r>
              <a:rPr lang="en-US" sz="2100" dirty="0">
                <a:solidFill>
                  <a:srgbClr val="333333"/>
                </a:solidFill>
                <a:latin typeface="+mj-lt"/>
                <a:ea typeface="Times New Roman" panose="02020603050405020304" pitchFamily="18" charset="0"/>
                <a:cs typeface="Times New Roman" panose="02020603050405020304" pitchFamily="18" charset="0"/>
              </a:rPr>
              <a:t>This is t</a:t>
            </a:r>
            <a:r>
              <a:rPr lang="en-US" sz="2100" dirty="0">
                <a:solidFill>
                  <a:srgbClr val="333333"/>
                </a:solidFill>
                <a:effectLst/>
                <a:latin typeface="+mj-lt"/>
                <a:ea typeface="Times New Roman" panose="02020603050405020304" pitchFamily="18" charset="0"/>
                <a:cs typeface="Times New Roman" panose="02020603050405020304" pitchFamily="18" charset="0"/>
              </a:rPr>
              <a:t>he most complete reflection of all periods of verified service for an individual, including periods of Active </a:t>
            </a:r>
            <a:r>
              <a:rPr lang="en-US" sz="2100" dirty="0">
                <a:solidFill>
                  <a:srgbClr val="333333"/>
                </a:solidFill>
                <a:latin typeface="+mj-lt"/>
                <a:ea typeface="Times New Roman" panose="02020603050405020304" pitchFamily="18" charset="0"/>
                <a:cs typeface="Times New Roman" panose="02020603050405020304" pitchFamily="18" charset="0"/>
              </a:rPr>
              <a:t>D</a:t>
            </a:r>
            <a:r>
              <a:rPr lang="en-US" sz="2100" dirty="0">
                <a:solidFill>
                  <a:srgbClr val="333333"/>
                </a:solidFill>
                <a:effectLst/>
                <a:latin typeface="+mj-lt"/>
                <a:ea typeface="Times New Roman" panose="02020603050405020304" pitchFamily="18" charset="0"/>
                <a:cs typeface="Times New Roman" panose="02020603050405020304" pitchFamily="18" charset="0"/>
              </a:rPr>
              <a:t>uty, ADT, and IADT</a:t>
            </a:r>
          </a:p>
          <a:p>
            <a:pPr marL="728663" lvl="1" indent="-342900">
              <a:lnSpc>
                <a:spcPct val="115000"/>
              </a:lnSpc>
              <a:spcBef>
                <a:spcPts val="0"/>
              </a:spcBef>
              <a:spcAft>
                <a:spcPts val="1000"/>
              </a:spcAft>
            </a:pPr>
            <a:r>
              <a:rPr lang="en-US" sz="2100" dirty="0">
                <a:solidFill>
                  <a:srgbClr val="333333"/>
                </a:solidFill>
                <a:latin typeface="+mj-lt"/>
                <a:ea typeface="Times New Roman" panose="02020603050405020304" pitchFamily="18" charset="0"/>
                <a:cs typeface="Times New Roman" panose="02020603050405020304" pitchFamily="18" charset="0"/>
              </a:rPr>
              <a:t>Military orders</a:t>
            </a:r>
            <a:endParaRPr lang="en-US" sz="2100" dirty="0">
              <a:solidFill>
                <a:srgbClr val="333333"/>
              </a:solidFill>
              <a:effectLst/>
              <a:latin typeface="+mj-lt"/>
              <a:ea typeface="Times New Roman" panose="02020603050405020304" pitchFamily="18" charset="0"/>
              <a:cs typeface="Times New Roman" panose="02020603050405020304" pitchFamily="18" charset="0"/>
            </a:endParaRPr>
          </a:p>
          <a:p>
            <a:pPr marL="671513" lvl="1" indent="-285750">
              <a:lnSpc>
                <a:spcPct val="115000"/>
              </a:lnSpc>
              <a:spcBef>
                <a:spcPts val="0"/>
              </a:spcBef>
              <a:spcAft>
                <a:spcPts val="1000"/>
              </a:spcAft>
            </a:pPr>
            <a:endParaRPr lang="en-US" sz="2100" dirty="0">
              <a:solidFill>
                <a:srgbClr val="333333"/>
              </a:solidFill>
              <a:latin typeface="+mj-lt"/>
              <a:ea typeface="Times New Roman" panose="02020603050405020304" pitchFamily="18" charset="0"/>
              <a:cs typeface="Times New Roman" panose="02020603050405020304" pitchFamily="18" charset="0"/>
            </a:endParaRPr>
          </a:p>
          <a:p>
            <a:pPr marL="285750" marR="152400" lvl="0" indent="-285750">
              <a:lnSpc>
                <a:spcPct val="115000"/>
              </a:lnSpc>
              <a:spcBef>
                <a:spcPts val="0"/>
              </a:spcBef>
              <a:spcAft>
                <a:spcPts val="1000"/>
              </a:spcAft>
              <a:buSzPts val="1000"/>
              <a:buFont typeface="Wingdings" panose="05000000000000000000" pitchFamily="2" charset="2"/>
              <a:buChar char="Ø"/>
              <a:tabLst>
                <a:tab pos="457200" algn="l"/>
              </a:tabLst>
            </a:pPr>
            <a:r>
              <a:rPr lang="en-US" sz="2100" dirty="0">
                <a:solidFill>
                  <a:srgbClr val="333333"/>
                </a:solidFill>
                <a:latin typeface="+mj-lt"/>
                <a:ea typeface="Times New Roman" panose="02020603050405020304" pitchFamily="18" charset="0"/>
                <a:cs typeface="Times New Roman" panose="02020603050405020304" pitchFamily="18" charset="0"/>
              </a:rPr>
              <a:t>Service Treatment Records documenting that a member was injured during a period of ADT or IADT</a:t>
            </a:r>
          </a:p>
          <a:p>
            <a:pPr marL="285750" marR="152400" lvl="0" indent="-285750">
              <a:lnSpc>
                <a:spcPct val="115000"/>
              </a:lnSpc>
              <a:spcBef>
                <a:spcPts val="0"/>
              </a:spcBef>
              <a:spcAft>
                <a:spcPts val="1000"/>
              </a:spcAft>
              <a:buSzPts val="1000"/>
              <a:buFont typeface="Wingdings" panose="05000000000000000000" pitchFamily="2" charset="2"/>
              <a:buChar char="Ø"/>
              <a:tabLst>
                <a:tab pos="457200" algn="l"/>
              </a:tabLst>
            </a:pPr>
            <a:endParaRPr lang="en-US" sz="2100" dirty="0">
              <a:solidFill>
                <a:srgbClr val="333333"/>
              </a:solidFill>
              <a:latin typeface="+mj-lt"/>
              <a:ea typeface="Calibri" panose="020F0502020204030204" pitchFamily="34" charset="0"/>
              <a:cs typeface="Times New Roman" panose="02020603050405020304" pitchFamily="18" charset="0"/>
            </a:endParaRPr>
          </a:p>
          <a:p>
            <a:pPr marL="285750" marR="152400" lvl="0" indent="-285750">
              <a:lnSpc>
                <a:spcPct val="115000"/>
              </a:lnSpc>
              <a:spcBef>
                <a:spcPts val="0"/>
              </a:spcBef>
              <a:spcAft>
                <a:spcPts val="1000"/>
              </a:spcAft>
              <a:buSzPts val="1000"/>
              <a:buFont typeface="Wingdings" panose="05000000000000000000" pitchFamily="2" charset="2"/>
              <a:buChar char="Ø"/>
              <a:tabLst>
                <a:tab pos="457200" algn="l"/>
              </a:tabLst>
            </a:pPr>
            <a:r>
              <a:rPr lang="en-US" sz="2100" dirty="0">
                <a:solidFill>
                  <a:srgbClr val="333333"/>
                </a:solidFill>
                <a:latin typeface="+mj-lt"/>
                <a:ea typeface="Times New Roman" panose="02020603050405020304" pitchFamily="18" charset="0"/>
                <a:cs typeface="Times New Roman" panose="02020603050405020304" pitchFamily="18" charset="0"/>
              </a:rPr>
              <a:t>An official order directing the member to a period of Annual Training, or</a:t>
            </a:r>
            <a:endParaRPr lang="en-US" sz="2100" dirty="0">
              <a:solidFill>
                <a:srgbClr val="333333"/>
              </a:solidFill>
              <a:latin typeface="+mj-lt"/>
              <a:ea typeface="Calibri" panose="020F0502020204030204" pitchFamily="34" charset="0"/>
              <a:cs typeface="Times New Roman" panose="02020603050405020304" pitchFamily="18" charset="0"/>
            </a:endParaRPr>
          </a:p>
          <a:p>
            <a:pPr marL="728663" marR="152400" lvl="1" indent="-342900">
              <a:lnSpc>
                <a:spcPct val="115000"/>
              </a:lnSpc>
              <a:spcBef>
                <a:spcPts val="0"/>
              </a:spcBef>
              <a:spcAft>
                <a:spcPts val="1000"/>
              </a:spcAft>
              <a:buSzPts val="1000"/>
              <a:buFont typeface="Symbol" panose="05050102010706020507" pitchFamily="18" charset="2"/>
              <a:buChar char=""/>
              <a:tabLst>
                <a:tab pos="457200" algn="l"/>
              </a:tabLst>
            </a:pPr>
            <a:r>
              <a:rPr lang="en-US" sz="2100" dirty="0">
                <a:solidFill>
                  <a:srgbClr val="333333"/>
                </a:solidFill>
                <a:latin typeface="+mj-lt"/>
                <a:ea typeface="Times New Roman" panose="02020603050405020304" pitchFamily="18" charset="0"/>
                <a:cs typeface="Times New Roman" panose="02020603050405020304" pitchFamily="18" charset="0"/>
              </a:rPr>
              <a:t>a pay stub documenting the period of service</a:t>
            </a:r>
          </a:p>
          <a:p>
            <a:pPr marL="728663" marR="152400" lvl="1" indent="-342900">
              <a:lnSpc>
                <a:spcPct val="115000"/>
              </a:lnSpc>
              <a:spcBef>
                <a:spcPts val="0"/>
              </a:spcBef>
              <a:spcAft>
                <a:spcPts val="1000"/>
              </a:spcAft>
              <a:buSzPts val="1000"/>
              <a:buFont typeface="Symbol" panose="05050102010706020507" pitchFamily="18" charset="2"/>
              <a:buChar char=""/>
              <a:tabLst>
                <a:tab pos="457200" algn="l"/>
              </a:tabLst>
            </a:pPr>
            <a:endParaRPr lang="en-US" sz="2100" dirty="0">
              <a:solidFill>
                <a:srgbClr val="333333"/>
              </a:solidFill>
              <a:latin typeface="+mj-lt"/>
              <a:ea typeface="Calibri" panose="020F0502020204030204" pitchFamily="34" charset="0"/>
              <a:cs typeface="Times New Roman" panose="02020603050405020304" pitchFamily="18" charset="0"/>
            </a:endParaRPr>
          </a:p>
          <a:p>
            <a:pPr marL="285750" marR="0" indent="-285750">
              <a:lnSpc>
                <a:spcPct val="115000"/>
              </a:lnSpc>
              <a:spcBef>
                <a:spcPts val="0"/>
              </a:spcBef>
              <a:spcAft>
                <a:spcPts val="0"/>
              </a:spcAft>
              <a:buFont typeface="Wingdings" panose="05000000000000000000" pitchFamily="2" charset="2"/>
              <a:buChar char="Ø"/>
            </a:pPr>
            <a:r>
              <a:rPr lang="en-US" sz="2100" dirty="0">
                <a:solidFill>
                  <a:srgbClr val="333333"/>
                </a:solidFill>
                <a:effectLst/>
                <a:latin typeface="+mj-lt"/>
                <a:ea typeface="Times New Roman" panose="02020603050405020304" pitchFamily="18" charset="0"/>
                <a:cs typeface="Times New Roman" panose="02020603050405020304" pitchFamily="18" charset="0"/>
              </a:rPr>
              <a:t>Other service records may be utilized to verify periods of ADT and IADT if the information provided</a:t>
            </a:r>
            <a:endParaRPr lang="en-US" sz="2100" dirty="0">
              <a:effectLst/>
              <a:latin typeface="+mj-lt"/>
              <a:ea typeface="Calibri" panose="020F0502020204030204" pitchFamily="34" charset="0"/>
              <a:cs typeface="Times New Roman" panose="02020603050405020304" pitchFamily="18" charset="0"/>
            </a:endParaRPr>
          </a:p>
          <a:p>
            <a:pPr marL="728663" marR="152400" lvl="1" indent="-342900">
              <a:lnSpc>
                <a:spcPct val="115000"/>
              </a:lnSpc>
              <a:spcBef>
                <a:spcPts val="0"/>
              </a:spcBef>
              <a:spcAft>
                <a:spcPts val="1000"/>
              </a:spcAft>
              <a:buSzPts val="1000"/>
              <a:buFont typeface="Symbol" panose="05050102010706020507" pitchFamily="18" charset="2"/>
              <a:buChar char=""/>
              <a:tabLst>
                <a:tab pos="457200" algn="l"/>
              </a:tabLst>
            </a:pPr>
            <a:r>
              <a:rPr lang="en-US" sz="2100" dirty="0">
                <a:solidFill>
                  <a:srgbClr val="333333"/>
                </a:solidFill>
                <a:effectLst/>
                <a:latin typeface="+mj-lt"/>
                <a:ea typeface="Times New Roman" panose="02020603050405020304" pitchFamily="18" charset="0"/>
                <a:cs typeface="Times New Roman" panose="02020603050405020304" pitchFamily="18" charset="0"/>
              </a:rPr>
              <a:t>reflects the type of service</a:t>
            </a:r>
            <a:endParaRPr lang="en-US" sz="2100" dirty="0">
              <a:solidFill>
                <a:srgbClr val="333333"/>
              </a:solidFill>
              <a:effectLst/>
              <a:latin typeface="+mj-lt"/>
              <a:ea typeface="Calibri" panose="020F0502020204030204" pitchFamily="34" charset="0"/>
              <a:cs typeface="Times New Roman" panose="02020603050405020304" pitchFamily="18" charset="0"/>
            </a:endParaRPr>
          </a:p>
          <a:p>
            <a:pPr marL="728663" marR="152400" lvl="1" indent="-342900">
              <a:lnSpc>
                <a:spcPct val="115000"/>
              </a:lnSpc>
              <a:spcBef>
                <a:spcPts val="0"/>
              </a:spcBef>
              <a:spcAft>
                <a:spcPts val="1000"/>
              </a:spcAft>
              <a:buSzPts val="1000"/>
              <a:buFont typeface="Symbol" panose="05050102010706020507" pitchFamily="18" charset="2"/>
              <a:buChar char=""/>
              <a:tabLst>
                <a:tab pos="457200" algn="l"/>
              </a:tabLst>
            </a:pPr>
            <a:r>
              <a:rPr lang="en-US" sz="2100" dirty="0">
                <a:solidFill>
                  <a:srgbClr val="333333"/>
                </a:solidFill>
                <a:effectLst/>
                <a:latin typeface="+mj-lt"/>
                <a:ea typeface="Times New Roman" panose="02020603050405020304" pitchFamily="18" charset="0"/>
                <a:cs typeface="Times New Roman" panose="02020603050405020304" pitchFamily="18" charset="0"/>
              </a:rPr>
              <a:t>documents the dates of the period of service, and</a:t>
            </a:r>
            <a:endParaRPr lang="en-US" sz="2100" dirty="0">
              <a:solidFill>
                <a:srgbClr val="333333"/>
              </a:solidFill>
              <a:effectLst/>
              <a:latin typeface="+mj-lt"/>
              <a:ea typeface="Calibri" panose="020F0502020204030204" pitchFamily="34" charset="0"/>
              <a:cs typeface="Times New Roman" panose="02020603050405020304" pitchFamily="18" charset="0"/>
            </a:endParaRPr>
          </a:p>
          <a:p>
            <a:pPr marL="728663" marR="152400" lvl="1" indent="-342900">
              <a:lnSpc>
                <a:spcPct val="115000"/>
              </a:lnSpc>
              <a:spcBef>
                <a:spcPts val="0"/>
              </a:spcBef>
              <a:spcAft>
                <a:spcPts val="1000"/>
              </a:spcAft>
              <a:buSzPts val="1000"/>
              <a:buFont typeface="Symbol" panose="05050102010706020507" pitchFamily="18" charset="2"/>
              <a:buChar char=""/>
              <a:tabLst>
                <a:tab pos="457200" algn="l"/>
              </a:tabLst>
            </a:pPr>
            <a:r>
              <a:rPr lang="en-US" sz="2100" dirty="0">
                <a:solidFill>
                  <a:srgbClr val="333333"/>
                </a:solidFill>
                <a:effectLst/>
                <a:latin typeface="+mj-lt"/>
                <a:ea typeface="Times New Roman" panose="02020603050405020304" pitchFamily="18" charset="0"/>
                <a:cs typeface="Times New Roman" panose="02020603050405020304" pitchFamily="18" charset="0"/>
              </a:rPr>
              <a:t>does not otherwise conflicting with the remaining evidence of record.  </a:t>
            </a:r>
            <a:endParaRPr lang="en-US" sz="2100" dirty="0">
              <a:solidFill>
                <a:srgbClr val="333333"/>
              </a:solidFill>
              <a:effectLst/>
              <a:latin typeface="+mj-lt"/>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1EF91AEF-EAB2-430C-AA8A-E69ADA579F4A}"/>
              </a:ext>
            </a:extLst>
          </p:cNvPr>
          <p:cNvSpPr>
            <a:spLocks noGrp="1"/>
          </p:cNvSpPr>
          <p:nvPr>
            <p:ph type="sldNum" sz="quarter" idx="12"/>
          </p:nvPr>
        </p:nvSpPr>
        <p:spPr/>
        <p:txBody>
          <a:bodyPr/>
          <a:lstStyle/>
          <a:p>
            <a:fld id="{7C414AED-89CE-4A48-8B2B-1B3A5C68EA2A}" type="slidenum">
              <a:rPr lang="en-US" smtClean="0"/>
              <a:t>20</a:t>
            </a:fld>
            <a:endParaRPr lang="en-US"/>
          </a:p>
        </p:txBody>
      </p:sp>
    </p:spTree>
    <p:extLst>
      <p:ext uri="{BB962C8B-B14F-4D97-AF65-F5344CB8AC3E}">
        <p14:creationId xmlns:p14="http://schemas.microsoft.com/office/powerpoint/2010/main" val="424203770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D35CB-EF0E-47E8-95B8-FADA3AA2A59C}"/>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3423EB4F-69BC-4BA8-8911-A1DC1363DC84}"/>
              </a:ext>
            </a:extLst>
          </p:cNvPr>
          <p:cNvPicPr>
            <a:picLocks noGrp="1" noChangeAspect="1"/>
          </p:cNvPicPr>
          <p:nvPr>
            <p:ph idx="1"/>
          </p:nvPr>
        </p:nvPicPr>
        <p:blipFill>
          <a:blip r:embed="rId2"/>
          <a:stretch>
            <a:fillRect/>
          </a:stretch>
        </p:blipFill>
        <p:spPr>
          <a:xfrm>
            <a:off x="434109" y="609600"/>
            <a:ext cx="8368146" cy="6248400"/>
          </a:xfrm>
        </p:spPr>
      </p:pic>
      <p:sp>
        <p:nvSpPr>
          <p:cNvPr id="4" name="Slide Number Placeholder 3">
            <a:extLst>
              <a:ext uri="{FF2B5EF4-FFF2-40B4-BE49-F238E27FC236}">
                <a16:creationId xmlns:a16="http://schemas.microsoft.com/office/drawing/2014/main" id="{A8059D04-1E51-4F82-B815-9F9E1504CB7E}"/>
              </a:ext>
            </a:extLst>
          </p:cNvPr>
          <p:cNvSpPr>
            <a:spLocks noGrp="1"/>
          </p:cNvSpPr>
          <p:nvPr>
            <p:ph type="sldNum" sz="quarter" idx="12"/>
          </p:nvPr>
        </p:nvSpPr>
        <p:spPr/>
        <p:txBody>
          <a:bodyPr/>
          <a:lstStyle/>
          <a:p>
            <a:fld id="{7C414AED-89CE-4A48-8B2B-1B3A5C68EA2A}" type="slidenum">
              <a:rPr lang="en-US" smtClean="0"/>
              <a:t>21</a:t>
            </a:fld>
            <a:endParaRPr lang="en-US"/>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6D7A244-32D8-65B9-5748-94D1208EC9A5}"/>
                  </a:ext>
                </a:extLst>
              </p14:cNvPr>
              <p14:cNvContentPartPr/>
              <p14:nvPr/>
            </p14:nvContentPartPr>
            <p14:xfrm>
              <a:off x="1569407" y="1540844"/>
              <a:ext cx="1578960" cy="58320"/>
            </p14:xfrm>
          </p:contentPart>
        </mc:Choice>
        <mc:Fallback xmlns="">
          <p:pic>
            <p:nvPicPr>
              <p:cNvPr id="3" name="Ink 2">
                <a:extLst>
                  <a:ext uri="{FF2B5EF4-FFF2-40B4-BE49-F238E27FC236}">
                    <a16:creationId xmlns:a16="http://schemas.microsoft.com/office/drawing/2014/main" id="{06D7A244-32D8-65B9-5748-94D1208EC9A5}"/>
                  </a:ext>
                </a:extLst>
              </p:cNvPr>
              <p:cNvPicPr/>
              <p:nvPr/>
            </p:nvPicPr>
            <p:blipFill>
              <a:blip r:embed="rId4"/>
              <a:stretch>
                <a:fillRect/>
              </a:stretch>
            </p:blipFill>
            <p:spPr>
              <a:xfrm>
                <a:off x="1515767" y="1432844"/>
                <a:ext cx="168660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099DCDA-7E2F-BF71-AFC5-3C1325653254}"/>
                  </a:ext>
                </a:extLst>
              </p14:cNvPr>
              <p14:cNvContentPartPr/>
              <p14:nvPr/>
            </p14:nvContentPartPr>
            <p14:xfrm>
              <a:off x="-684193" y="4054364"/>
              <a:ext cx="360" cy="360"/>
            </p14:xfrm>
          </p:contentPart>
        </mc:Choice>
        <mc:Fallback xmlns="">
          <p:pic>
            <p:nvPicPr>
              <p:cNvPr id="5" name="Ink 4">
                <a:extLst>
                  <a:ext uri="{FF2B5EF4-FFF2-40B4-BE49-F238E27FC236}">
                    <a16:creationId xmlns:a16="http://schemas.microsoft.com/office/drawing/2014/main" id="{F099DCDA-7E2F-BF71-AFC5-3C1325653254}"/>
                  </a:ext>
                </a:extLst>
              </p:cNvPr>
              <p:cNvPicPr/>
              <p:nvPr/>
            </p:nvPicPr>
            <p:blipFill>
              <a:blip r:embed="rId6"/>
              <a:stretch>
                <a:fillRect/>
              </a:stretch>
            </p:blipFill>
            <p:spPr>
              <a:xfrm>
                <a:off x="-737833" y="3946364"/>
                <a:ext cx="108000" cy="216000"/>
              </a:xfrm>
              <a:prstGeom prst="rect">
                <a:avLst/>
              </a:prstGeom>
            </p:spPr>
          </p:pic>
        </mc:Fallback>
      </mc:AlternateContent>
    </p:spTree>
    <p:extLst>
      <p:ext uri="{BB962C8B-B14F-4D97-AF65-F5344CB8AC3E}">
        <p14:creationId xmlns:p14="http://schemas.microsoft.com/office/powerpoint/2010/main" val="88712759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4994B-F607-EF8A-19D5-F86B88DAF9D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F60F542-5D70-2F10-F353-31423014443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733DFC9-0B19-C819-8BD7-6A9F22B4A90B}"/>
              </a:ext>
            </a:extLst>
          </p:cNvPr>
          <p:cNvSpPr>
            <a:spLocks noGrp="1"/>
          </p:cNvSpPr>
          <p:nvPr>
            <p:ph type="sldNum" sz="quarter" idx="12"/>
          </p:nvPr>
        </p:nvSpPr>
        <p:spPr/>
        <p:txBody>
          <a:bodyPr/>
          <a:lstStyle/>
          <a:p>
            <a:fld id="{7C414AED-89CE-4A48-8B2B-1B3A5C68EA2A}" type="slidenum">
              <a:rPr lang="en-US" smtClean="0"/>
              <a:t>22</a:t>
            </a:fld>
            <a:endParaRPr lang="en-US"/>
          </a:p>
        </p:txBody>
      </p:sp>
      <p:pic>
        <p:nvPicPr>
          <p:cNvPr id="6" name="Picture 5">
            <a:extLst>
              <a:ext uri="{FF2B5EF4-FFF2-40B4-BE49-F238E27FC236}">
                <a16:creationId xmlns:a16="http://schemas.microsoft.com/office/drawing/2014/main" id="{7EA67E6F-1573-8904-E518-E2B3874EE040}"/>
              </a:ext>
            </a:extLst>
          </p:cNvPr>
          <p:cNvPicPr>
            <a:picLocks noChangeAspect="1"/>
          </p:cNvPicPr>
          <p:nvPr/>
        </p:nvPicPr>
        <p:blipFill>
          <a:blip r:embed="rId2"/>
          <a:stretch>
            <a:fillRect/>
          </a:stretch>
        </p:blipFill>
        <p:spPr>
          <a:xfrm>
            <a:off x="809626" y="0"/>
            <a:ext cx="8067674" cy="6858000"/>
          </a:xfrm>
          <a:prstGeom prst="rect">
            <a:avLst/>
          </a:prstGeom>
        </p:spPr>
      </p:pic>
    </p:spTree>
    <p:extLst>
      <p:ext uri="{BB962C8B-B14F-4D97-AF65-F5344CB8AC3E}">
        <p14:creationId xmlns:p14="http://schemas.microsoft.com/office/powerpoint/2010/main" val="342197754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A0A7-68A7-CB3C-9EDE-EF46242FD37D}"/>
              </a:ext>
            </a:extLst>
          </p:cNvPr>
          <p:cNvSpPr>
            <a:spLocks noGrp="1"/>
          </p:cNvSpPr>
          <p:nvPr>
            <p:ph type="title"/>
          </p:nvPr>
        </p:nvSpPr>
        <p:spPr>
          <a:xfrm>
            <a:off x="0" y="793627"/>
            <a:ext cx="9144000" cy="158873"/>
          </a:xfrm>
        </p:spPr>
        <p:txBody>
          <a:bodyPr>
            <a:normAutofit fontScale="90000"/>
          </a:bodyPr>
          <a:lstStyle/>
          <a:p>
            <a:endParaRPr lang="en-US" dirty="0"/>
          </a:p>
        </p:txBody>
      </p:sp>
      <p:pic>
        <p:nvPicPr>
          <p:cNvPr id="6" name="Content Placeholder 5">
            <a:extLst>
              <a:ext uri="{FF2B5EF4-FFF2-40B4-BE49-F238E27FC236}">
                <a16:creationId xmlns:a16="http://schemas.microsoft.com/office/drawing/2014/main" id="{1C9E1E31-CA74-D995-A6FA-B5CDF51E9BB7}"/>
              </a:ext>
            </a:extLst>
          </p:cNvPr>
          <p:cNvPicPr>
            <a:picLocks noGrp="1" noChangeAspect="1"/>
          </p:cNvPicPr>
          <p:nvPr>
            <p:ph idx="1"/>
          </p:nvPr>
        </p:nvPicPr>
        <p:blipFill>
          <a:blip r:embed="rId2"/>
          <a:stretch>
            <a:fillRect/>
          </a:stretch>
        </p:blipFill>
        <p:spPr>
          <a:xfrm>
            <a:off x="876300" y="793627"/>
            <a:ext cx="7391400" cy="5808347"/>
          </a:xfrm>
        </p:spPr>
      </p:pic>
      <p:sp>
        <p:nvSpPr>
          <p:cNvPr id="4" name="Slide Number Placeholder 3">
            <a:extLst>
              <a:ext uri="{FF2B5EF4-FFF2-40B4-BE49-F238E27FC236}">
                <a16:creationId xmlns:a16="http://schemas.microsoft.com/office/drawing/2014/main" id="{241731B5-870C-1AE8-B807-8D6A136C8D12}"/>
              </a:ext>
            </a:extLst>
          </p:cNvPr>
          <p:cNvSpPr>
            <a:spLocks noGrp="1"/>
          </p:cNvSpPr>
          <p:nvPr>
            <p:ph type="sldNum" sz="quarter" idx="12"/>
          </p:nvPr>
        </p:nvSpPr>
        <p:spPr/>
        <p:txBody>
          <a:bodyPr/>
          <a:lstStyle/>
          <a:p>
            <a:fld id="{7C414AED-89CE-4A48-8B2B-1B3A5C68EA2A}" type="slidenum">
              <a:rPr lang="en-US" smtClean="0"/>
              <a:t>23</a:t>
            </a:fld>
            <a:endParaRPr lang="en-US"/>
          </a:p>
        </p:txBody>
      </p:sp>
    </p:spTree>
    <p:extLst>
      <p:ext uri="{BB962C8B-B14F-4D97-AF65-F5344CB8AC3E}">
        <p14:creationId xmlns:p14="http://schemas.microsoft.com/office/powerpoint/2010/main" val="353336491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dirty="0">
                <a:effectLst/>
              </a:rPr>
              <a:t>Line of Duty Determinations </a:t>
            </a:r>
            <a:endParaRPr lang="en-US" dirty="0"/>
          </a:p>
        </p:txBody>
      </p:sp>
      <p:sp>
        <p:nvSpPr>
          <p:cNvPr id="3" name="Content Placeholder 2"/>
          <p:cNvSpPr>
            <a:spLocks noGrp="1"/>
          </p:cNvSpPr>
          <p:nvPr>
            <p:ph idx="1"/>
            <p:custDataLst>
              <p:tags r:id="rId3"/>
            </p:custDataLst>
          </p:nvPr>
        </p:nvSpPr>
        <p:spPr>
          <a:xfrm>
            <a:off x="457200" y="1638300"/>
            <a:ext cx="8229600" cy="4335463"/>
          </a:xfrm>
        </p:spPr>
        <p:txBody>
          <a:bodyPr>
            <a:normAutofit fontScale="92500" lnSpcReduction="10000"/>
          </a:bodyPr>
          <a:lstStyle/>
          <a:p>
            <a:pPr marL="0" marR="0">
              <a:lnSpc>
                <a:spcPct val="115000"/>
              </a:lnSpc>
              <a:spcBef>
                <a:spcPts val="0"/>
              </a:spcBef>
              <a:spcAft>
                <a:spcPts val="0"/>
              </a:spcAft>
            </a:pPr>
            <a:r>
              <a:rPr lang="en-US" dirty="0">
                <a:latin typeface="+mn-lt"/>
              </a:rPr>
              <a:t>Formal line of duty investigations are documented on </a:t>
            </a:r>
            <a:r>
              <a:rPr lang="en-US" i="1" dirty="0">
                <a:latin typeface="+mn-lt"/>
              </a:rPr>
              <a:t>DD Form 261</a:t>
            </a:r>
            <a:r>
              <a:rPr lang="en-US" dirty="0">
                <a:latin typeface="+mn-lt"/>
              </a:rPr>
              <a:t> </a:t>
            </a:r>
            <a:endParaRPr lang="en-US" dirty="0">
              <a:solidFill>
                <a:srgbClr val="333333"/>
              </a:solidFill>
              <a:latin typeface="+mn-lt"/>
              <a:ea typeface="Calibri" panose="020F0502020204030204" pitchFamily="34" charset="0"/>
              <a:cs typeface="Times New Roman" panose="02020603050405020304" pitchFamily="18" charset="0"/>
            </a:endParaRPr>
          </a:p>
          <a:p>
            <a:pPr lvl="2">
              <a:lnSpc>
                <a:spcPct val="115000"/>
              </a:lnSpc>
              <a:spcBef>
                <a:spcPts val="0"/>
              </a:spcBef>
              <a:spcAft>
                <a:spcPts val="0"/>
              </a:spcAft>
            </a:pPr>
            <a:r>
              <a:rPr lang="en-US" sz="1900" dirty="0">
                <a:solidFill>
                  <a:srgbClr val="333333"/>
                </a:solidFill>
                <a:latin typeface="+mn-lt"/>
                <a:ea typeface="Times New Roman" panose="02020603050405020304" pitchFamily="18" charset="0"/>
                <a:cs typeface="Times New Roman" panose="02020603050405020304" pitchFamily="18" charset="0"/>
              </a:rPr>
              <a:t>form must be complete</a:t>
            </a:r>
            <a:r>
              <a:rPr lang="en-US" sz="1900">
                <a:solidFill>
                  <a:srgbClr val="333333"/>
                </a:solidFill>
                <a:latin typeface="+mn-lt"/>
                <a:ea typeface="Times New Roman" panose="02020603050405020304" pitchFamily="18" charset="0"/>
                <a:cs typeface="Times New Roman" panose="02020603050405020304" pitchFamily="18" charset="0"/>
              </a:rPr>
              <a:t>, and</a:t>
            </a:r>
            <a:endParaRPr lang="en-US" sz="1900" dirty="0">
              <a:solidFill>
                <a:srgbClr val="333333"/>
              </a:solidFill>
              <a:latin typeface="+mn-lt"/>
              <a:ea typeface="Calibri" panose="020F0502020204030204" pitchFamily="34" charset="0"/>
              <a:cs typeface="Times New Roman" panose="02020603050405020304" pitchFamily="18" charset="0"/>
            </a:endParaRPr>
          </a:p>
          <a:p>
            <a:pPr lvl="2">
              <a:lnSpc>
                <a:spcPct val="115000"/>
              </a:lnSpc>
              <a:spcBef>
                <a:spcPts val="0"/>
              </a:spcBef>
              <a:spcAft>
                <a:spcPts val="0"/>
              </a:spcAft>
            </a:pPr>
            <a:r>
              <a:rPr lang="en-US" sz="1900">
                <a:solidFill>
                  <a:srgbClr val="333333"/>
                </a:solidFill>
                <a:latin typeface="+mn-lt"/>
                <a:ea typeface="Times New Roman" panose="02020603050405020304" pitchFamily="18" charset="0"/>
                <a:cs typeface="Times New Roman" panose="02020603050405020304" pitchFamily="18" charset="0"/>
              </a:rPr>
              <a:t>bear </a:t>
            </a:r>
            <a:r>
              <a:rPr lang="en-US" sz="1900" dirty="0">
                <a:solidFill>
                  <a:srgbClr val="333333"/>
                </a:solidFill>
                <a:latin typeface="+mn-lt"/>
                <a:ea typeface="Times New Roman" panose="02020603050405020304" pitchFamily="18" charset="0"/>
                <a:cs typeface="Times New Roman" panose="02020603050405020304" pitchFamily="18" charset="0"/>
              </a:rPr>
              <a:t>the signature of the final approval authority</a:t>
            </a:r>
            <a:endParaRPr lang="en-US" sz="1900" dirty="0">
              <a:solidFill>
                <a:srgbClr val="333333"/>
              </a:solidFill>
              <a:latin typeface="+mn-lt"/>
              <a:ea typeface="Calibri" panose="020F0502020204030204" pitchFamily="34" charset="0"/>
              <a:cs typeface="Times New Roman" panose="02020603050405020304" pitchFamily="18" charset="0"/>
            </a:endParaRPr>
          </a:p>
          <a:p>
            <a:endParaRPr lang="en-US" dirty="0">
              <a:latin typeface="+mn-lt"/>
            </a:endParaRPr>
          </a:p>
          <a:p>
            <a:endParaRPr lang="en-US" dirty="0">
              <a:latin typeface="+mn-lt"/>
            </a:endParaRPr>
          </a:p>
          <a:p>
            <a:r>
              <a:rPr lang="en-US" dirty="0">
                <a:latin typeface="+mn-lt"/>
              </a:rPr>
              <a:t>Not all injuries or diseases, incurred or aggravated in the line of duty will be documented on </a:t>
            </a:r>
            <a:r>
              <a:rPr lang="en-US" i="1" dirty="0">
                <a:latin typeface="+mn-lt"/>
              </a:rPr>
              <a:t>DD Form 261</a:t>
            </a:r>
            <a:r>
              <a:rPr lang="en-US" dirty="0">
                <a:latin typeface="+mn-lt"/>
              </a:rPr>
              <a:t>.</a:t>
            </a:r>
          </a:p>
          <a:p>
            <a:endParaRPr lang="en-US" dirty="0">
              <a:latin typeface="+mn-lt"/>
            </a:endParaRPr>
          </a:p>
          <a:p>
            <a:r>
              <a:rPr lang="en-US" dirty="0">
                <a:latin typeface="+mn-lt"/>
              </a:rPr>
              <a:t>A formal line of duty investigation </a:t>
            </a:r>
            <a:r>
              <a:rPr lang="en-US" b="1" i="1" dirty="0">
                <a:latin typeface="+mn-lt"/>
              </a:rPr>
              <a:t>is not a requirement </a:t>
            </a:r>
            <a:r>
              <a:rPr lang="en-US" dirty="0">
                <a:latin typeface="+mn-lt"/>
              </a:rPr>
              <a:t>to establish that a disease or injury was incurred or aggravated in the line of duty during a period of ADT or IADT.   </a:t>
            </a:r>
          </a:p>
          <a:p>
            <a:endParaRPr lang="en-US" dirty="0">
              <a:latin typeface="+mn-lt"/>
            </a:endParaRPr>
          </a:p>
          <a:p>
            <a:r>
              <a:rPr lang="en-US" dirty="0">
                <a:latin typeface="+mn-lt"/>
              </a:rPr>
              <a:t>DO NOT USE THE LACK OF AN LINE OF DUTY DETERMINATION AS SOLE REASON FOR DENYING A CLAIM FOR SERVICE CONNECTION  </a:t>
            </a:r>
          </a:p>
          <a:p>
            <a:endParaRPr lang="en-US" dirty="0"/>
          </a:p>
          <a:p>
            <a:endParaRPr lang="en-US" dirty="0"/>
          </a:p>
        </p:txBody>
      </p:sp>
      <p:sp>
        <p:nvSpPr>
          <p:cNvPr id="4" name="Slide Number Placeholder 3"/>
          <p:cNvSpPr>
            <a:spLocks noGrp="1"/>
          </p:cNvSpPr>
          <p:nvPr>
            <p:ph type="sldNum" sz="quarter" idx="12"/>
            <p:custDataLst>
              <p:tags r:id="rId4"/>
            </p:custDataLst>
          </p:nvPr>
        </p:nvSpPr>
        <p:spPr>
          <a:xfrm>
            <a:off x="6931152" y="6601974"/>
            <a:ext cx="2133600" cy="365125"/>
          </a:xfrm>
        </p:spPr>
        <p:txBody>
          <a:bodyPr/>
          <a:lstStyle/>
          <a:p>
            <a:fld id="{7C414AED-89CE-4A48-8B2B-1B3A5C68EA2A}" type="slidenum">
              <a:rPr lang="en-US" smtClean="0"/>
              <a:t>24</a:t>
            </a:fld>
            <a:endParaRPr lang="en-US"/>
          </a:p>
        </p:txBody>
      </p:sp>
    </p:spTree>
    <p:custDataLst>
      <p:tags r:id="rId1"/>
    </p:custDataLst>
    <p:extLst>
      <p:ext uri="{BB962C8B-B14F-4D97-AF65-F5344CB8AC3E}">
        <p14:creationId xmlns:p14="http://schemas.microsoft.com/office/powerpoint/2010/main" val="378982717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t>Line of Duty </a:t>
            </a:r>
            <a:r>
              <a:rPr lang="en-US" i="1"/>
              <a:t>Continued</a:t>
            </a:r>
          </a:p>
        </p:txBody>
      </p:sp>
      <p:sp>
        <p:nvSpPr>
          <p:cNvPr id="4" name="Slide Number Placeholder 3"/>
          <p:cNvSpPr>
            <a:spLocks noGrp="1"/>
          </p:cNvSpPr>
          <p:nvPr>
            <p:ph type="sldNum" sz="quarter" idx="12"/>
            <p:custDataLst>
              <p:tags r:id="rId3"/>
            </p:custDataLst>
          </p:nvPr>
        </p:nvSpPr>
        <p:spPr>
          <a:xfrm>
            <a:off x="6931152" y="6601974"/>
            <a:ext cx="2133600" cy="365125"/>
          </a:xfrm>
        </p:spPr>
        <p:txBody>
          <a:bodyPr/>
          <a:lstStyle/>
          <a:p>
            <a:fld id="{7C414AED-89CE-4A48-8B2B-1B3A5C68EA2A}" type="slidenum">
              <a:rPr lang="en-US" smtClean="0"/>
              <a:t>25</a:t>
            </a:fld>
            <a:endParaRPr lang="en-US"/>
          </a:p>
        </p:txBody>
      </p:sp>
      <p:sp>
        <p:nvSpPr>
          <p:cNvPr id="6" name="TextBox 5">
            <a:extLst>
              <a:ext uri="{FF2B5EF4-FFF2-40B4-BE49-F238E27FC236}">
                <a16:creationId xmlns:a16="http://schemas.microsoft.com/office/drawing/2014/main" id="{41B0FAB6-789A-40CB-A8A6-BA29E70A8C47}"/>
              </a:ext>
            </a:extLst>
          </p:cNvPr>
          <p:cNvSpPr txBox="1"/>
          <p:nvPr>
            <p:custDataLst>
              <p:tags r:id="rId4"/>
            </p:custDataLst>
          </p:nvPr>
        </p:nvSpPr>
        <p:spPr>
          <a:xfrm>
            <a:off x="457200" y="1982450"/>
            <a:ext cx="8229600" cy="4001095"/>
          </a:xfrm>
          <a:prstGeom prst="rect">
            <a:avLst/>
          </a:prstGeom>
          <a:noFill/>
        </p:spPr>
        <p:txBody>
          <a:bodyPr wrap="square" rtlCol="0">
            <a:spAutoFit/>
          </a:bodyPr>
          <a:lstStyle/>
          <a:p>
            <a:pPr marL="285750" indent="-285750">
              <a:spcAft>
                <a:spcPts val="600"/>
              </a:spcAft>
              <a:buClr>
                <a:schemeClr val="tx1"/>
              </a:buClr>
              <a:buFont typeface="Arial" panose="020B0604020202020204" pitchFamily="34" charset="0"/>
              <a:buChar char="•"/>
            </a:pPr>
            <a:r>
              <a:rPr lang="en-US" dirty="0"/>
              <a:t>“In the line of duty” does not always mean while the Reservist or National Guard member was at work.  For Reserve and Guard members, travel directly to and from the place of inactive duty training (IDT) or drill, as well as overnight stays immediately before or between successive periods of drill, are generally considered within a duty status for LOD purposes.</a:t>
            </a:r>
          </a:p>
          <a:p>
            <a:pPr marL="285750" indent="-285750">
              <a:spcAft>
                <a:spcPts val="600"/>
              </a:spcAft>
              <a:buClr>
                <a:schemeClr val="tx1"/>
              </a:buClr>
              <a:buFont typeface="Arial" panose="020B0604020202020204" pitchFamily="34" charset="0"/>
              <a:buChar char="•"/>
            </a:pPr>
            <a:endParaRPr lang="en-US" dirty="0"/>
          </a:p>
          <a:p>
            <a:pPr marL="285750" indent="-285750">
              <a:spcAft>
                <a:spcPts val="600"/>
              </a:spcAft>
              <a:buClr>
                <a:schemeClr val="tx1"/>
              </a:buClr>
              <a:buFont typeface="Arial" panose="020B0604020202020204" pitchFamily="34" charset="0"/>
              <a:buChar char="•"/>
            </a:pPr>
            <a:r>
              <a:rPr lang="en-US" dirty="0"/>
              <a:t>Individuals with AGR service, including in the National Guard, are on continuous duty 24 hours a day, seven days a week just as are their active-duty counterparts.  Therefore, AGR cases will most likely not have any LOD investigation performed.  </a:t>
            </a:r>
          </a:p>
          <a:p>
            <a:pPr marL="285750" indent="-285750">
              <a:spcAft>
                <a:spcPts val="600"/>
              </a:spcAft>
              <a:buClr>
                <a:schemeClr val="tx1"/>
              </a:buClr>
              <a:buFont typeface="Arial" panose="020B0604020202020204" pitchFamily="34" charset="0"/>
              <a:buChar char="•"/>
            </a:pPr>
            <a:endParaRPr lang="en-US" dirty="0"/>
          </a:p>
          <a:p>
            <a:pPr marL="285750" indent="-285750">
              <a:spcAft>
                <a:spcPts val="600"/>
              </a:spcAft>
              <a:buClr>
                <a:schemeClr val="tx1"/>
              </a:buClr>
              <a:buFont typeface="Arial" panose="020B0604020202020204" pitchFamily="34" charset="0"/>
              <a:buChar char="•"/>
            </a:pPr>
            <a:r>
              <a:rPr lang="en-US" dirty="0"/>
              <a:t>If no intentional negligence or willful misconduct is noted, an injury or disease that occurs during AGR service is presumed to be in the line of duty.</a:t>
            </a:r>
          </a:p>
        </p:txBody>
      </p:sp>
    </p:spTree>
    <p:custDataLst>
      <p:tags r:id="rId1"/>
    </p:custDataLst>
    <p:extLst>
      <p:ext uri="{BB962C8B-B14F-4D97-AF65-F5344CB8AC3E}">
        <p14:creationId xmlns:p14="http://schemas.microsoft.com/office/powerpoint/2010/main" val="216236133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77EEB-DABD-45C7-B37C-01C4D83B26DD}"/>
              </a:ext>
            </a:extLst>
          </p:cNvPr>
          <p:cNvSpPr>
            <a:spLocks noGrp="1"/>
          </p:cNvSpPr>
          <p:nvPr>
            <p:ph type="title"/>
          </p:nvPr>
        </p:nvSpPr>
        <p:spPr/>
        <p:txBody>
          <a:bodyPr/>
          <a:lstStyle/>
          <a:p>
            <a:r>
              <a:rPr lang="en-US" dirty="0"/>
              <a:t>DD 261</a:t>
            </a:r>
          </a:p>
        </p:txBody>
      </p:sp>
      <p:pic>
        <p:nvPicPr>
          <p:cNvPr id="6" name="Content Placeholder 5">
            <a:extLst>
              <a:ext uri="{FF2B5EF4-FFF2-40B4-BE49-F238E27FC236}">
                <a16:creationId xmlns:a16="http://schemas.microsoft.com/office/drawing/2014/main" id="{BD148CB5-FBC3-4455-805F-8835E14D0F48}"/>
              </a:ext>
            </a:extLst>
          </p:cNvPr>
          <p:cNvPicPr>
            <a:picLocks noGrp="1" noChangeAspect="1"/>
          </p:cNvPicPr>
          <p:nvPr>
            <p:ph idx="1"/>
          </p:nvPr>
        </p:nvPicPr>
        <p:blipFill>
          <a:blip r:embed="rId2"/>
          <a:stretch>
            <a:fillRect/>
          </a:stretch>
        </p:blipFill>
        <p:spPr>
          <a:xfrm>
            <a:off x="1344422" y="2057400"/>
            <a:ext cx="6455155" cy="3916363"/>
          </a:xfrm>
        </p:spPr>
      </p:pic>
      <p:sp>
        <p:nvSpPr>
          <p:cNvPr id="4" name="Slide Number Placeholder 3">
            <a:extLst>
              <a:ext uri="{FF2B5EF4-FFF2-40B4-BE49-F238E27FC236}">
                <a16:creationId xmlns:a16="http://schemas.microsoft.com/office/drawing/2014/main" id="{B0E9D4A5-D0D8-4A36-8205-5E6755FAD28C}"/>
              </a:ext>
            </a:extLst>
          </p:cNvPr>
          <p:cNvSpPr>
            <a:spLocks noGrp="1"/>
          </p:cNvSpPr>
          <p:nvPr>
            <p:ph type="sldNum" sz="quarter" idx="12"/>
          </p:nvPr>
        </p:nvSpPr>
        <p:spPr/>
        <p:txBody>
          <a:bodyPr/>
          <a:lstStyle/>
          <a:p>
            <a:fld id="{36A6A193-2FDC-48DD-8023-1C75B05EEA9A}" type="slidenum">
              <a:rPr lang="en-US" smtClean="0"/>
              <a:t>26</a:t>
            </a:fld>
            <a:endParaRPr lang="en-US"/>
          </a:p>
        </p:txBody>
      </p:sp>
    </p:spTree>
    <p:extLst>
      <p:ext uri="{BB962C8B-B14F-4D97-AF65-F5344CB8AC3E}">
        <p14:creationId xmlns:p14="http://schemas.microsoft.com/office/powerpoint/2010/main" val="156616137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F3823-9553-F374-1F92-8731A0D9CB80}"/>
              </a:ext>
            </a:extLst>
          </p:cNvPr>
          <p:cNvSpPr>
            <a:spLocks noGrp="1"/>
          </p:cNvSpPr>
          <p:nvPr>
            <p:ph type="title"/>
          </p:nvPr>
        </p:nvSpPr>
        <p:spPr>
          <a:xfrm>
            <a:off x="0" y="793628"/>
            <a:ext cx="9144000" cy="635562"/>
          </a:xfrm>
        </p:spPr>
        <p:txBody>
          <a:bodyPr>
            <a:normAutofit fontScale="90000"/>
          </a:bodyPr>
          <a:lstStyle/>
          <a:p>
            <a:r>
              <a:rPr lang="en-US" dirty="0"/>
              <a:t>AGR Review Findings</a:t>
            </a:r>
            <a:br>
              <a:rPr lang="en-US" dirty="0"/>
            </a:br>
            <a:br>
              <a:rPr lang="en-US" dirty="0"/>
            </a:br>
            <a:endParaRPr lang="en-US" dirty="0"/>
          </a:p>
        </p:txBody>
      </p:sp>
      <p:sp>
        <p:nvSpPr>
          <p:cNvPr id="3" name="Content Placeholder 2">
            <a:extLst>
              <a:ext uri="{FF2B5EF4-FFF2-40B4-BE49-F238E27FC236}">
                <a16:creationId xmlns:a16="http://schemas.microsoft.com/office/drawing/2014/main" id="{69991717-6BA9-07F2-BC3A-A550CA07F120}"/>
              </a:ext>
            </a:extLst>
          </p:cNvPr>
          <p:cNvSpPr>
            <a:spLocks noGrp="1"/>
          </p:cNvSpPr>
          <p:nvPr>
            <p:ph idx="1"/>
          </p:nvPr>
        </p:nvSpPr>
        <p:spPr>
          <a:xfrm>
            <a:off x="457200" y="1524000"/>
            <a:ext cx="8607552" cy="5077974"/>
          </a:xfrm>
        </p:spPr>
        <p:txBody>
          <a:bodyPr>
            <a:normAutofit/>
          </a:bodyPr>
          <a:lstStyle/>
          <a:p>
            <a:pPr marL="0" indent="0" algn="ctr">
              <a:buNone/>
            </a:pPr>
            <a:r>
              <a:rPr lang="en-US" b="1" dirty="0"/>
              <a:t>TREND #1 </a:t>
            </a:r>
            <a:endParaRPr lang="en-US" dirty="0"/>
          </a:p>
          <a:p>
            <a:pPr marL="0" indent="0">
              <a:buNone/>
            </a:pPr>
            <a:r>
              <a:rPr lang="en-US" dirty="0"/>
              <a:t>VSRs/RVSRs are prematurely deciding that the AGR period is </a:t>
            </a:r>
            <a:r>
              <a:rPr lang="en-US" i="1" dirty="0"/>
              <a:t>not qualifying service </a:t>
            </a:r>
            <a:r>
              <a:rPr lang="en-US" dirty="0"/>
              <a:t>before they order the VAE and therefore, they do not order the VAEs/MO correctly. </a:t>
            </a:r>
          </a:p>
          <a:p>
            <a:pPr marL="0" indent="0">
              <a:buNone/>
            </a:pPr>
            <a:r>
              <a:rPr lang="en-US" dirty="0"/>
              <a:t>Instead of looking at the period of AGR service as </a:t>
            </a:r>
            <a:r>
              <a:rPr lang="en-US" i="1" dirty="0"/>
              <a:t>not qualifying</a:t>
            </a:r>
            <a:r>
              <a:rPr lang="en-US" dirty="0"/>
              <a:t> from the beginning, the VSRs/RVSRs need to treat the period of AGR service as if it IS qualifying service when doing their initial review of the file.  If they find an injury/disease that the Veteran is claiming took place in the STRs, then the VSR/RVSRs should order the VAEs and MOs accordingly, </a:t>
            </a:r>
            <a:r>
              <a:rPr lang="en-US" b="1" dirty="0"/>
              <a:t>just like we would for any other Active-Duty Veteran.  </a:t>
            </a:r>
            <a:r>
              <a:rPr lang="en-US" dirty="0"/>
              <a:t>THEN, after the exams come back and IF we can grant one thing from that period of AGR service, then the entire period of AGR/Title 32 service becomes active duty for VA purposes.   </a:t>
            </a:r>
          </a:p>
          <a:p>
            <a:pPr marL="0" indent="0">
              <a:buNone/>
            </a:pPr>
            <a:r>
              <a:rPr lang="en-US" dirty="0"/>
              <a:t> </a:t>
            </a:r>
          </a:p>
          <a:p>
            <a:pPr marL="0" indent="0">
              <a:buNone/>
            </a:pPr>
            <a:r>
              <a:rPr lang="en-US" b="1" dirty="0"/>
              <a:t>(38 CFR 3.6, 38 CFR 3.159, M21-1, Part IV, Subpart i, Chapter 1, Section B - Evidentiary Standards for Finding an Examination or Opinion Necessary) </a:t>
            </a:r>
          </a:p>
          <a:p>
            <a:endParaRPr lang="en-US" dirty="0"/>
          </a:p>
        </p:txBody>
      </p:sp>
      <p:sp>
        <p:nvSpPr>
          <p:cNvPr id="4" name="Slide Number Placeholder 3">
            <a:extLst>
              <a:ext uri="{FF2B5EF4-FFF2-40B4-BE49-F238E27FC236}">
                <a16:creationId xmlns:a16="http://schemas.microsoft.com/office/drawing/2014/main" id="{712CFE67-5ACD-A8E9-DD23-345591ECD496}"/>
              </a:ext>
            </a:extLst>
          </p:cNvPr>
          <p:cNvSpPr>
            <a:spLocks noGrp="1"/>
          </p:cNvSpPr>
          <p:nvPr>
            <p:ph type="sldNum" sz="quarter" idx="12"/>
          </p:nvPr>
        </p:nvSpPr>
        <p:spPr/>
        <p:txBody>
          <a:bodyPr/>
          <a:lstStyle/>
          <a:p>
            <a:fld id="{36A6A193-2FDC-48DD-8023-1C75B05EEA9A}" type="slidenum">
              <a:rPr lang="en-US" smtClean="0"/>
              <a:t>27</a:t>
            </a:fld>
            <a:endParaRPr lang="en-US"/>
          </a:p>
        </p:txBody>
      </p:sp>
    </p:spTree>
    <p:extLst>
      <p:ext uri="{BB962C8B-B14F-4D97-AF65-F5344CB8AC3E}">
        <p14:creationId xmlns:p14="http://schemas.microsoft.com/office/powerpoint/2010/main" val="173705498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2B483-BE8D-466E-B70A-10C9AF65E4F5}"/>
              </a:ext>
            </a:extLst>
          </p:cNvPr>
          <p:cNvSpPr>
            <a:spLocks noGrp="1"/>
          </p:cNvSpPr>
          <p:nvPr>
            <p:ph type="title"/>
          </p:nvPr>
        </p:nvSpPr>
        <p:spPr>
          <a:xfrm>
            <a:off x="0" y="793628"/>
            <a:ext cx="9144000" cy="635562"/>
          </a:xfrm>
        </p:spPr>
        <p:txBody>
          <a:bodyPr/>
          <a:lstStyle/>
          <a:p>
            <a:r>
              <a:rPr lang="en-US" dirty="0"/>
              <a:t>AGR Review Findings</a:t>
            </a:r>
          </a:p>
        </p:txBody>
      </p:sp>
      <p:sp>
        <p:nvSpPr>
          <p:cNvPr id="3" name="Content Placeholder 2">
            <a:extLst>
              <a:ext uri="{FF2B5EF4-FFF2-40B4-BE49-F238E27FC236}">
                <a16:creationId xmlns:a16="http://schemas.microsoft.com/office/drawing/2014/main" id="{14440171-78C2-8F79-C570-0E191A6BE942}"/>
              </a:ext>
            </a:extLst>
          </p:cNvPr>
          <p:cNvSpPr>
            <a:spLocks noGrp="1"/>
          </p:cNvSpPr>
          <p:nvPr>
            <p:ph idx="1"/>
          </p:nvPr>
        </p:nvSpPr>
        <p:spPr>
          <a:xfrm>
            <a:off x="457200" y="1266825"/>
            <a:ext cx="8229600" cy="5514975"/>
          </a:xfrm>
        </p:spPr>
        <p:txBody>
          <a:bodyPr>
            <a:normAutofit fontScale="92500" lnSpcReduction="10000"/>
          </a:bodyPr>
          <a:lstStyle/>
          <a:p>
            <a:pPr marL="0" indent="0" algn="ctr">
              <a:buNone/>
            </a:pPr>
            <a:r>
              <a:rPr lang="en-US" b="1" dirty="0"/>
              <a:t>TREND #2 </a:t>
            </a:r>
            <a:endParaRPr lang="en-US" dirty="0"/>
          </a:p>
          <a:p>
            <a:endParaRPr lang="en-US" dirty="0"/>
          </a:p>
          <a:p>
            <a:pPr marL="0" indent="0">
              <a:buNone/>
            </a:pPr>
            <a:r>
              <a:rPr lang="en-US" dirty="0"/>
              <a:t>RVSRs must determine if there are injuries/diseases related to period of AGR/Title 32 service by requesting a VAE/MO and asking the examiner if the disability is related to the event which happened on a specific date. However, the examiners will often provide negative opinions based on the following rationale, “</a:t>
            </a:r>
            <a:r>
              <a:rPr lang="en-US" i="1" dirty="0"/>
              <a:t>This injury is not related because the Veteran was not on AD at the time of the injury.</a:t>
            </a:r>
            <a:r>
              <a:rPr lang="en-US" dirty="0"/>
              <a:t>” </a:t>
            </a:r>
            <a:endParaRPr lang="en-US" b="1" dirty="0"/>
          </a:p>
          <a:p>
            <a:pPr marL="0" indent="0">
              <a:buNone/>
            </a:pPr>
            <a:r>
              <a:rPr lang="en-US" b="1" dirty="0"/>
              <a:t>If we receive a rationale like the one above, then we MUST return the opinion.</a:t>
            </a:r>
          </a:p>
          <a:p>
            <a:pPr marL="0" indent="0">
              <a:buNone/>
            </a:pPr>
            <a:endParaRPr lang="en-US" i="1" dirty="0"/>
          </a:p>
          <a:p>
            <a:pPr marL="0" indent="0">
              <a:buNone/>
            </a:pPr>
            <a:endParaRPr lang="en-US" i="1" dirty="0"/>
          </a:p>
          <a:p>
            <a:pPr marL="0" indent="0">
              <a:buNone/>
            </a:pPr>
            <a:r>
              <a:rPr lang="en-US" i="1" dirty="0"/>
              <a:t>“It is the duty of the VA to determine whether the Veteran’s service is qualifying active service.  The determination regarding the type of service is not a medical decision and is not the responsibility of the VA examiner.  The Veteran sustained a right knee injury during a Drill Weekend with the National Guard on April 6, 2024.   </a:t>
            </a:r>
          </a:p>
          <a:p>
            <a:pPr marL="0" indent="0">
              <a:buNone/>
            </a:pPr>
            <a:r>
              <a:rPr lang="en-US" i="1" dirty="0"/>
              <a:t>Please answer the previously requested opinion regarding whether the current right knee condition is at least as likely as not related to the right knee injury which took place on April 6, 2024.”  </a:t>
            </a:r>
          </a:p>
          <a:p>
            <a:pPr marL="0" indent="0">
              <a:buNone/>
            </a:pPr>
            <a:endParaRPr lang="en-US" i="1" dirty="0"/>
          </a:p>
          <a:p>
            <a:pPr marL="0" indent="0" algn="ctr">
              <a:buNone/>
            </a:pPr>
            <a:r>
              <a:rPr lang="en-US" i="1" dirty="0"/>
              <a:t>(</a:t>
            </a:r>
            <a:r>
              <a:rPr lang="fr-FR" b="1" dirty="0"/>
              <a:t>IV.i.3.C.1.a. </a:t>
            </a:r>
            <a:r>
              <a:rPr lang="fr-FR" b="1" dirty="0" err="1"/>
              <a:t>Insufficient</a:t>
            </a:r>
            <a:r>
              <a:rPr lang="fr-FR" b="1" dirty="0"/>
              <a:t> </a:t>
            </a:r>
            <a:r>
              <a:rPr lang="fr-FR" b="1" dirty="0" err="1"/>
              <a:t>Examination</a:t>
            </a:r>
            <a:r>
              <a:rPr lang="fr-FR" b="1" dirty="0"/>
              <a:t> Reports; 38 CFR 4.2; 38 CFR 4.6)</a:t>
            </a: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80E95837-DFB4-67C7-B44B-EBE91BBC2659}"/>
              </a:ext>
            </a:extLst>
          </p:cNvPr>
          <p:cNvSpPr>
            <a:spLocks noGrp="1"/>
          </p:cNvSpPr>
          <p:nvPr>
            <p:ph type="sldNum" sz="quarter" idx="12"/>
          </p:nvPr>
        </p:nvSpPr>
        <p:spPr/>
        <p:txBody>
          <a:bodyPr/>
          <a:lstStyle/>
          <a:p>
            <a:fld id="{36A6A193-2FDC-48DD-8023-1C75B05EEA9A}" type="slidenum">
              <a:rPr lang="en-US" smtClean="0"/>
              <a:t>28</a:t>
            </a:fld>
            <a:endParaRPr lang="en-US"/>
          </a:p>
        </p:txBody>
      </p:sp>
    </p:spTree>
    <p:extLst>
      <p:ext uri="{BB962C8B-B14F-4D97-AF65-F5344CB8AC3E}">
        <p14:creationId xmlns:p14="http://schemas.microsoft.com/office/powerpoint/2010/main" val="296128903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E3907-DB5A-A83B-427F-ED5AD18AF6D9}"/>
              </a:ext>
            </a:extLst>
          </p:cNvPr>
          <p:cNvSpPr>
            <a:spLocks noGrp="1"/>
          </p:cNvSpPr>
          <p:nvPr>
            <p:ph type="title"/>
          </p:nvPr>
        </p:nvSpPr>
        <p:spPr/>
        <p:txBody>
          <a:bodyPr/>
          <a:lstStyle/>
          <a:p>
            <a:r>
              <a:rPr lang="en-US" dirty="0"/>
              <a:t>AGR Review Findings</a:t>
            </a:r>
          </a:p>
        </p:txBody>
      </p:sp>
      <p:sp>
        <p:nvSpPr>
          <p:cNvPr id="3" name="Content Placeholder 2">
            <a:extLst>
              <a:ext uri="{FF2B5EF4-FFF2-40B4-BE49-F238E27FC236}">
                <a16:creationId xmlns:a16="http://schemas.microsoft.com/office/drawing/2014/main" id="{A5E05410-DD13-ED06-7796-D4919C604213}"/>
              </a:ext>
            </a:extLst>
          </p:cNvPr>
          <p:cNvSpPr>
            <a:spLocks noGrp="1"/>
          </p:cNvSpPr>
          <p:nvPr>
            <p:ph idx="1"/>
          </p:nvPr>
        </p:nvSpPr>
        <p:spPr>
          <a:xfrm>
            <a:off x="457200" y="1724025"/>
            <a:ext cx="8229600" cy="4267199"/>
          </a:xfrm>
        </p:spPr>
        <p:txBody>
          <a:bodyPr>
            <a:normAutofit fontScale="92500" lnSpcReduction="20000"/>
          </a:bodyPr>
          <a:lstStyle/>
          <a:p>
            <a:pPr marL="0" indent="0" algn="ctr">
              <a:buNone/>
            </a:pPr>
            <a:r>
              <a:rPr lang="en-US" b="1" dirty="0"/>
              <a:t>TREND #3 </a:t>
            </a:r>
            <a:endParaRPr lang="en-US" dirty="0"/>
          </a:p>
          <a:p>
            <a:r>
              <a:rPr lang="en-US" dirty="0"/>
              <a:t>RVRS believe that an LOD determination is required for injuries/diseases that took place during a period of AGR service and are erroneously denying conditions that incurred during AGR service.  However, LOD Determinations are not technically “required” for ANY period of service.</a:t>
            </a:r>
          </a:p>
          <a:p>
            <a:pPr marL="0" indent="0">
              <a:buNone/>
            </a:pPr>
            <a:r>
              <a:rPr lang="en-US" dirty="0"/>
              <a:t>  </a:t>
            </a:r>
          </a:p>
          <a:p>
            <a:r>
              <a:rPr lang="en-US" dirty="0"/>
              <a:t>Individuals with AGR service, including in the National Guard, are on continuous duty 24 hours a day, seven days a week just as are their active-duty counterparts.  Therefore, AGR cases will most likely not have any LOD investigation performed.  </a:t>
            </a:r>
          </a:p>
          <a:p>
            <a:endParaRPr lang="en-US" dirty="0"/>
          </a:p>
          <a:p>
            <a:pPr marL="0" indent="0">
              <a:buNone/>
            </a:pPr>
            <a:r>
              <a:rPr lang="en-US" dirty="0">
                <a:solidFill>
                  <a:srgbClr val="1F497D"/>
                </a:solidFill>
              </a:rPr>
              <a:t>REMEMBER:  Once a disability that arose from the AGR service is service connected, THEN that period of AGR service becomes qualifying service.    </a:t>
            </a:r>
          </a:p>
          <a:p>
            <a:pPr marL="0" indent="0">
              <a:buNone/>
            </a:pPr>
            <a:endParaRPr lang="en-US" dirty="0"/>
          </a:p>
          <a:p>
            <a:pPr marL="0" indent="0">
              <a:buNone/>
            </a:pPr>
            <a:r>
              <a:rPr lang="en-US" dirty="0"/>
              <a:t>(</a:t>
            </a:r>
            <a:r>
              <a:rPr lang="en-US" b="1" dirty="0"/>
              <a:t>III.i.1.A.2.e.  Service Department Records for Verifying Periods of ADT and IADT; III.i.1.A.2.f.  Deciding Line of Duty Status for Claims Based on ADT or IADT)</a:t>
            </a:r>
          </a:p>
          <a:p>
            <a:endParaRPr lang="en-US" b="1" dirty="0"/>
          </a:p>
          <a:p>
            <a:endParaRPr lang="en-US" dirty="0"/>
          </a:p>
        </p:txBody>
      </p:sp>
      <p:sp>
        <p:nvSpPr>
          <p:cNvPr id="4" name="Slide Number Placeholder 3">
            <a:extLst>
              <a:ext uri="{FF2B5EF4-FFF2-40B4-BE49-F238E27FC236}">
                <a16:creationId xmlns:a16="http://schemas.microsoft.com/office/drawing/2014/main" id="{2EE0ACB3-F94A-3E11-5C3F-9F7C6AEE1973}"/>
              </a:ext>
            </a:extLst>
          </p:cNvPr>
          <p:cNvSpPr>
            <a:spLocks noGrp="1"/>
          </p:cNvSpPr>
          <p:nvPr>
            <p:ph type="sldNum" sz="quarter" idx="12"/>
          </p:nvPr>
        </p:nvSpPr>
        <p:spPr/>
        <p:txBody>
          <a:bodyPr/>
          <a:lstStyle/>
          <a:p>
            <a:fld id="{36A6A193-2FDC-48DD-8023-1C75B05EEA9A}" type="slidenum">
              <a:rPr lang="en-US" smtClean="0"/>
              <a:t>29</a:t>
            </a:fld>
            <a:endParaRPr lang="en-US"/>
          </a:p>
        </p:txBody>
      </p:sp>
    </p:spTree>
    <p:extLst>
      <p:ext uri="{BB962C8B-B14F-4D97-AF65-F5344CB8AC3E}">
        <p14:creationId xmlns:p14="http://schemas.microsoft.com/office/powerpoint/2010/main" val="128982493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pPr fontAlgn="t"/>
            <a:r>
              <a:rPr lang="en-US">
                <a:effectLst/>
              </a:rPr>
              <a:t>Hearing Loss and/or Tinnitus Claims</a:t>
            </a:r>
            <a:endParaRPr lang="en-US" b="0">
              <a:effectLst/>
            </a:endParaRPr>
          </a:p>
        </p:txBody>
      </p:sp>
      <p:sp>
        <p:nvSpPr>
          <p:cNvPr id="4" name="Slide Number Placeholder 3"/>
          <p:cNvSpPr>
            <a:spLocks noGrp="1"/>
          </p:cNvSpPr>
          <p:nvPr>
            <p:ph type="sldNum" sz="quarter" idx="12"/>
            <p:custDataLst>
              <p:tags r:id="rId3"/>
            </p:custDataLst>
          </p:nvPr>
        </p:nvSpPr>
        <p:spPr>
          <a:xfrm>
            <a:off x="6931152" y="6601974"/>
            <a:ext cx="2133600" cy="365125"/>
          </a:xfrm>
        </p:spPr>
        <p:txBody>
          <a:bodyPr/>
          <a:lstStyle/>
          <a:p>
            <a:fld id="{7C414AED-89CE-4A48-8B2B-1B3A5C68EA2A}" type="slidenum">
              <a:rPr lang="en-US" smtClean="0"/>
              <a:t>30</a:t>
            </a:fld>
            <a:endParaRPr lang="en-US"/>
          </a:p>
        </p:txBody>
      </p:sp>
      <p:sp>
        <p:nvSpPr>
          <p:cNvPr id="5" name="TextBox 4">
            <a:extLst>
              <a:ext uri="{FF2B5EF4-FFF2-40B4-BE49-F238E27FC236}">
                <a16:creationId xmlns:a16="http://schemas.microsoft.com/office/drawing/2014/main" id="{0D02AFFF-2CA9-447F-83CA-868F2BD477EC}"/>
              </a:ext>
            </a:extLst>
          </p:cNvPr>
          <p:cNvSpPr txBox="1"/>
          <p:nvPr>
            <p:custDataLst>
              <p:tags r:id="rId4"/>
            </p:custDataLst>
          </p:nvPr>
        </p:nvSpPr>
        <p:spPr>
          <a:xfrm>
            <a:off x="457200" y="3291841"/>
            <a:ext cx="8229600" cy="3016210"/>
          </a:xfrm>
          <a:prstGeom prst="rect">
            <a:avLst/>
          </a:prstGeom>
          <a:noFill/>
        </p:spPr>
        <p:txBody>
          <a:bodyPr wrap="square" rtlCol="0">
            <a:spAutoFit/>
          </a:bodyPr>
          <a:lstStyle/>
          <a:p>
            <a:pPr marL="285750" indent="-285750">
              <a:spcAft>
                <a:spcPts val="600"/>
              </a:spcAft>
              <a:buClr>
                <a:schemeClr val="tx1"/>
              </a:buClr>
              <a:buFont typeface="Arial" panose="020B0604020202020204" pitchFamily="34" charset="0"/>
              <a:buChar char="•"/>
            </a:pPr>
            <a:r>
              <a:rPr lang="en-US"/>
              <a:t>First, consider SC on the basis of a potential relationship to periods of active duty or active duty for training (ADT).</a:t>
            </a:r>
          </a:p>
          <a:p>
            <a:pPr marL="285750" indent="-285750">
              <a:spcAft>
                <a:spcPts val="600"/>
              </a:spcAft>
              <a:buClr>
                <a:schemeClr val="tx1"/>
              </a:buClr>
              <a:buFont typeface="Arial" panose="020B0604020202020204" pitchFamily="34" charset="0"/>
              <a:buChar char="•"/>
            </a:pPr>
            <a:r>
              <a:rPr lang="en-US"/>
              <a:t>When SC for hearing loss and/or tinnitus may not be directly related to a period of active duty or extended ADT, entitlement to SC may still be established if there has been a decrease in auditory acuity due to military duties as a member of the National Guard or Reserves.</a:t>
            </a:r>
          </a:p>
          <a:p>
            <a:pPr marL="285750" indent="-285750">
              <a:spcAft>
                <a:spcPts val="600"/>
              </a:spcAft>
              <a:buClr>
                <a:schemeClr val="tx1"/>
              </a:buClr>
              <a:buFont typeface="Arial" panose="020B0604020202020204" pitchFamily="34" charset="0"/>
              <a:buChar char="•"/>
            </a:pPr>
            <a:r>
              <a:rPr lang="en-US"/>
              <a:t>SC for hearing loss and/or tinnitus can be established for inactive duty for training (IADT) </a:t>
            </a:r>
            <a:r>
              <a:rPr lang="en-US" i="1"/>
              <a:t>if</a:t>
            </a:r>
            <a:r>
              <a:rPr lang="en-US"/>
              <a:t> the condition can be linked to an injury during IADT as shown by the nature of service, MOS, lay evidence, or other competent evidence.</a:t>
            </a:r>
          </a:p>
        </p:txBody>
      </p:sp>
      <p:sp>
        <p:nvSpPr>
          <p:cNvPr id="6" name="TextBox 5">
            <a:extLst>
              <a:ext uri="{FF2B5EF4-FFF2-40B4-BE49-F238E27FC236}">
                <a16:creationId xmlns:a16="http://schemas.microsoft.com/office/drawing/2014/main" id="{03A6A151-455F-415B-B584-6195A5A11E50}"/>
              </a:ext>
            </a:extLst>
          </p:cNvPr>
          <p:cNvSpPr txBox="1"/>
          <p:nvPr>
            <p:custDataLst>
              <p:tags r:id="rId5"/>
            </p:custDataLst>
          </p:nvPr>
        </p:nvSpPr>
        <p:spPr>
          <a:xfrm>
            <a:off x="457200" y="1880494"/>
            <a:ext cx="8229600" cy="1323439"/>
          </a:xfrm>
          <a:prstGeom prst="rect">
            <a:avLst/>
          </a:prstGeom>
          <a:noFill/>
        </p:spPr>
        <p:txBody>
          <a:bodyPr wrap="square" rtlCol="0">
            <a:spAutoFit/>
          </a:bodyPr>
          <a:lstStyle/>
          <a:p>
            <a:pPr>
              <a:spcAft>
                <a:spcPts val="600"/>
              </a:spcAft>
            </a:pPr>
            <a:r>
              <a:rPr lang="en-US" sz="2000"/>
              <a:t>Claims for SC of hearing loss and/or tinnitus due to service in the National Guard or Reserves should be considered under the same criteria as any claim for SC of hearing loss and/or tinnitus. The condition must be causally related to service.</a:t>
            </a:r>
          </a:p>
        </p:txBody>
      </p:sp>
    </p:spTree>
    <p:custDataLst>
      <p:tags r:id="rId1"/>
    </p:custDataLst>
    <p:extLst>
      <p:ext uri="{BB962C8B-B14F-4D97-AF65-F5344CB8AC3E}">
        <p14:creationId xmlns:p14="http://schemas.microsoft.com/office/powerpoint/2010/main" val="2098245396"/>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46E1B-E995-4518-8D34-5E566C724FF0}"/>
              </a:ext>
            </a:extLst>
          </p:cNvPr>
          <p:cNvSpPr>
            <a:spLocks noGrp="1"/>
          </p:cNvSpPr>
          <p:nvPr>
            <p:ph type="title"/>
          </p:nvPr>
        </p:nvSpPr>
        <p:spPr/>
        <p:txBody>
          <a:bodyPr/>
          <a:lstStyle/>
          <a:p>
            <a:r>
              <a:rPr lang="en-US" dirty="0"/>
              <a:t>Example of NG/Reserve Hearing Loss Opinion Request</a:t>
            </a:r>
          </a:p>
        </p:txBody>
      </p:sp>
      <p:sp>
        <p:nvSpPr>
          <p:cNvPr id="3" name="Content Placeholder 2">
            <a:extLst>
              <a:ext uri="{FF2B5EF4-FFF2-40B4-BE49-F238E27FC236}">
                <a16:creationId xmlns:a16="http://schemas.microsoft.com/office/drawing/2014/main" id="{484B245A-6D08-4DC0-BA3A-909B0B4DB202}"/>
              </a:ext>
            </a:extLst>
          </p:cNvPr>
          <p:cNvSpPr>
            <a:spLocks noGrp="1"/>
          </p:cNvSpPr>
          <p:nvPr>
            <p:ph idx="1"/>
          </p:nvPr>
        </p:nvSpPr>
        <p:spPr/>
        <p:txBody>
          <a:bodyPr/>
          <a:lstStyle/>
          <a:p>
            <a:pPr marL="0" marR="0">
              <a:lnSpc>
                <a:spcPct val="115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Veteran was in the Active Army from 03/23/1962 to 03/22/1966.  </a:t>
            </a:r>
            <a:r>
              <a:rPr lang="en-US" sz="1800" dirty="0">
                <a:effectLst/>
                <a:latin typeface="Times New Roman" panose="02020603050405020304" pitchFamily="18" charset="0"/>
                <a:ea typeface="Calibri" panose="020F0502020204030204" pitchFamily="34" charset="0"/>
              </a:rPr>
              <a:t>Veteran was then in the National Guard from 02/12/1971 to 02/23/1985 and was a helicopter mechanic and pilot one weekend a month and 2 weeks in the summer (for VA purposes).  </a:t>
            </a:r>
          </a:p>
          <a:p>
            <a:pPr marL="0" marR="0">
              <a:lnSpc>
                <a:spcPct val="115000"/>
              </a:lnSpc>
              <a:spcBef>
                <a:spcPts val="0"/>
              </a:spcBef>
              <a:spcAft>
                <a:spcPts val="1000"/>
              </a:spcAft>
            </a:pPr>
            <a:r>
              <a:rPr lang="en-US" sz="1800" dirty="0">
                <a:effectLst/>
                <a:latin typeface="Times New Roman" panose="02020603050405020304" pitchFamily="18" charset="0"/>
                <a:ea typeface="Calibri" panose="020F0502020204030204" pitchFamily="34" charset="0"/>
              </a:rPr>
              <a:t>Veteran also was exposed to helicopters daily for 8 years as a civilian. </a:t>
            </a:r>
          </a:p>
          <a:p>
            <a:pPr marL="0" marR="0">
              <a:lnSpc>
                <a:spcPct val="115000"/>
              </a:lnSpc>
              <a:spcBef>
                <a:spcPts val="0"/>
              </a:spcBef>
              <a:spcAft>
                <a:spcPts val="1000"/>
              </a:spcAft>
            </a:pPr>
            <a:endParaRPr lang="en-US" sz="1800" dirty="0">
              <a:latin typeface="Times New Roman" panose="02020603050405020304" pitchFamily="18" charset="0"/>
              <a:ea typeface="Calibri" panose="020F0502020204030204" pitchFamily="34" charset="0"/>
            </a:endParaRPr>
          </a:p>
          <a:p>
            <a:pPr marL="0" marR="0">
              <a:lnSpc>
                <a:spcPct val="115000"/>
              </a:lnSpc>
              <a:spcBef>
                <a:spcPts val="0"/>
              </a:spcBef>
              <a:spcAft>
                <a:spcPts val="1000"/>
              </a:spcAft>
            </a:pPr>
            <a:r>
              <a:rPr lang="en-US" sz="1800" dirty="0">
                <a:effectLst/>
                <a:latin typeface="Times New Roman" panose="02020603050405020304" pitchFamily="18" charset="0"/>
                <a:ea typeface="Calibri" panose="020F0502020204030204" pitchFamily="34" charset="0"/>
              </a:rPr>
              <a:t>Please evaluate these conditions and give opinion as to whether the Veteran's current hearing loss and tinnitus, if any, are at least as likely as not related to his noise </a:t>
            </a:r>
            <a:r>
              <a:rPr lang="en-US" sz="1800" dirty="0">
                <a:latin typeface="Times New Roman" panose="02020603050405020304" pitchFamily="18" charset="0"/>
                <a:ea typeface="Calibri" panose="020F0502020204030204" pitchFamily="34" charset="0"/>
              </a:rPr>
              <a:t>exposure on </a:t>
            </a:r>
            <a:r>
              <a:rPr lang="en-US" sz="1800" dirty="0">
                <a:effectLst/>
                <a:latin typeface="Times New Roman" panose="02020603050405020304" pitchFamily="18" charset="0"/>
                <a:ea typeface="Calibri" panose="020F0502020204030204" pitchFamily="34" charset="0"/>
              </a:rPr>
              <a:t>Active Army military service and/or during his weekend drills and summer training with the National </a:t>
            </a:r>
            <a:r>
              <a:rPr lang="en-US" sz="1800" dirty="0">
                <a:latin typeface="Times New Roman" panose="02020603050405020304" pitchFamily="18" charset="0"/>
                <a:ea typeface="Calibri" panose="020F0502020204030204" pitchFamily="34" charset="0"/>
              </a:rPr>
              <a:t>G</a:t>
            </a:r>
            <a:r>
              <a:rPr lang="en-US" sz="1800" dirty="0">
                <a:effectLst/>
                <a:latin typeface="Times New Roman" panose="02020603050405020304" pitchFamily="18" charset="0"/>
                <a:ea typeface="Calibri" panose="020F0502020204030204" pitchFamily="34" charset="0"/>
              </a:rPr>
              <a:t>uard.</a:t>
            </a:r>
            <a:endParaRPr lang="en-US" dirty="0"/>
          </a:p>
        </p:txBody>
      </p:sp>
      <p:sp>
        <p:nvSpPr>
          <p:cNvPr id="4" name="Slide Number Placeholder 3">
            <a:extLst>
              <a:ext uri="{FF2B5EF4-FFF2-40B4-BE49-F238E27FC236}">
                <a16:creationId xmlns:a16="http://schemas.microsoft.com/office/drawing/2014/main" id="{FFA67B0E-0948-4216-8110-6BCB8E8E9032}"/>
              </a:ext>
            </a:extLst>
          </p:cNvPr>
          <p:cNvSpPr>
            <a:spLocks noGrp="1"/>
          </p:cNvSpPr>
          <p:nvPr>
            <p:ph type="sldNum" sz="quarter" idx="12"/>
          </p:nvPr>
        </p:nvSpPr>
        <p:spPr/>
        <p:txBody>
          <a:bodyPr/>
          <a:lstStyle/>
          <a:p>
            <a:fld id="{7C414AED-89CE-4A48-8B2B-1B3A5C68EA2A}" type="slidenum">
              <a:rPr lang="en-US" smtClean="0"/>
              <a:t>31</a:t>
            </a:fld>
            <a:endParaRPr lang="en-US"/>
          </a:p>
        </p:txBody>
      </p:sp>
    </p:spTree>
    <p:extLst>
      <p:ext uri="{BB962C8B-B14F-4D97-AF65-F5344CB8AC3E}">
        <p14:creationId xmlns:p14="http://schemas.microsoft.com/office/powerpoint/2010/main" val="178802012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t> SC Based on Multiple Periods of ADT or IADT</a:t>
            </a:r>
          </a:p>
        </p:txBody>
      </p:sp>
      <p:sp>
        <p:nvSpPr>
          <p:cNvPr id="4" name="Slide Number Placeholder 3"/>
          <p:cNvSpPr>
            <a:spLocks noGrp="1"/>
          </p:cNvSpPr>
          <p:nvPr>
            <p:ph type="sldNum" sz="quarter" idx="12"/>
            <p:custDataLst>
              <p:tags r:id="rId3"/>
            </p:custDataLst>
          </p:nvPr>
        </p:nvSpPr>
        <p:spPr>
          <a:xfrm>
            <a:off x="6931152" y="6601974"/>
            <a:ext cx="2133600" cy="365125"/>
          </a:xfrm>
        </p:spPr>
        <p:txBody>
          <a:bodyPr/>
          <a:lstStyle/>
          <a:p>
            <a:fld id="{7C414AED-89CE-4A48-8B2B-1B3A5C68EA2A}" type="slidenum">
              <a:rPr lang="en-US" smtClean="0"/>
              <a:t>32</a:t>
            </a:fld>
            <a:endParaRPr lang="en-US"/>
          </a:p>
        </p:txBody>
      </p:sp>
      <p:sp>
        <p:nvSpPr>
          <p:cNvPr id="5" name="TextBox 4">
            <a:extLst>
              <a:ext uri="{FF2B5EF4-FFF2-40B4-BE49-F238E27FC236}">
                <a16:creationId xmlns:a16="http://schemas.microsoft.com/office/drawing/2014/main" id="{DA4B78BE-74BC-435D-84BA-D27C27C3529E}"/>
              </a:ext>
            </a:extLst>
          </p:cNvPr>
          <p:cNvSpPr txBox="1"/>
          <p:nvPr>
            <p:custDataLst>
              <p:tags r:id="rId4"/>
            </p:custDataLst>
          </p:nvPr>
        </p:nvSpPr>
        <p:spPr>
          <a:xfrm>
            <a:off x="473725" y="1880496"/>
            <a:ext cx="8229600" cy="3293209"/>
          </a:xfrm>
          <a:prstGeom prst="rect">
            <a:avLst/>
          </a:prstGeom>
          <a:noFill/>
        </p:spPr>
        <p:txBody>
          <a:bodyPr wrap="square" rtlCol="0">
            <a:spAutoFit/>
          </a:bodyPr>
          <a:lstStyle/>
          <a:p>
            <a:pPr marL="285750" indent="-285750">
              <a:spcAft>
                <a:spcPts val="600"/>
              </a:spcAft>
              <a:buClr>
                <a:schemeClr val="tx1"/>
              </a:buClr>
              <a:buFont typeface="Arial" panose="020B0604020202020204" pitchFamily="34" charset="0"/>
              <a:buChar char="•"/>
            </a:pPr>
            <a:r>
              <a:rPr lang="en-US" dirty="0"/>
              <a:t>In circumstances where a claimed disability arises as a result of injuries, diseases, or covered conditions incurred in or aggravated during multiple periods of ADT or IADT, only the specific periods of ADT or IADT are considered active service.</a:t>
            </a:r>
          </a:p>
          <a:p>
            <a:pPr marL="285750" indent="-285750">
              <a:spcAft>
                <a:spcPts val="600"/>
              </a:spcAft>
              <a:buClr>
                <a:schemeClr val="tx1"/>
              </a:buClr>
              <a:buFont typeface="Arial" panose="020B0604020202020204" pitchFamily="34" charset="0"/>
              <a:buChar char="•"/>
            </a:pPr>
            <a:endParaRPr lang="en-US" b="1" i="1" dirty="0"/>
          </a:p>
          <a:p>
            <a:pPr marL="285750" indent="-285750">
              <a:spcAft>
                <a:spcPts val="600"/>
              </a:spcAft>
              <a:buClr>
                <a:schemeClr val="tx1"/>
              </a:buClr>
              <a:buFont typeface="Arial" panose="020B0604020202020204" pitchFamily="34" charset="0"/>
              <a:buChar char="•"/>
            </a:pPr>
            <a:r>
              <a:rPr lang="en-US" b="1" i="1" dirty="0"/>
              <a:t>Example</a:t>
            </a:r>
            <a:r>
              <a:rPr lang="en-US" dirty="0"/>
              <a:t>:  SC is warranted for hearing loss based on noise exposure sustained during a claimant’s 20-year career in the Reserves. The entire 20-year span is not considered active service. Rather, only the individual periods of ADT and or IADT during which the noise exposure (which is the conceded in-service injury in these situations) occurred are considered active service.</a:t>
            </a:r>
          </a:p>
        </p:txBody>
      </p:sp>
    </p:spTree>
    <p:custDataLst>
      <p:tags r:id="rId1"/>
    </p:custDataLst>
    <p:extLst>
      <p:ext uri="{BB962C8B-B14F-4D97-AF65-F5344CB8AC3E}">
        <p14:creationId xmlns:p14="http://schemas.microsoft.com/office/powerpoint/2010/main" val="7303758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0E73-74A9-4A86-83AC-566F6374F1A9}"/>
              </a:ext>
            </a:extLst>
          </p:cNvPr>
          <p:cNvSpPr>
            <a:spLocks noGrp="1"/>
          </p:cNvSpPr>
          <p:nvPr>
            <p:ph type="title"/>
          </p:nvPr>
        </p:nvSpPr>
        <p:spPr/>
        <p:txBody>
          <a:bodyPr/>
          <a:lstStyle/>
          <a:p>
            <a:r>
              <a:rPr lang="en-US" dirty="0"/>
              <a:t>Identifying the Period of Service as Active </a:t>
            </a:r>
          </a:p>
        </p:txBody>
      </p:sp>
      <p:sp>
        <p:nvSpPr>
          <p:cNvPr id="3" name="Content Placeholder 2">
            <a:extLst>
              <a:ext uri="{FF2B5EF4-FFF2-40B4-BE49-F238E27FC236}">
                <a16:creationId xmlns:a16="http://schemas.microsoft.com/office/drawing/2014/main" id="{E575EE60-0602-412E-B323-6FF42422DA02}"/>
              </a:ext>
            </a:extLst>
          </p:cNvPr>
          <p:cNvSpPr>
            <a:spLocks noGrp="1"/>
          </p:cNvSpPr>
          <p:nvPr>
            <p:ph idx="1"/>
          </p:nvPr>
        </p:nvSpPr>
        <p:spPr>
          <a:xfrm>
            <a:off x="457200" y="1409699"/>
            <a:ext cx="8229600" cy="5857875"/>
          </a:xfrm>
        </p:spPr>
        <p:txBody>
          <a:bodyPr>
            <a:normAutofit/>
          </a:bodyPr>
          <a:lstStyle/>
          <a:p>
            <a:r>
              <a:rPr lang="en-US" sz="1800" b="0" i="0" u="none" strike="noStrike" baseline="0" dirty="0">
                <a:solidFill>
                  <a:srgbClr val="000000"/>
                </a:solidFill>
                <a:latin typeface="Times New Roman" panose="02020603050405020304" pitchFamily="18" charset="0"/>
                <a:cs typeface="Times New Roman" panose="02020603050405020304" pitchFamily="18" charset="0"/>
              </a:rPr>
              <a:t>When SC for disability or death has been established based on a period of ADT or IADT, the rating activity will identify this period as active service by using the Special Notations box on the Codesheet and identifying </a:t>
            </a:r>
          </a:p>
          <a:p>
            <a:pPr marL="0" indent="0">
              <a:buNone/>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		• the dates of service, and </a:t>
            </a:r>
          </a:p>
          <a:p>
            <a:pPr marL="0" indent="0">
              <a:buNone/>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		• an explanation of the reason for establishing this period as active service. </a:t>
            </a:r>
          </a:p>
          <a:p>
            <a:r>
              <a:rPr lang="en-US" sz="1800" b="1" i="1" u="none" strike="noStrike" baseline="0" dirty="0">
                <a:solidFill>
                  <a:srgbClr val="000000"/>
                </a:solidFill>
                <a:latin typeface="Times New Roman" panose="02020603050405020304" pitchFamily="18" charset="0"/>
                <a:cs typeface="Times New Roman" panose="02020603050405020304" pitchFamily="18" charset="0"/>
              </a:rPr>
              <a:t>Example</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a:t>
            </a:r>
            <a:r>
              <a:rPr lang="en-US" sz="1800" b="0" i="1" u="none" strike="noStrike" baseline="0" dirty="0">
                <a:solidFill>
                  <a:srgbClr val="000000"/>
                </a:solidFill>
                <a:latin typeface="Times New Roman" panose="02020603050405020304" pitchFamily="18" charset="0"/>
                <a:cs typeface="Times New Roman" panose="02020603050405020304" pitchFamily="18" charset="0"/>
              </a:rPr>
              <a:t>Service in the Army National Guard from January 16-17, 2016, is now considered active service based on the grant of SC for right knee ACL injury that was incurred in the line of duty during this period of service</a:t>
            </a:r>
            <a:r>
              <a:rPr lang="en-US" sz="1800" b="0" i="1" u="none" strike="noStrike" baseline="0">
                <a:solidFill>
                  <a:srgbClr val="000000"/>
                </a:solidFill>
                <a:latin typeface="Times New Roman" panose="02020603050405020304" pitchFamily="18" charset="0"/>
                <a:cs typeface="Times New Roman" panose="02020603050405020304" pitchFamily="18" charset="0"/>
              </a:rPr>
              <a:t>. </a:t>
            </a: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b="0" i="0" dirty="0">
                <a:solidFill>
                  <a:srgbClr val="000000"/>
                </a:solidFill>
                <a:effectLst/>
                <a:latin typeface="Times New Roman" panose="02020603050405020304" pitchFamily="18" charset="0"/>
                <a:cs typeface="Times New Roman" panose="02020603050405020304" pitchFamily="18" charset="0"/>
              </a:rPr>
              <a:t>To ensure the rating </a:t>
            </a:r>
            <a:r>
              <a:rPr lang="en-US" b="0" i="1" dirty="0">
                <a:solidFill>
                  <a:srgbClr val="000000"/>
                </a:solidFill>
                <a:effectLst/>
                <a:latin typeface="Times New Roman" panose="02020603050405020304" pitchFamily="18" charset="0"/>
                <a:cs typeface="Times New Roman" panose="02020603050405020304" pitchFamily="18" charset="0"/>
              </a:rPr>
              <a:t>Narrative</a:t>
            </a:r>
            <a:r>
              <a:rPr lang="en-US" b="0" i="0" dirty="0">
                <a:solidFill>
                  <a:srgbClr val="000000"/>
                </a:solidFill>
                <a:effectLst/>
                <a:latin typeface="Times New Roman" panose="02020603050405020304" pitchFamily="18" charset="0"/>
                <a:cs typeface="Times New Roman" panose="02020603050405020304" pitchFamily="18" charset="0"/>
              </a:rPr>
              <a:t> and </a:t>
            </a:r>
            <a:r>
              <a:rPr lang="en-US" b="0" i="1" dirty="0">
                <a:solidFill>
                  <a:srgbClr val="000000"/>
                </a:solidFill>
                <a:effectLst/>
                <a:latin typeface="Times New Roman" panose="02020603050405020304" pitchFamily="18" charset="0"/>
                <a:cs typeface="Times New Roman" panose="02020603050405020304" pitchFamily="18" charset="0"/>
              </a:rPr>
              <a:t>Codesheet</a:t>
            </a:r>
            <a:r>
              <a:rPr lang="en-US" b="0" i="0" dirty="0">
                <a:solidFill>
                  <a:srgbClr val="000000"/>
                </a:solidFill>
                <a:effectLst/>
                <a:latin typeface="Times New Roman" panose="02020603050405020304" pitchFamily="18" charset="0"/>
                <a:cs typeface="Times New Roman" panose="02020603050405020304" pitchFamily="18" charset="0"/>
              </a:rPr>
              <a:t> accurately reflect the period(s) of ADT or IADT that now qualify as active service, refresh the VBMS Rating profile while drafting the rating decision (if necessary) after the military service updates are made in VBMS Core</a:t>
            </a:r>
          </a:p>
          <a:p>
            <a:pPr marL="0" indent="0">
              <a:buNone/>
            </a:pPr>
            <a:endParaRPr lang="en-US" sz="18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1800" b="1" i="1" u="none" strike="noStrike" baseline="0" dirty="0">
                <a:solidFill>
                  <a:srgbClr val="000000"/>
                </a:solidFill>
                <a:latin typeface="Times New Roman" panose="02020603050405020304" pitchFamily="18" charset="0"/>
                <a:cs typeface="Times New Roman" panose="02020603050405020304" pitchFamily="18" charset="0"/>
              </a:rPr>
              <a:t>Note</a:t>
            </a:r>
            <a:r>
              <a:rPr lang="en-US" sz="1800" b="0" i="0" u="none" strike="noStrike" baseline="0" dirty="0">
                <a:solidFill>
                  <a:srgbClr val="000000"/>
                </a:solidFill>
                <a:latin typeface="Times New Roman" panose="02020603050405020304" pitchFamily="18" charset="0"/>
                <a:cs typeface="Times New Roman" panose="02020603050405020304" pitchFamily="18" charset="0"/>
              </a:rPr>
              <a:t>: If the period of ADT or IADT upon which the grant of SC is based is a single day of ADT or IADT (the claimant was only called to a one-day period of ADT or IADT), utilize the day following as the end date of service but clearly annotate the Special Notation box to reflect that the service was actually only one single day of service.</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33D867E-0A84-492B-955B-4911D2019620}"/>
              </a:ext>
            </a:extLst>
          </p:cNvPr>
          <p:cNvSpPr>
            <a:spLocks noGrp="1"/>
          </p:cNvSpPr>
          <p:nvPr>
            <p:ph type="sldNum" sz="quarter" idx="12"/>
          </p:nvPr>
        </p:nvSpPr>
        <p:spPr/>
        <p:txBody>
          <a:bodyPr/>
          <a:lstStyle/>
          <a:p>
            <a:fld id="{36A6A193-2FDC-48DD-8023-1C75B05EEA9A}" type="slidenum">
              <a:rPr lang="en-US" smtClean="0"/>
              <a:t>33</a:t>
            </a:fld>
            <a:endParaRPr lang="en-US"/>
          </a:p>
        </p:txBody>
      </p:sp>
    </p:spTree>
    <p:extLst>
      <p:ext uri="{BB962C8B-B14F-4D97-AF65-F5344CB8AC3E}">
        <p14:creationId xmlns:p14="http://schemas.microsoft.com/office/powerpoint/2010/main" val="41038652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effectLst/>
              </a:rPr>
              <a:t>Presumption of Soundness </a:t>
            </a:r>
            <a:endParaRPr lang="en-US"/>
          </a:p>
        </p:txBody>
      </p:sp>
      <p:sp>
        <p:nvSpPr>
          <p:cNvPr id="3" name="Content Placeholder 2"/>
          <p:cNvSpPr>
            <a:spLocks noGrp="1"/>
          </p:cNvSpPr>
          <p:nvPr>
            <p:ph idx="1"/>
            <p:custDataLst>
              <p:tags r:id="rId3"/>
            </p:custDataLst>
          </p:nvPr>
        </p:nvSpPr>
        <p:spPr>
          <a:xfrm>
            <a:off x="457200" y="2057400"/>
            <a:ext cx="8229600" cy="3916363"/>
          </a:xfrm>
        </p:spPr>
        <p:txBody>
          <a:bodyPr/>
          <a:lstStyle/>
          <a:p>
            <a:r>
              <a:rPr lang="en-US" sz="2000" dirty="0">
                <a:latin typeface="+mj-lt"/>
              </a:rPr>
              <a:t>The presumption of soundness does not automatically apply to all periods of ADT and IADT. </a:t>
            </a:r>
          </a:p>
          <a:p>
            <a:pPr marL="0" indent="0">
              <a:buNone/>
            </a:pPr>
            <a:endParaRPr lang="en-US" sz="2000" dirty="0">
              <a:latin typeface="+mj-lt"/>
            </a:endParaRPr>
          </a:p>
          <a:p>
            <a:r>
              <a:rPr lang="en-US" sz="2000" dirty="0">
                <a:latin typeface="+mj-lt"/>
              </a:rPr>
              <a:t>Presumption of soundness only applies when the Veteran underwent a physical examination at the time of entry into the period of Active Duty for Training on which the claim is based. </a:t>
            </a:r>
          </a:p>
          <a:p>
            <a:pPr marL="0" indent="0">
              <a:buNone/>
            </a:pPr>
            <a:endParaRPr lang="en-US" sz="2000" dirty="0">
              <a:latin typeface="+mj-lt"/>
            </a:endParaRPr>
          </a:p>
          <a:p>
            <a:r>
              <a:rPr lang="en-US" sz="2000" b="0" i="0" u="none" strike="noStrike" baseline="0" dirty="0">
                <a:solidFill>
                  <a:srgbClr val="000000"/>
                </a:solidFill>
                <a:latin typeface="+mj-lt"/>
              </a:rPr>
              <a:t>If an examination was performed, consider the Veteran to have been in sound condition when entering Active </a:t>
            </a:r>
            <a:r>
              <a:rPr lang="en-US" sz="2000" dirty="0">
                <a:solidFill>
                  <a:srgbClr val="000000"/>
                </a:solidFill>
                <a:latin typeface="+mj-lt"/>
              </a:rPr>
              <a:t>D</a:t>
            </a:r>
            <a:r>
              <a:rPr lang="en-US" sz="2000" b="0" i="0" u="none" strike="noStrike" baseline="0" dirty="0">
                <a:solidFill>
                  <a:srgbClr val="000000"/>
                </a:solidFill>
                <a:latin typeface="+mj-lt"/>
              </a:rPr>
              <a:t>uty for Training except as to defects, infirmities, or disorders noted on the examination report. </a:t>
            </a:r>
            <a:r>
              <a:rPr lang="en-US" sz="2000" b="0" i="0" u="none" strike="noStrike" baseline="0" dirty="0">
                <a:solidFill>
                  <a:srgbClr val="000000"/>
                </a:solidFill>
                <a:latin typeface="Times New Roman" panose="02020603050405020304" pitchFamily="18" charset="0"/>
              </a:rPr>
              <a:t>	</a:t>
            </a:r>
          </a:p>
          <a:p>
            <a:endParaRPr lang="en-US" dirty="0"/>
          </a:p>
          <a:p>
            <a:endParaRPr lang="en-US" dirty="0"/>
          </a:p>
        </p:txBody>
      </p:sp>
      <p:sp>
        <p:nvSpPr>
          <p:cNvPr id="4" name="Slide Number Placeholder 3"/>
          <p:cNvSpPr>
            <a:spLocks noGrp="1"/>
          </p:cNvSpPr>
          <p:nvPr>
            <p:ph type="sldNum" sz="quarter" idx="12"/>
            <p:custDataLst>
              <p:tags r:id="rId4"/>
            </p:custDataLst>
          </p:nvPr>
        </p:nvSpPr>
        <p:spPr>
          <a:xfrm>
            <a:off x="6931152" y="6601974"/>
            <a:ext cx="2133600" cy="365125"/>
          </a:xfrm>
        </p:spPr>
        <p:txBody>
          <a:bodyPr/>
          <a:lstStyle/>
          <a:p>
            <a:fld id="{7C414AED-89CE-4A48-8B2B-1B3A5C68EA2A}" type="slidenum">
              <a:rPr lang="en-US" smtClean="0"/>
              <a:t>34</a:t>
            </a:fld>
            <a:endParaRPr lang="en-US"/>
          </a:p>
        </p:txBody>
      </p:sp>
    </p:spTree>
    <p:custDataLst>
      <p:tags r:id="rId1"/>
    </p:custDataLst>
    <p:extLst>
      <p:ext uri="{BB962C8B-B14F-4D97-AF65-F5344CB8AC3E}">
        <p14:creationId xmlns:p14="http://schemas.microsoft.com/office/powerpoint/2010/main" val="363014765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t>Aggravation</a:t>
            </a:r>
          </a:p>
        </p:txBody>
      </p:sp>
      <p:sp>
        <p:nvSpPr>
          <p:cNvPr id="4" name="Slide Number Placeholder 3"/>
          <p:cNvSpPr>
            <a:spLocks noGrp="1"/>
          </p:cNvSpPr>
          <p:nvPr>
            <p:ph type="sldNum" sz="quarter" idx="12"/>
            <p:custDataLst>
              <p:tags r:id="rId3"/>
            </p:custDataLst>
          </p:nvPr>
        </p:nvSpPr>
        <p:spPr>
          <a:xfrm>
            <a:off x="6931152" y="6601974"/>
            <a:ext cx="2133600" cy="365125"/>
          </a:xfrm>
        </p:spPr>
        <p:txBody>
          <a:bodyPr/>
          <a:lstStyle/>
          <a:p>
            <a:fld id="{7C414AED-89CE-4A48-8B2B-1B3A5C68EA2A}" type="slidenum">
              <a:rPr lang="en-US" smtClean="0"/>
              <a:t>35</a:t>
            </a:fld>
            <a:endParaRPr lang="en-US"/>
          </a:p>
        </p:txBody>
      </p:sp>
      <p:sp>
        <p:nvSpPr>
          <p:cNvPr id="5" name="TextBox 4">
            <a:extLst>
              <a:ext uri="{FF2B5EF4-FFF2-40B4-BE49-F238E27FC236}">
                <a16:creationId xmlns:a16="http://schemas.microsoft.com/office/drawing/2014/main" id="{B9FBF267-57F9-41F5-8DA2-2375E1BC8F15}"/>
              </a:ext>
            </a:extLst>
          </p:cNvPr>
          <p:cNvSpPr txBox="1"/>
          <p:nvPr>
            <p:custDataLst>
              <p:tags r:id="rId4"/>
            </p:custDataLst>
          </p:nvPr>
        </p:nvSpPr>
        <p:spPr>
          <a:xfrm>
            <a:off x="451691" y="1880496"/>
            <a:ext cx="8240617" cy="2400657"/>
          </a:xfrm>
          <a:prstGeom prst="rect">
            <a:avLst/>
          </a:prstGeom>
          <a:noFill/>
        </p:spPr>
        <p:txBody>
          <a:bodyPr wrap="square" rtlCol="0">
            <a:spAutoFit/>
          </a:bodyPr>
          <a:lstStyle/>
          <a:p>
            <a:pPr marL="285750" indent="-285750">
              <a:spcAft>
                <a:spcPts val="600"/>
              </a:spcAft>
              <a:buClr>
                <a:schemeClr val="tx1"/>
              </a:buClr>
              <a:buFont typeface="Arial" panose="020B0604020202020204" pitchFamily="34" charset="0"/>
              <a:buChar char="•"/>
            </a:pPr>
            <a:r>
              <a:rPr lang="en-US" sz="2000" dirty="0"/>
              <a:t>The presumption of aggravation is triggered when a Veteran establishes that a preexisting condition, which was </a:t>
            </a:r>
            <a:r>
              <a:rPr lang="en-US" sz="2000" b="1" dirty="0"/>
              <a:t>noted upon entry </a:t>
            </a:r>
            <a:r>
              <a:rPr lang="en-US" sz="2000" dirty="0"/>
              <a:t>into service, </a:t>
            </a:r>
            <a:r>
              <a:rPr lang="en-US" sz="2000" b="1" dirty="0"/>
              <a:t>worsens during service</a:t>
            </a:r>
            <a:r>
              <a:rPr lang="en-US" sz="2000" dirty="0"/>
              <a:t>.</a:t>
            </a:r>
          </a:p>
          <a:p>
            <a:pPr>
              <a:spcAft>
                <a:spcPts val="600"/>
              </a:spcAft>
              <a:buClr>
                <a:schemeClr val="tx1"/>
              </a:buClr>
            </a:pPr>
            <a:endParaRPr lang="en-US" sz="2000" dirty="0"/>
          </a:p>
          <a:p>
            <a:pPr marL="285750" indent="-285750">
              <a:spcAft>
                <a:spcPts val="600"/>
              </a:spcAft>
              <a:buClr>
                <a:schemeClr val="tx1"/>
              </a:buClr>
              <a:buFont typeface="Arial" panose="020B0604020202020204" pitchFamily="34" charset="0"/>
              <a:buChar char="•"/>
            </a:pPr>
            <a:r>
              <a:rPr lang="en-US" sz="2000" dirty="0"/>
              <a:t>For a period of ADT or IADT, the evidence must </a:t>
            </a:r>
            <a:r>
              <a:rPr lang="en-US" sz="2000" b="1" i="1" dirty="0"/>
              <a:t>also</a:t>
            </a:r>
            <a:r>
              <a:rPr lang="en-US" sz="2000" dirty="0"/>
              <a:t> show that the worsening was </a:t>
            </a:r>
            <a:r>
              <a:rPr lang="en-US" sz="2000" b="1" i="1" dirty="0"/>
              <a:t>caused by</a:t>
            </a:r>
            <a:r>
              <a:rPr lang="en-US" sz="2000" dirty="0"/>
              <a:t> the period of ADT or IADT and was NOT the result of natural progression of the disability.</a:t>
            </a:r>
          </a:p>
        </p:txBody>
      </p:sp>
    </p:spTree>
    <p:custDataLst>
      <p:tags r:id="rId1"/>
    </p:custDataLst>
    <p:extLst>
      <p:ext uri="{BB962C8B-B14F-4D97-AF65-F5344CB8AC3E}">
        <p14:creationId xmlns:p14="http://schemas.microsoft.com/office/powerpoint/2010/main" val="3327616662"/>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effectLst/>
              </a:rPr>
              <a:t>Presumptive SC </a:t>
            </a:r>
            <a:endParaRPr lang="en-US"/>
          </a:p>
        </p:txBody>
      </p:sp>
      <p:sp>
        <p:nvSpPr>
          <p:cNvPr id="4" name="Slide Number Placeholder 3"/>
          <p:cNvSpPr>
            <a:spLocks noGrp="1"/>
          </p:cNvSpPr>
          <p:nvPr>
            <p:ph type="sldNum" sz="quarter" idx="12"/>
            <p:custDataLst>
              <p:tags r:id="rId3"/>
            </p:custDataLst>
          </p:nvPr>
        </p:nvSpPr>
        <p:spPr>
          <a:xfrm>
            <a:off x="6931152" y="6601974"/>
            <a:ext cx="2133600" cy="365125"/>
          </a:xfrm>
        </p:spPr>
        <p:txBody>
          <a:bodyPr/>
          <a:lstStyle/>
          <a:p>
            <a:fld id="{7C414AED-89CE-4A48-8B2B-1B3A5C68EA2A}" type="slidenum">
              <a:rPr lang="en-US" smtClean="0"/>
              <a:t>36</a:t>
            </a:fld>
            <a:endParaRPr lang="en-US"/>
          </a:p>
        </p:txBody>
      </p:sp>
      <p:sp>
        <p:nvSpPr>
          <p:cNvPr id="5" name="TextBox 4">
            <a:extLst>
              <a:ext uri="{FF2B5EF4-FFF2-40B4-BE49-F238E27FC236}">
                <a16:creationId xmlns:a16="http://schemas.microsoft.com/office/drawing/2014/main" id="{41F44C86-4B55-4FFF-810C-E8C7533E5185}"/>
              </a:ext>
            </a:extLst>
          </p:cNvPr>
          <p:cNvSpPr txBox="1"/>
          <p:nvPr>
            <p:custDataLst>
              <p:tags r:id="rId4"/>
            </p:custDataLst>
          </p:nvPr>
        </p:nvSpPr>
        <p:spPr>
          <a:xfrm>
            <a:off x="484742" y="1880496"/>
            <a:ext cx="8218583" cy="3477875"/>
          </a:xfrm>
          <a:prstGeom prst="rect">
            <a:avLst/>
          </a:prstGeom>
          <a:noFill/>
        </p:spPr>
        <p:txBody>
          <a:bodyPr wrap="square" rtlCol="0">
            <a:spAutoFit/>
          </a:bodyPr>
          <a:lstStyle/>
          <a:p>
            <a:pPr marL="285750" indent="-285750">
              <a:spcAft>
                <a:spcPts val="600"/>
              </a:spcAft>
              <a:buClr>
                <a:schemeClr val="tx1"/>
              </a:buClr>
              <a:buFont typeface="Arial" panose="020B0604020202020204" pitchFamily="34" charset="0"/>
              <a:buChar char="•"/>
            </a:pPr>
            <a:r>
              <a:rPr lang="en-US" sz="2000" b="1" i="1" dirty="0"/>
              <a:t>If</a:t>
            </a:r>
            <a:r>
              <a:rPr lang="en-US" sz="2000" dirty="0"/>
              <a:t> SC for a disability due to a disease or injury is established based on a period of ADT or </a:t>
            </a:r>
          </a:p>
          <a:p>
            <a:pPr marL="285750" indent="-285750">
              <a:spcAft>
                <a:spcPts val="600"/>
              </a:spcAft>
              <a:buClr>
                <a:schemeClr val="tx1"/>
              </a:buClr>
              <a:buFont typeface="Arial" panose="020B0604020202020204" pitchFamily="34" charset="0"/>
              <a:buChar char="•"/>
            </a:pPr>
            <a:endParaRPr lang="en-US" sz="2000" dirty="0"/>
          </a:p>
          <a:p>
            <a:pPr marL="285750" indent="-285750">
              <a:spcAft>
                <a:spcPts val="600"/>
              </a:spcAft>
              <a:buClr>
                <a:schemeClr val="tx1"/>
              </a:buClr>
              <a:buFont typeface="Arial" panose="020B0604020202020204" pitchFamily="34" charset="0"/>
              <a:buChar char="•"/>
            </a:pPr>
            <a:r>
              <a:rPr lang="en-US" sz="2000" dirty="0"/>
              <a:t>SC for a disability is established based on an injury or myocardial infarction, cardiac arrest, or cerebrovascular accident based on a period of IADT, </a:t>
            </a:r>
          </a:p>
          <a:p>
            <a:pPr marL="285750" indent="-285750">
              <a:spcAft>
                <a:spcPts val="600"/>
              </a:spcAft>
              <a:buClr>
                <a:schemeClr val="tx1"/>
              </a:buClr>
              <a:buFont typeface="Arial" panose="020B0604020202020204" pitchFamily="34" charset="0"/>
              <a:buChar char="•"/>
            </a:pPr>
            <a:endParaRPr lang="en-US" sz="2000" b="1" i="1" dirty="0"/>
          </a:p>
          <a:p>
            <a:pPr marL="285750" indent="-285750">
              <a:spcAft>
                <a:spcPts val="600"/>
              </a:spcAft>
              <a:buClr>
                <a:schemeClr val="tx1"/>
              </a:buClr>
              <a:buFont typeface="Arial" panose="020B0604020202020204" pitchFamily="34" charset="0"/>
              <a:buChar char="•"/>
            </a:pPr>
            <a:r>
              <a:rPr lang="en-US" sz="2000" b="1" i="1" dirty="0"/>
              <a:t>Then</a:t>
            </a:r>
            <a:r>
              <a:rPr lang="en-US" sz="2000" dirty="0"/>
              <a:t> the ADT or IADT is considered active service and may be utilized in determining whether the applicability criteria have been met for the presumptive claim.</a:t>
            </a:r>
          </a:p>
        </p:txBody>
      </p:sp>
    </p:spTree>
    <p:custDataLst>
      <p:tags r:id="rId1"/>
    </p:custDataLst>
    <p:extLst>
      <p:ext uri="{BB962C8B-B14F-4D97-AF65-F5344CB8AC3E}">
        <p14:creationId xmlns:p14="http://schemas.microsoft.com/office/powerpoint/2010/main" val="308573217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0" y="793627"/>
            <a:ext cx="9144000" cy="1086867"/>
          </a:xfrm>
        </p:spPr>
        <p:txBody>
          <a:bodyPr/>
          <a:lstStyle/>
          <a:p>
            <a:r>
              <a:rPr lang="en-US"/>
              <a:t>Presumptive SC</a:t>
            </a:r>
          </a:p>
        </p:txBody>
      </p:sp>
      <p:sp>
        <p:nvSpPr>
          <p:cNvPr id="3" name="Content Placeholder 2"/>
          <p:cNvSpPr>
            <a:spLocks noGrp="1"/>
          </p:cNvSpPr>
          <p:nvPr>
            <p:ph idx="1"/>
            <p:custDataLst>
              <p:tags r:id="rId3"/>
            </p:custDataLst>
          </p:nvPr>
        </p:nvSpPr>
        <p:spPr>
          <a:xfrm>
            <a:off x="457200" y="2057400"/>
            <a:ext cx="8229600" cy="465463"/>
          </a:xfrm>
        </p:spPr>
        <p:txBody>
          <a:bodyPr/>
          <a:lstStyle/>
          <a:p>
            <a:r>
              <a:rPr lang="en-US"/>
              <a:t>Presumptive SC has three applicability criteria, including</a:t>
            </a:r>
          </a:p>
        </p:txBody>
      </p:sp>
      <p:sp>
        <p:nvSpPr>
          <p:cNvPr id="4" name="Slide Number Placeholder 3"/>
          <p:cNvSpPr>
            <a:spLocks noGrp="1"/>
          </p:cNvSpPr>
          <p:nvPr>
            <p:ph type="sldNum" sz="quarter" idx="12"/>
            <p:custDataLst>
              <p:tags r:id="rId4"/>
            </p:custDataLst>
          </p:nvPr>
        </p:nvSpPr>
        <p:spPr>
          <a:xfrm>
            <a:off x="6931152" y="6601974"/>
            <a:ext cx="2133600" cy="365125"/>
          </a:xfrm>
        </p:spPr>
        <p:txBody>
          <a:bodyPr/>
          <a:lstStyle/>
          <a:p>
            <a:fld id="{7C414AED-89CE-4A48-8B2B-1B3A5C68EA2A}" type="slidenum">
              <a:rPr lang="en-US" smtClean="0"/>
              <a:t>37</a:t>
            </a:fld>
            <a:endParaRPr lang="en-US"/>
          </a:p>
        </p:txBody>
      </p:sp>
      <p:sp>
        <p:nvSpPr>
          <p:cNvPr id="5" name="TextBox 4">
            <a:extLst>
              <a:ext uri="{FF2B5EF4-FFF2-40B4-BE49-F238E27FC236}">
                <a16:creationId xmlns:a16="http://schemas.microsoft.com/office/drawing/2014/main" id="{F6B5A482-02CB-4952-9D23-44D2BA519AA2}"/>
              </a:ext>
            </a:extLst>
          </p:cNvPr>
          <p:cNvSpPr txBox="1"/>
          <p:nvPr>
            <p:custDataLst>
              <p:tags r:id="rId5"/>
            </p:custDataLst>
          </p:nvPr>
        </p:nvSpPr>
        <p:spPr>
          <a:xfrm>
            <a:off x="457200" y="2699767"/>
            <a:ext cx="8229600" cy="4632037"/>
          </a:xfrm>
          <a:prstGeom prst="rect">
            <a:avLst/>
          </a:prstGeom>
          <a:noFill/>
        </p:spPr>
        <p:txBody>
          <a:bodyPr wrap="square" rtlCol="0">
            <a:spAutoFit/>
          </a:bodyPr>
          <a:lstStyle/>
          <a:p>
            <a:pPr marL="285750" indent="-285750">
              <a:spcAft>
                <a:spcPts val="600"/>
              </a:spcAft>
              <a:buClr>
                <a:schemeClr val="tx1"/>
              </a:buClr>
              <a:buFont typeface="Arial" panose="020B0604020202020204" pitchFamily="34" charset="0"/>
              <a:buChar char="•"/>
            </a:pPr>
            <a:r>
              <a:rPr lang="en-US" sz="2000" dirty="0"/>
              <a:t>Veteran status</a:t>
            </a:r>
          </a:p>
          <a:p>
            <a:pPr marL="285750" indent="-285750">
              <a:spcAft>
                <a:spcPts val="600"/>
              </a:spcAft>
              <a:buClr>
                <a:schemeClr val="tx1"/>
              </a:buClr>
              <a:buFont typeface="Arial" panose="020B0604020202020204" pitchFamily="34" charset="0"/>
              <a:buChar char="•"/>
            </a:pPr>
            <a:r>
              <a:rPr lang="en-US" sz="2000" dirty="0"/>
              <a:t>service in the active military, naval, or air service, and</a:t>
            </a:r>
          </a:p>
          <a:p>
            <a:pPr marL="285750" indent="-285750">
              <a:spcAft>
                <a:spcPts val="600"/>
              </a:spcAft>
              <a:buClr>
                <a:schemeClr val="tx1"/>
              </a:buClr>
              <a:buFont typeface="Arial" panose="020B0604020202020204" pitchFamily="34" charset="0"/>
              <a:buChar char="•"/>
            </a:pPr>
            <a:r>
              <a:rPr lang="en-US" sz="2000" dirty="0"/>
              <a:t>service of 90 days or more </a:t>
            </a:r>
          </a:p>
          <a:p>
            <a:pPr marL="742950" lvl="1" indent="-285750">
              <a:spcAft>
                <a:spcPts val="600"/>
              </a:spcAft>
              <a:buClr>
                <a:schemeClr val="tx1"/>
              </a:buClr>
              <a:buFont typeface="Arial" panose="020B0604020202020204" pitchFamily="34" charset="0"/>
              <a:buChar char="•"/>
            </a:pPr>
            <a:r>
              <a:rPr lang="en-US" dirty="0"/>
              <a:t>during a period of war, or</a:t>
            </a:r>
          </a:p>
          <a:p>
            <a:pPr marL="742950" lvl="1" indent="-285750">
              <a:spcAft>
                <a:spcPts val="600"/>
              </a:spcAft>
              <a:buClr>
                <a:schemeClr val="tx1"/>
              </a:buClr>
              <a:buFont typeface="Arial" panose="020B0604020202020204" pitchFamily="34" charset="0"/>
              <a:buChar char="•"/>
            </a:pPr>
            <a:r>
              <a:rPr lang="en-US" dirty="0"/>
              <a:t>after December 31, 1946.</a:t>
            </a:r>
          </a:p>
          <a:p>
            <a:pPr lvl="1">
              <a:spcAft>
                <a:spcPts val="600"/>
              </a:spcAft>
              <a:buClr>
                <a:schemeClr val="tx1"/>
              </a:buClr>
            </a:pPr>
            <a:endParaRPr lang="en-US" sz="2000" dirty="0">
              <a:latin typeface="+mj-lt"/>
            </a:endParaRPr>
          </a:p>
          <a:p>
            <a:pPr lvl="1">
              <a:spcAft>
                <a:spcPts val="600"/>
              </a:spcAft>
              <a:buClr>
                <a:schemeClr val="tx1"/>
              </a:buClr>
            </a:pPr>
            <a:r>
              <a:rPr lang="en-US" sz="2000" b="0" i="0" u="none" strike="noStrike" baseline="0" dirty="0">
                <a:solidFill>
                  <a:srgbClr val="000000"/>
                </a:solidFill>
                <a:latin typeface="+mj-lt"/>
              </a:rPr>
              <a:t>Per §3.307, this criteria must be met for consideration under §3.309. The ADT and/or IADT may be considered active service, but you cannot grant SC based on §3.309 unless </a:t>
            </a:r>
            <a:r>
              <a:rPr lang="en-US" sz="2000" b="1" i="1" u="none" strike="noStrike" baseline="0" dirty="0">
                <a:solidFill>
                  <a:srgbClr val="000000"/>
                </a:solidFill>
                <a:latin typeface="+mj-lt"/>
              </a:rPr>
              <a:t>that specific period </a:t>
            </a:r>
            <a:r>
              <a:rPr lang="en-US" sz="2000" b="0" i="0" u="none" strike="noStrike" baseline="0" dirty="0">
                <a:solidFill>
                  <a:srgbClr val="000000"/>
                </a:solidFill>
                <a:latin typeface="+mj-lt"/>
              </a:rPr>
              <a:t>of active service meets this criteria </a:t>
            </a:r>
            <a:r>
              <a:rPr lang="en-US" sz="1800" b="0" i="0" u="none" strike="noStrike" baseline="0" dirty="0">
                <a:solidFill>
                  <a:srgbClr val="000000"/>
                </a:solidFill>
                <a:latin typeface="Times New Roman" panose="02020603050405020304" pitchFamily="18" charset="0"/>
              </a:rPr>
              <a:t>	</a:t>
            </a:r>
          </a:p>
          <a:p>
            <a:pPr marL="742950" lvl="1" indent="-285750">
              <a:spcAft>
                <a:spcPts val="600"/>
              </a:spcAft>
              <a:buClr>
                <a:schemeClr val="tx1"/>
              </a:buClr>
              <a:buFont typeface="Arial" panose="020B0604020202020204" pitchFamily="34" charset="0"/>
              <a:buChar char="•"/>
            </a:pPr>
            <a:endParaRPr lang="en-US" dirty="0"/>
          </a:p>
          <a:p>
            <a:pPr marL="742950" lvl="1" indent="-285750">
              <a:spcAft>
                <a:spcPts val="600"/>
              </a:spcAft>
              <a:buClr>
                <a:schemeClr val="tx1"/>
              </a:buClr>
              <a:buFont typeface="Arial" panose="020B0604020202020204" pitchFamily="34" charset="0"/>
              <a:buChar char="•"/>
            </a:pPr>
            <a:endParaRPr lang="en-US" dirty="0"/>
          </a:p>
          <a:p>
            <a:pPr marL="742950" lvl="1" indent="-285750">
              <a:spcAft>
                <a:spcPts val="600"/>
              </a:spcAft>
              <a:buClr>
                <a:schemeClr val="tx1"/>
              </a:buClr>
              <a:buFont typeface="Arial" panose="020B0604020202020204" pitchFamily="34" charset="0"/>
              <a:buChar char="•"/>
            </a:pPr>
            <a:endParaRPr lang="en-US" dirty="0"/>
          </a:p>
        </p:txBody>
      </p:sp>
    </p:spTree>
    <p:custDataLst>
      <p:tags r:id="rId1"/>
    </p:custDataLst>
    <p:extLst>
      <p:ext uri="{BB962C8B-B14F-4D97-AF65-F5344CB8AC3E}">
        <p14:creationId xmlns:p14="http://schemas.microsoft.com/office/powerpoint/2010/main" val="1885977277"/>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091FE-85FB-497A-8C52-88097453E7F9}"/>
              </a:ext>
            </a:extLst>
          </p:cNvPr>
          <p:cNvSpPr>
            <a:spLocks noGrp="1"/>
          </p:cNvSpPr>
          <p:nvPr>
            <p:ph type="title"/>
          </p:nvPr>
        </p:nvSpPr>
        <p:spPr>
          <a:xfrm>
            <a:off x="0" y="793627"/>
            <a:ext cx="9144000" cy="822737"/>
          </a:xfrm>
        </p:spPr>
        <p:txBody>
          <a:bodyPr/>
          <a:lstStyle/>
          <a:p>
            <a:r>
              <a:rPr lang="en-US" dirty="0"/>
              <a:t>EXAMPLE</a:t>
            </a:r>
          </a:p>
        </p:txBody>
      </p:sp>
      <p:sp>
        <p:nvSpPr>
          <p:cNvPr id="3" name="Content Placeholder 2">
            <a:extLst>
              <a:ext uri="{FF2B5EF4-FFF2-40B4-BE49-F238E27FC236}">
                <a16:creationId xmlns:a16="http://schemas.microsoft.com/office/drawing/2014/main" id="{A5044205-E2CA-4E8B-B430-9CFAACE4C0B2}"/>
              </a:ext>
            </a:extLst>
          </p:cNvPr>
          <p:cNvSpPr>
            <a:spLocks noGrp="1"/>
          </p:cNvSpPr>
          <p:nvPr>
            <p:ph idx="1"/>
          </p:nvPr>
        </p:nvSpPr>
        <p:spPr/>
        <p:txBody>
          <a:bodyPr/>
          <a:lstStyle/>
          <a:p>
            <a:endParaRPr lang="en-US" sz="1800" dirty="0">
              <a:solidFill>
                <a:srgbClr val="333333"/>
              </a:solidFill>
              <a:ea typeface="Calibri" panose="020F0502020204030204" pitchFamily="34" charset="0"/>
              <a:cs typeface="Times New Roman" panose="02020603050405020304" pitchFamily="18" charset="0"/>
            </a:endParaRPr>
          </a:p>
          <a:p>
            <a:r>
              <a:rPr lang="en-US" dirty="0">
                <a:solidFill>
                  <a:srgbClr val="333333"/>
                </a:solidFill>
                <a:effectLst/>
                <a:latin typeface="+mj-lt"/>
                <a:ea typeface="Calibri" panose="020F0502020204030204" pitchFamily="34" charset="0"/>
                <a:cs typeface="Times New Roman" panose="02020603050405020304" pitchFamily="18" charset="0"/>
              </a:rPr>
              <a:t>A Veteran establishes SC for bladder cancer as a result of exposure to contaminated water at Camp Lejeune during a period of ADT that extended for more than 90 days under </a:t>
            </a:r>
            <a:r>
              <a:rPr lang="en-US" b="1" u="sng" dirty="0">
                <a:solidFill>
                  <a:srgbClr val="0000FF"/>
                </a:solidFill>
                <a:effectLst/>
                <a:latin typeface="+mj-lt"/>
                <a:ea typeface="Calibri" panose="020F0502020204030204" pitchFamily="34" charset="0"/>
                <a:cs typeface="Times New Roman" panose="02020603050405020304" pitchFamily="18" charset="0"/>
                <a:hlinkClick r:id="rId2"/>
              </a:rPr>
              <a:t>38 CFR 3.307(a)(7)</a:t>
            </a:r>
            <a:r>
              <a:rPr lang="en-US" dirty="0">
                <a:solidFill>
                  <a:srgbClr val="333333"/>
                </a:solidFill>
                <a:effectLst/>
                <a:latin typeface="+mj-lt"/>
                <a:ea typeface="Calibri" panose="020F0502020204030204" pitchFamily="34" charset="0"/>
                <a:cs typeface="Times New Roman" panose="02020603050405020304" pitchFamily="18" charset="0"/>
              </a:rPr>
              <a:t> and </a:t>
            </a:r>
            <a:r>
              <a:rPr lang="en-US" b="1" u="sng" dirty="0">
                <a:solidFill>
                  <a:srgbClr val="0000FF"/>
                </a:solidFill>
                <a:effectLst/>
                <a:latin typeface="+mj-lt"/>
                <a:ea typeface="Calibri" panose="020F0502020204030204" pitchFamily="34" charset="0"/>
                <a:cs typeface="Times New Roman" panose="02020603050405020304" pitchFamily="18" charset="0"/>
                <a:hlinkClick r:id="rId3"/>
              </a:rPr>
              <a:t>38 CFR 3.309(f)</a:t>
            </a:r>
            <a:r>
              <a:rPr lang="en-US" dirty="0">
                <a:solidFill>
                  <a:srgbClr val="333333"/>
                </a:solidFill>
                <a:effectLst/>
                <a:latin typeface="+mj-lt"/>
                <a:ea typeface="Calibri" panose="020F0502020204030204" pitchFamily="34" charset="0"/>
                <a:cs typeface="Times New Roman" panose="02020603050405020304" pitchFamily="18" charset="0"/>
              </a:rPr>
              <a:t>.  The Veteran develops amyotrophic lateral sclerosis (ALS) and claims SC for the disease.  By virtue of the grant of SC for a disability associated with the period of ADT, the ADT is considered active service and the Veteran is now eligible for presumptive SC for ALS under </a:t>
            </a:r>
            <a:r>
              <a:rPr lang="en-US" b="1" u="sng" dirty="0">
                <a:solidFill>
                  <a:srgbClr val="0000FF"/>
                </a:solidFill>
                <a:effectLst/>
                <a:latin typeface="+mj-lt"/>
                <a:ea typeface="Calibri" panose="020F0502020204030204" pitchFamily="34" charset="0"/>
                <a:cs typeface="Times New Roman" panose="02020603050405020304" pitchFamily="18" charset="0"/>
                <a:hlinkClick r:id="rId4"/>
              </a:rPr>
              <a:t>38 CFR 3.318</a:t>
            </a:r>
            <a:r>
              <a:rPr lang="en-US" dirty="0">
                <a:solidFill>
                  <a:srgbClr val="333333"/>
                </a:solidFill>
                <a:effectLst/>
                <a:latin typeface="+mj-lt"/>
                <a:ea typeface="Calibri" panose="020F0502020204030204" pitchFamily="34" charset="0"/>
                <a:cs typeface="Times New Roman" panose="02020603050405020304" pitchFamily="18" charset="0"/>
              </a:rPr>
              <a:t>.</a:t>
            </a:r>
            <a:endParaRPr lang="en-US" dirty="0">
              <a:effectLst/>
              <a:latin typeface="+mj-lt"/>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69E03121-0B8A-4C89-AFEB-BA1D4ED9687D}"/>
              </a:ext>
            </a:extLst>
          </p:cNvPr>
          <p:cNvSpPr>
            <a:spLocks noGrp="1"/>
          </p:cNvSpPr>
          <p:nvPr>
            <p:ph type="sldNum" sz="quarter" idx="12"/>
          </p:nvPr>
        </p:nvSpPr>
        <p:spPr/>
        <p:txBody>
          <a:bodyPr/>
          <a:lstStyle/>
          <a:p>
            <a:fld id="{7C414AED-89CE-4A48-8B2B-1B3A5C68EA2A}" type="slidenum">
              <a:rPr lang="en-US" smtClean="0"/>
              <a:t>38</a:t>
            </a:fld>
            <a:endParaRPr lang="en-US"/>
          </a:p>
        </p:txBody>
      </p:sp>
    </p:spTree>
    <p:extLst>
      <p:ext uri="{BB962C8B-B14F-4D97-AF65-F5344CB8AC3E}">
        <p14:creationId xmlns:p14="http://schemas.microsoft.com/office/powerpoint/2010/main" val="134724027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B28FB-95D2-5270-C384-FB721AE834B2}"/>
              </a:ext>
            </a:extLst>
          </p:cNvPr>
          <p:cNvSpPr>
            <a:spLocks noGrp="1"/>
          </p:cNvSpPr>
          <p:nvPr>
            <p:ph type="title"/>
          </p:nvPr>
        </p:nvSpPr>
        <p:spPr>
          <a:xfrm>
            <a:off x="0" y="793627"/>
            <a:ext cx="9144000" cy="841209"/>
          </a:xfrm>
        </p:spPr>
        <p:txBody>
          <a:bodyPr/>
          <a:lstStyle/>
          <a:p>
            <a:r>
              <a:rPr lang="en-US" dirty="0"/>
              <a:t>QUESTION</a:t>
            </a:r>
          </a:p>
        </p:txBody>
      </p:sp>
      <p:sp>
        <p:nvSpPr>
          <p:cNvPr id="3" name="Content Placeholder 2">
            <a:extLst>
              <a:ext uri="{FF2B5EF4-FFF2-40B4-BE49-F238E27FC236}">
                <a16:creationId xmlns:a16="http://schemas.microsoft.com/office/drawing/2014/main" id="{501A8C8F-FF59-084E-85D0-A0BEF2BCDCA4}"/>
              </a:ext>
            </a:extLst>
          </p:cNvPr>
          <p:cNvSpPr>
            <a:spLocks noGrp="1"/>
          </p:cNvSpPr>
          <p:nvPr>
            <p:ph idx="1"/>
          </p:nvPr>
        </p:nvSpPr>
        <p:spPr/>
        <p:txBody>
          <a:bodyPr>
            <a:normAutofit/>
          </a:bodyPr>
          <a:lstStyle/>
          <a:p>
            <a:endParaRPr lang="en-US" dirty="0">
              <a:solidFill>
                <a:srgbClr val="333333"/>
              </a:solidFill>
              <a:effectLst/>
              <a:latin typeface="+mj-lt"/>
              <a:ea typeface="Calibri" panose="020F0502020204030204" pitchFamily="34" charset="0"/>
              <a:cs typeface="Times New Roman" panose="02020603050405020304" pitchFamily="18" charset="0"/>
            </a:endParaRPr>
          </a:p>
          <a:p>
            <a:r>
              <a:rPr lang="en-US" dirty="0">
                <a:solidFill>
                  <a:srgbClr val="333333"/>
                </a:solidFill>
                <a:effectLst/>
                <a:latin typeface="+mj-lt"/>
                <a:ea typeface="Calibri" panose="020F0502020204030204" pitchFamily="34" charset="0"/>
                <a:cs typeface="Times New Roman" panose="02020603050405020304" pitchFamily="18" charset="0"/>
              </a:rPr>
              <a:t>A Veteran is service connected for a shoulder injury that took place during the two-week Annual Training and therefore, the two-week period of ADT became Active Duty for VA purposes.   Six months after this period of service, the Veteran develops hypothyroidism at a compensable leve</a:t>
            </a:r>
            <a:r>
              <a:rPr lang="en-US" dirty="0">
                <a:solidFill>
                  <a:srgbClr val="333333"/>
                </a:solidFill>
                <a:latin typeface="+mj-lt"/>
                <a:ea typeface="Calibri" panose="020F0502020204030204" pitchFamily="34" charset="0"/>
                <a:cs typeface="Times New Roman" panose="02020603050405020304" pitchFamily="18" charset="0"/>
              </a:rPr>
              <a:t>l.  Can hypothyroidism be presumptively service connected under 38 CFR 3.309(a)?</a:t>
            </a:r>
          </a:p>
          <a:p>
            <a:endParaRPr lang="en-US" dirty="0">
              <a:solidFill>
                <a:srgbClr val="333333"/>
              </a:solidFill>
              <a:effectLst/>
              <a:latin typeface="+mj-lt"/>
              <a:ea typeface="Calibri" panose="020F0502020204030204" pitchFamily="34" charset="0"/>
              <a:cs typeface="Times New Roman" panose="02020603050405020304" pitchFamily="18" charset="0"/>
            </a:endParaRPr>
          </a:p>
          <a:p>
            <a:r>
              <a:rPr lang="en-US" dirty="0">
                <a:solidFill>
                  <a:srgbClr val="333333"/>
                </a:solidFill>
                <a:effectLst/>
                <a:latin typeface="+mj-lt"/>
                <a:ea typeface="Calibri" panose="020F0502020204030204" pitchFamily="34" charset="0"/>
                <a:cs typeface="Times New Roman" panose="02020603050405020304" pitchFamily="18" charset="0"/>
              </a:rPr>
              <a:t> </a:t>
            </a:r>
          </a:p>
          <a:p>
            <a:endParaRPr lang="en-US" dirty="0"/>
          </a:p>
        </p:txBody>
      </p:sp>
      <p:sp>
        <p:nvSpPr>
          <p:cNvPr id="4" name="Slide Number Placeholder 3">
            <a:extLst>
              <a:ext uri="{FF2B5EF4-FFF2-40B4-BE49-F238E27FC236}">
                <a16:creationId xmlns:a16="http://schemas.microsoft.com/office/drawing/2014/main" id="{9B343B31-06AB-BA1B-11F1-375CE9B9AAA5}"/>
              </a:ext>
            </a:extLst>
          </p:cNvPr>
          <p:cNvSpPr>
            <a:spLocks noGrp="1"/>
          </p:cNvSpPr>
          <p:nvPr>
            <p:ph type="sldNum" sz="quarter" idx="12"/>
          </p:nvPr>
        </p:nvSpPr>
        <p:spPr/>
        <p:txBody>
          <a:bodyPr/>
          <a:lstStyle/>
          <a:p>
            <a:fld id="{7C414AED-89CE-4A48-8B2B-1B3A5C68EA2A}" type="slidenum">
              <a:rPr lang="en-US" smtClean="0"/>
              <a:t>39</a:t>
            </a:fld>
            <a:endParaRPr lang="en-US"/>
          </a:p>
        </p:txBody>
      </p:sp>
    </p:spTree>
    <p:extLst>
      <p:ext uri="{BB962C8B-B14F-4D97-AF65-F5344CB8AC3E}">
        <p14:creationId xmlns:p14="http://schemas.microsoft.com/office/powerpoint/2010/main" val="396128763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E3BF4-1AEF-C98E-A8EA-D076902B53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FD60D0-0570-7074-C8B7-4281D943AAA2}"/>
              </a:ext>
            </a:extLst>
          </p:cNvPr>
          <p:cNvSpPr>
            <a:spLocks noGrp="1"/>
          </p:cNvSpPr>
          <p:nvPr>
            <p:ph idx="1"/>
          </p:nvPr>
        </p:nvSpPr>
        <p:spPr>
          <a:xfrm>
            <a:off x="457200" y="1507301"/>
            <a:ext cx="8229600" cy="4681063"/>
          </a:xfrm>
        </p:spPr>
        <p:txBody>
          <a:bodyPr>
            <a:normAutofit/>
          </a:bodyPr>
          <a:lstStyle/>
          <a:p>
            <a:endParaRPr lang="en-US" dirty="0">
              <a:solidFill>
                <a:srgbClr val="333333"/>
              </a:solidFill>
              <a:latin typeface="+mj-lt"/>
              <a:ea typeface="Calibri" panose="020F0502020204030204" pitchFamily="34" charset="0"/>
              <a:cs typeface="Times New Roman" panose="02020603050405020304" pitchFamily="18" charset="0"/>
            </a:endParaRPr>
          </a:p>
          <a:p>
            <a:endParaRPr lang="en-US" dirty="0">
              <a:solidFill>
                <a:srgbClr val="333333"/>
              </a:solidFill>
              <a:latin typeface="+mj-lt"/>
              <a:ea typeface="Calibri" panose="020F0502020204030204" pitchFamily="34" charset="0"/>
              <a:cs typeface="Times New Roman" panose="02020603050405020304" pitchFamily="18" charset="0"/>
            </a:endParaRPr>
          </a:p>
          <a:p>
            <a:endParaRPr lang="en-US" dirty="0">
              <a:solidFill>
                <a:srgbClr val="333333"/>
              </a:solidFill>
              <a:latin typeface="+mj-lt"/>
              <a:ea typeface="Calibri" panose="020F0502020204030204" pitchFamily="34" charset="0"/>
              <a:cs typeface="Times New Roman" panose="02020603050405020304" pitchFamily="18" charset="0"/>
            </a:endParaRPr>
          </a:p>
          <a:p>
            <a:endParaRPr lang="en-US" dirty="0">
              <a:solidFill>
                <a:srgbClr val="333333"/>
              </a:solidFill>
              <a:latin typeface="+mj-lt"/>
              <a:ea typeface="Calibri" panose="020F0502020204030204" pitchFamily="34" charset="0"/>
              <a:cs typeface="Times New Roman" panose="02020603050405020304" pitchFamily="18" charset="0"/>
            </a:endParaRPr>
          </a:p>
          <a:p>
            <a:endParaRPr lang="en-US" dirty="0">
              <a:solidFill>
                <a:srgbClr val="333333"/>
              </a:solidFill>
              <a:latin typeface="+mj-lt"/>
              <a:ea typeface="Calibri" panose="020F0502020204030204" pitchFamily="34" charset="0"/>
              <a:cs typeface="Times New Roman" panose="02020603050405020304" pitchFamily="18" charset="0"/>
            </a:endParaRPr>
          </a:p>
          <a:p>
            <a:endParaRPr lang="en-US" dirty="0">
              <a:solidFill>
                <a:srgbClr val="333333"/>
              </a:solidFill>
              <a:latin typeface="+mj-lt"/>
              <a:ea typeface="Calibri" panose="020F0502020204030204" pitchFamily="34" charset="0"/>
              <a:cs typeface="Times New Roman" panose="02020603050405020304" pitchFamily="18" charset="0"/>
            </a:endParaRPr>
          </a:p>
          <a:p>
            <a:endParaRPr lang="en-US" dirty="0">
              <a:solidFill>
                <a:srgbClr val="333333"/>
              </a:solidFill>
              <a:latin typeface="+mj-lt"/>
              <a:ea typeface="Calibri" panose="020F0502020204030204" pitchFamily="34" charset="0"/>
              <a:cs typeface="Times New Roman" panose="02020603050405020304" pitchFamily="18" charset="0"/>
            </a:endParaRPr>
          </a:p>
          <a:p>
            <a:endParaRPr lang="en-US" dirty="0">
              <a:solidFill>
                <a:srgbClr val="333333"/>
              </a:solidFill>
              <a:latin typeface="+mj-lt"/>
              <a:ea typeface="Calibri" panose="020F0502020204030204" pitchFamily="34" charset="0"/>
              <a:cs typeface="Times New Roman" panose="02020603050405020304" pitchFamily="18" charset="0"/>
            </a:endParaRPr>
          </a:p>
          <a:p>
            <a:r>
              <a:rPr lang="en-US" dirty="0">
                <a:solidFill>
                  <a:srgbClr val="333333"/>
                </a:solidFill>
                <a:latin typeface="+mj-lt"/>
                <a:ea typeface="Calibri" panose="020F0502020204030204" pitchFamily="34" charset="0"/>
                <a:cs typeface="Times New Roman" panose="02020603050405020304" pitchFamily="18" charset="0"/>
              </a:rPr>
              <a:t>No, the Veteran is not entitled to presumptive service connection since the period of “active” service was less than 90 days, which is required per</a:t>
            </a:r>
            <a:r>
              <a:rPr lang="en-US" dirty="0">
                <a:solidFill>
                  <a:srgbClr val="333333"/>
                </a:solidFill>
                <a:effectLst/>
                <a:latin typeface="+mj-lt"/>
                <a:ea typeface="Calibri" panose="020F0502020204030204" pitchFamily="34" charset="0"/>
                <a:cs typeface="Times New Roman" panose="02020603050405020304" pitchFamily="18" charset="0"/>
              </a:rPr>
              <a:t> </a:t>
            </a:r>
            <a:r>
              <a:rPr lang="en-US" b="1" u="sng" dirty="0">
                <a:solidFill>
                  <a:srgbClr val="0000FF"/>
                </a:solidFill>
                <a:effectLst/>
                <a:latin typeface="+mj-lt"/>
                <a:ea typeface="Calibri" panose="020F0502020204030204" pitchFamily="34" charset="0"/>
                <a:cs typeface="Times New Roman" panose="02020603050405020304" pitchFamily="18" charset="0"/>
                <a:hlinkClick r:id="rId2"/>
              </a:rPr>
              <a:t>38 CFR 3.307(a)(1)</a:t>
            </a:r>
            <a:r>
              <a:rPr lang="en-US" dirty="0">
                <a:solidFill>
                  <a:srgbClr val="333333"/>
                </a:solidFill>
                <a:effectLst/>
                <a:latin typeface="+mj-lt"/>
                <a:ea typeface="Calibri" panose="020F0502020204030204" pitchFamily="34" charset="0"/>
                <a:cs typeface="Times New Roman" panose="02020603050405020304" pitchFamily="18" charset="0"/>
              </a:rPr>
              <a:t> .</a:t>
            </a:r>
            <a:endParaRPr lang="en-US" dirty="0">
              <a:effectLst/>
              <a:latin typeface="+mj-lt"/>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1EE8B4DF-212F-3BA1-994E-38C7BEDB844C}"/>
              </a:ext>
            </a:extLst>
          </p:cNvPr>
          <p:cNvSpPr>
            <a:spLocks noGrp="1"/>
          </p:cNvSpPr>
          <p:nvPr>
            <p:ph type="sldNum" sz="quarter" idx="12"/>
          </p:nvPr>
        </p:nvSpPr>
        <p:spPr/>
        <p:txBody>
          <a:bodyPr/>
          <a:lstStyle/>
          <a:p>
            <a:fld id="{7C414AED-89CE-4A48-8B2B-1B3A5C68EA2A}" type="slidenum">
              <a:rPr lang="en-US" smtClean="0"/>
              <a:t>40</a:t>
            </a:fld>
            <a:endParaRPr lang="en-US"/>
          </a:p>
        </p:txBody>
      </p:sp>
      <p:pic>
        <p:nvPicPr>
          <p:cNvPr id="1026" name="Picture 2">
            <a:extLst>
              <a:ext uri="{FF2B5EF4-FFF2-40B4-BE49-F238E27FC236}">
                <a16:creationId xmlns:a16="http://schemas.microsoft.com/office/drawing/2014/main" id="{2EE8AB8D-8E6E-F042-5A07-DA5D15156F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 y="793628"/>
            <a:ext cx="8191500" cy="28997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185750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EC075-6EFB-440C-8F89-66EE150D7EA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9BAAE3-27DA-489B-A3DF-617751264B69}"/>
              </a:ext>
            </a:extLst>
          </p:cNvPr>
          <p:cNvSpPr>
            <a:spLocks noGrp="1"/>
          </p:cNvSpPr>
          <p:nvPr>
            <p:ph idx="1"/>
          </p:nvPr>
        </p:nvSpPr>
        <p:spPr>
          <a:xfrm>
            <a:off x="4348321" y="2454918"/>
            <a:ext cx="5262605" cy="2115633"/>
          </a:xfrm>
        </p:spPr>
        <p:txBody>
          <a:bodyPr/>
          <a:lstStyle/>
          <a:p>
            <a:endParaRPr lang="en-US" dirty="0"/>
          </a:p>
        </p:txBody>
      </p:sp>
      <p:sp>
        <p:nvSpPr>
          <p:cNvPr id="4" name="Slide Number Placeholder 3">
            <a:extLst>
              <a:ext uri="{FF2B5EF4-FFF2-40B4-BE49-F238E27FC236}">
                <a16:creationId xmlns:a16="http://schemas.microsoft.com/office/drawing/2014/main" id="{743A3A41-010C-4708-BA37-AD8283F8713F}"/>
              </a:ext>
            </a:extLst>
          </p:cNvPr>
          <p:cNvSpPr>
            <a:spLocks noGrp="1"/>
          </p:cNvSpPr>
          <p:nvPr>
            <p:ph type="sldNum" sz="quarter" idx="12"/>
          </p:nvPr>
        </p:nvSpPr>
        <p:spPr/>
        <p:txBody>
          <a:bodyPr/>
          <a:lstStyle/>
          <a:p>
            <a:fld id="{7C414AED-89CE-4A48-8B2B-1B3A5C68EA2A}" type="slidenum">
              <a:rPr lang="en-US" smtClean="0"/>
              <a:t>41</a:t>
            </a:fld>
            <a:endParaRPr lang="en-US"/>
          </a:p>
        </p:txBody>
      </p:sp>
      <p:pic>
        <p:nvPicPr>
          <p:cNvPr id="1026" name="9A5CB4F4-EBEC-4E3F-A36A-B0EF5850BA65">
            <a:extLst>
              <a:ext uri="{FF2B5EF4-FFF2-40B4-BE49-F238E27FC236}">
                <a16:creationId xmlns:a16="http://schemas.microsoft.com/office/drawing/2014/main" id="{D6209F88-36A1-482B-A811-C457DDD76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945" y="758097"/>
            <a:ext cx="8229600" cy="6266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089706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custDataLst>
              <p:tags r:id="rId2"/>
            </p:custDataLst>
          </p:nvPr>
        </p:nvSpPr>
        <p:spPr>
          <a:xfrm>
            <a:off x="0" y="2885566"/>
            <a:ext cx="9144000" cy="1086867"/>
          </a:xfrm>
        </p:spPr>
        <p:txBody>
          <a:bodyPr>
            <a:noAutofit/>
          </a:bodyPr>
          <a:lstStyle/>
          <a:p>
            <a:r>
              <a:rPr lang="en-US" sz="7200" b="0" dirty="0"/>
              <a:t>Questions??</a:t>
            </a:r>
          </a:p>
        </p:txBody>
      </p:sp>
      <p:sp>
        <p:nvSpPr>
          <p:cNvPr id="2" name="Slide Number Placeholder 1"/>
          <p:cNvSpPr>
            <a:spLocks noGrp="1"/>
          </p:cNvSpPr>
          <p:nvPr>
            <p:ph type="sldNum" sz="quarter" idx="12"/>
            <p:custDataLst>
              <p:tags r:id="rId3"/>
            </p:custDataLst>
          </p:nvPr>
        </p:nvSpPr>
        <p:spPr>
          <a:xfrm>
            <a:off x="6931152" y="6601974"/>
            <a:ext cx="2133600" cy="365125"/>
          </a:xfrm>
        </p:spPr>
        <p:txBody>
          <a:bodyPr/>
          <a:lstStyle/>
          <a:p>
            <a:fld id="{7C414AED-89CE-4A48-8B2B-1B3A5C68EA2A}" type="slidenum">
              <a:rPr lang="en-US" smtClean="0"/>
              <a:t>42</a:t>
            </a:fld>
            <a:endParaRPr lang="en-US"/>
          </a:p>
        </p:txBody>
      </p:sp>
    </p:spTree>
    <p:custDataLst>
      <p:tags r:id="rId1"/>
    </p:custDataLst>
    <p:extLst>
      <p:ext uri="{BB962C8B-B14F-4D97-AF65-F5344CB8AC3E}">
        <p14:creationId xmlns:p14="http://schemas.microsoft.com/office/powerpoint/2010/main" val="24296153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xmlns:a14="http://schemas.microsoft.com/office/drawing/2010/main" xmlns:p15="http://schemas.microsoft.com/office/powerpoint/2012/main" xmlns:p159="http://schemas.microsoft.com/office/powerpoint/2015/09/main">
      <p:transition spd="slow"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LAYER_GLOSSARY_XML" val="&lt;?xml version=&quot;1.0&quot; encoding=&quot;utf-16&quot;?&gt;&lt;glossary xmlns:xsi=&quot;http://www.w3.org/2001/XMLSchema-instance&quot; xmlns:xsd=&quot;http://www.w3.org/2001/XMLSchema&quot;&gt;&lt;terms /&gt;&lt;/glossary&gt;"/>
  <p:tag name="ARTICULATE_PRESENTER_VERSION" val="7"/>
  <p:tag name="ARTICULATE_PROJECT_OPEN" val="0"/>
  <p:tag name="ARTICULATE_REFERENCE_COUNT" val="0"/>
  <p:tag name="ARTICULATE_REFERENCE_ID" val="48c204b9-85cf-4293-91f0-ea4e2b879004"/>
  <p:tag name="ARTICULATE_SLIDE_COUNT" val="42"/>
  <p:tag name="ARTICULATE_USED_PAGE_ORIENTATION" val="1"/>
  <p:tag name="ARTICULATE_USED_PAGE_SIZE" val="7"/>
  <p:tag name="AS_NET" val="4.0.30319.42000"/>
  <p:tag name="AS_OS" val="Microsoft Windows NT 6.2.9200.0"/>
  <p:tag name="AS_RELEASE_DATE" val="2019.07.14"/>
  <p:tag name="AS_TITLE" val="Aspose.Slides for .NET 4.0"/>
  <p:tag name="AS_VERSION" val="19.7"/>
  <p:tag name="MMPROD_NEXTUNIQUEID" val="10009"/>
  <p:tag name="MMPROD_UIDATA" val="&lt;database version=&quot;11.0&quot;&gt;&lt;object type=&quot;1&quot; unique_id=&quot;10001&quot;&gt;&lt;object type=&quot;2&quot; unique_id=&quot;10002&quot;&gt;&lt;object type=&quot;3&quot; unique_id=&quot;10003&quot;&gt;&lt;property id=&quot;20148&quot; value=&quot;5&quot;/&gt;&lt;property id=&quot;20300&quot; value=&quot;Slide 1 - &amp;quot;Service Connection for National Guard and Reserves&amp;quot;&quot;/&gt;&lt;property id=&quot;20307&quot; value=&quot;257&quot;/&gt;&lt;/object&gt;&lt;object type=&quot;3&quot; unique_id=&quot;10004&quot;&gt;&lt;property id=&quot;20148&quot; value=&quot;5&quot;/&gt;&lt;property id=&quot;20300&quot; value=&quot;Slide 2 - &amp;quot;Objectives&amp;quot;&quot;/&gt;&lt;property id=&quot;20307&quot; value=&quot;261&quot;/&gt;&lt;/object&gt;&lt;object type=&quot;3&quot; unique_id=&quot;10005&quot;&gt;&lt;property id=&quot;20148&quot; value=&quot;5&quot;/&gt;&lt;property id=&quot;20300&quot; value=&quot;Slide 3 - &amp;quot;References&amp;quot;&quot;/&gt;&lt;property id=&quot;20307&quot; value=&quot;262&quot;/&gt;&lt;/object&gt;&lt;object type=&quot;3&quot; unique_id=&quot;10006&quot;&gt;&lt;property id=&quot;20148&quot; value=&quot;5&quot;/&gt;&lt;property id=&quot;20300&quot; value=&quot;Slide 4 - &amp;quot;National Guard and Reserve Service&amp;quot;&quot;/&gt;&lt;property id=&quot;20307&quot; value=&quot;263&quot;/&gt;&lt;/object&gt;&lt;object type=&quot;3&quot; unique_id=&quot;10007&quot;&gt;&lt;property id=&quot;20148&quot; value=&quot;5&quot;/&gt;&lt;property id=&quot;20300&quot; value=&quot;Slide 5 - &amp;quot;Qualifying Service&amp;quot;&quot;/&gt;&lt;property id=&quot;20307&quot; value=&quot;260&quot;/&gt;&lt;/object&gt;&lt;object type=&quot;3&quot; unique_id=&quot;10008&quot;&gt;&lt;property id=&quot;20148&quot; value=&quot;5&quot;/&gt;&lt;property id=&quot;20300&quot; value=&quot;Slide 6 - &amp;quot;Active Duty&amp;quot;&quot;/&gt;&lt;property id=&quot;20307&quot; value=&quot;264&quot;/&gt;&lt;/object&gt;&lt;object type=&quot;3&quot; unique_id=&quot;10009&quot;&gt;&lt;property id=&quot;20148&quot; value=&quot;5&quot;/&gt;&lt;property id=&quot;20300&quot; value=&quot;Slide 7 - &amp;quot;Academy Attendees&amp;quot;&quot;/&gt;&lt;property id=&quot;20307&quot; value=&quot;266&quot;/&gt;&lt;/object&gt;&lt;object type=&quot;3&quot; unique_id=&quot;10010&quot;&gt;&lt;property id=&quot;20148&quot; value=&quot;5&quot;/&gt;&lt;property id=&quot;20300&quot; value=&quot;Slide 8 - &amp;quot;ADT/IADT&amp;quot;&quot;/&gt;&lt;property id=&quot;20307&quot; value=&quot;265&quot;/&gt;&lt;/object&gt;&lt;object type=&quot;3&quot; unique_id=&quot;10011&quot;&gt;&lt;property id=&quot;20148&quot; value=&quot;5&quot;/&gt;&lt;property id=&quot;20300&quot; value=&quot;Slide 9 - &amp;quot;Deciding Line of Duty Status &amp;quot;&quot;/&gt;&lt;property id=&quot;20307&quot; value=&quot;268&quot;/&gt;&lt;/object&gt;&lt;object type=&quot;3&quot; unique_id=&quot;10012&quot;&gt;&lt;property id=&quot;20148&quot; value=&quot;5&quot;/&gt;&lt;property id=&quot;20300&quot; value=&quot;Slide 10 - &amp;quot;Line of Duty Continued&amp;quot;&quot;/&gt;&lt;property id=&quot;20307&quot; value=&quot;274&quot;/&gt;&lt;/object&gt;&lt;object type=&quot;3&quot; unique_id=&quot;10013&quot;&gt;&lt;property id=&quot;20148&quot; value=&quot;5&quot;/&gt;&lt;property id=&quot;20300&quot; value=&quot;Slide 11 - &amp;quot;In-service Injury&amp;quot;&quot;/&gt;&lt;property id=&quot;20307&quot; value=&quot;267&quot;/&gt;&lt;/object&gt;&lt;object type=&quot;3&quot; unique_id=&quot;10014&quot;&gt;&lt;property id=&quot;20148&quot; value=&quot;5&quot;/&gt;&lt;property id=&quot;20300&quot; value=&quot;Slide 12 - &amp;quot;Hearing Loss and/or Tinnitus Claims&amp;quot;&quot;/&gt;&lt;property id=&quot;20307&quot; value=&quot;272&quot;/&gt;&lt;/object&gt;&lt;object type=&quot;3&quot; unique_id=&quot;10015&quot;&gt;&lt;property id=&quot;20148&quot; value=&quot;5&quot;/&gt;&lt;property id=&quot;20300&quot; value=&quot;Slide 13 - &amp;quot; SC Based on Multiple Periods of ADT or IADT&amp;quot;&quot;/&gt;&lt;property id=&quot;20307&quot; value=&quot;276&quot;/&gt;&lt;/object&gt;&lt;object type=&quot;3&quot; unique_id=&quot;10016&quot;&gt;&lt;property id=&quot;20148&quot; value=&quot;5&quot;/&gt;&lt;property id=&quot;20300&quot; value=&quot;Slide 14 - &amp;quot;Presumption of Soundness &amp;quot;&quot;/&gt;&lt;property id=&quot;20307&quot; value=&quot;269&quot;/&gt;&lt;/object&gt;&lt;object type=&quot;3&quot; unique_id=&quot;10017&quot;&gt;&lt;property id=&quot;20148&quot; value=&quot;5&quot;/&gt;&lt;property id=&quot;20300&quot; value=&quot;Slide 15 - &amp;quot;Aggravation&amp;quot;&quot;/&gt;&lt;property id=&quot;20307&quot; value=&quot;275&quot;/&gt;&lt;/object&gt;&lt;object type=&quot;3&quot; unique_id=&quot;10018&quot;&gt;&lt;property id=&quot;20148&quot; value=&quot;5&quot;/&gt;&lt;property id=&quot;20300&quot; value=&quot;Slide 16 - &amp;quot;Presumptive SC &amp;quot;&quot;/&gt;&lt;property id=&quot;20307&quot; value=&quot;270&quot;/&gt;&lt;/object&gt;&lt;object type=&quot;3&quot; unique_id=&quot;10019&quot;&gt;&lt;property id=&quot;20148&quot; value=&quot;5&quot;/&gt;&lt;property id=&quot;20300&quot; value=&quot;Slide 17 - &amp;quot;Presumptive SC&amp;quot;&quot;/&gt;&lt;property id=&quot;20307&quot; value=&quot;271&quot;/&gt;&lt;/object&gt;&lt;object type=&quot;3&quot; unique_id=&quot;10020&quot;&gt;&lt;property id=&quot;20148&quot; value=&quot;5&quot;/&gt;&lt;property id=&quot;20300&quot; value=&quot;Slide 18 - &amp;quot;Questions&amp;quot;&quot;/&gt;&lt;property id=&quot;20307&quot; value=&quot;256&quot;/&gt;&lt;/object&gt;&lt;/object&gt;&lt;object type=&quot;8&quot; unique_id=&quot;10040&quot;&gt;&lt;/object&gt;&lt;/object&gt;&lt;/database&gt;"/>
  <p:tag name="SECTOMILLISECCONVERTED" val="1"/>
  <p:tag name="TAG_BACKING_FORM_KEY" val="3215762-c:\users\lynne\documents\appeals\vsr rvsr lay evidence final.pptx"/>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32&quot; /&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INFO" val="&lt;ThreeDShapeInfo&gt;&lt;uuid val=&quot;{f756d77d-df8e-4c6e-bfab-cf3636a9e89e}&quot; /&gt;&lt;isInvalidForFieldText val=&quot;0&quot; /&gt;&lt;Image&gt;&lt;filename val=&quot;E:\breeze\content\2372973515\4729695196-2\input\breezo\data\asimages\{f756d77d-df8e-4c6e-bfab-cf3636a9e89e}.png&quot; /&gt;&lt;left val=&quot;0&quot; /&gt;&lt;top val=&quot;679&quot; /&gt;&lt;width val=&quot;960&quot; /&gt;&lt;height val=&quot;41&quot; /&gt;&lt;hasText val=&quot;1&quot; /&gt;&lt;/Image&gt;&lt;/ThreeDShapeInfo&gt;"/>
  <p:tag name="PRESENTER_SHAPETEXTINFO" val="&lt;ShapeTextInfo&gt;&lt;TableIndex row=&quot;-1&quot; col=&quot;-1&quot;&gt;&lt;linesCount val=&quot;0&quot; /&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3&quot; /&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32&quot; /&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9&quot; /&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14&quot; /&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32&quot; /&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23&quot; /&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3&quot; /&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32&quot; /&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 /&gt;&lt;lineCharCount val=&quot;13&quot; /&gt;&lt;lineCharCount val=&quot;12&quot; /&gt;&lt;lineCharCount val=&quot;13&quot; /&gt;&lt;lineCharCount val=&quot;11&quot; /&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 /&gt;&lt;lineCharCount val=&quot;3&quot; /&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15.xml><?xml version="1.0" encoding="utf-8"?>
<p:tagLst xmlns:a="http://schemas.openxmlformats.org/drawingml/2006/main" xmlns:r="http://schemas.openxmlformats.org/officeDocument/2006/relationships" xmlns:p="http://schemas.openxmlformats.org/presentationml/2006/main">
  <p:tag name="PRESENTER_DUMMYTAG" val="&lt;DummyForForceWrite&gt;&lt;/DummyForForceWrite&gt;"/>
  <p:tag name="PRESENTER_SHAPEINFO" val="&lt;ThreeDShapeInfo&gt;&lt;uuid val=&quot;{068e5c29-6e3d-4017-b38b-6ba51c998027}&quot; /&gt;&lt;isInvalidForFieldText val=&quot;0&quot; /&gt;&lt;Image&gt;&lt;filename val=&quot;E:\breeze\content\2372973515\4729695196-2\input\breezo\data\asimages\{068e5c29-6e3d-4017-b38b-6ba51c998027}.png&quot; /&gt;&lt;left val=&quot;137&quot; /&gt;&lt;top val=&quot;309&quot; /&gt;&lt;width val=&quot;685&quot; /&gt;&lt;height val=&quot;75&quot; /&gt;&lt;hasText val=&quot;1&quot; /&gt;&lt;/Image&gt;&lt;/ThreeDShapeInfo&gt;"/>
  <p:tag name="PRESENTER_SHAPETEXTINFO" val="&lt;ShapeTextInfo&gt;&lt;TableIndex row=&quot;-1&quot; col=&quot;-1&quot;&gt;&lt;linesCount val=&quot;1&quot; /&gt;&lt;lineCharCount val=&quot;50&quot; /&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DUMMYTAG" val="&lt;DummyForForceWrite&gt;&lt;/DummyForForceWrite&gt;"/>
  <p:tag name="PRESENTER_SHAPEINFO" val="&lt;ThreeDShapeInfo&gt;&lt;uuid val=&quot;{aebda9f6-5657-434e-ad83-9e42232c9ebd}&quot; /&gt;&lt;isInvalidForFieldText val=&quot;0&quot; /&gt;&lt;Image&gt;&lt;filename val=&quot;E:\breeze\content\2372973515\4729695196-2\input\breezo\data\asimages\{aebda9f6-5657-434e-ad83-9e42232c9ebd}.png&quot; /&gt;&lt;left val=&quot;99&quot; /&gt;&lt;top val=&quot;507&quot; /&gt;&lt;width val=&quot;193&quot; /&gt;&lt;height val=&quot;56&quot; /&gt;&lt;hasText val=&quot;1&quot; /&gt;&lt;/Image&gt;&lt;/ThreeDShapeInfo&gt;"/>
  <p:tag name="PRESENTER_SHAPETEXTINFO" val="&lt;ShapeTextInfo&gt;&lt;TableIndex row=&quot;-1&quot; col=&quot;-1&quot;&gt;&lt;linesCount val=&quot;1&quot; /&gt;&lt;lineCharCount val=&quot;20&quot; /&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DUMMYTAG" val="&lt;DummyForForceWrite&gt;&lt;/DummyForForceWrite&gt;"/>
  <p:tag name="PRESENTER_SHAPEINFO" val="&lt;ThreeDShapeInfo&gt;&lt;uuid val=&quot;{eac40db6-6a14-405a-a633-80867be15ba6}&quot; /&gt;&lt;isInvalidForFieldText val=&quot;0&quot; /&gt;&lt;Image&gt;&lt;filename val=&quot;E:\breeze\content\2372973515\4729695196-2\input\breezo\data\asimages\{eac40db6-6a14-405a-a633-80867be15ba6}.png&quot; /&gt;&lt;left val=&quot;657&quot; /&gt;&lt;top val=&quot;507&quot; /&gt;&lt;width val=&quot;214&quot; /&gt;&lt;height val=&quot;27&quot; /&gt;&lt;hasText val=&quot;1&quot; /&gt;&lt;/Image&gt;&lt;/ThreeDShapeInfo&gt;"/>
  <p:tag name="PRESENTER_SHAPETEXTINFO" val="&lt;ShapeTextInfo&gt;&lt;TableIndex row=&quot;-1&quot; col=&quot;-1&quot;&gt;&lt;linesCount val=&quot;1&quot; /&gt;&lt;lineCharCount val=&quot;14&quot; /&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19.xml><?xml version="1.0" encoding="utf-8"?>
<p:tagLst xmlns:a="http://schemas.openxmlformats.org/drawingml/2006/main" xmlns:r="http://schemas.openxmlformats.org/officeDocument/2006/relationships" xmlns:p="http://schemas.openxmlformats.org/presentationml/2006/main">
  <p:tag name="PRESENTER_SHAPEINFO" val="&lt;ThreeDShapeInfo&gt;&lt;uuid val=&quot;{dadc14f9-c9c6-4506-9fa3-e7e96e110135}&quot; /&gt;&lt;isInvalidForFieldText val=&quot;0&quot; /&gt;&lt;Image&gt;&lt;filename val=&quot;E:\breeze\content\2372973515\4729695196-2\input\breezo\data\asimages\{dadc14f9-c9c6-4506-9fa3-e7e96e110135}.png&quot; /&gt;&lt;left val=&quot;386&quot; /&gt;&lt;top val=&quot;96&quot; /&gt;&lt;width val=&quot;187&quot; /&gt;&lt;height val=&quot;37&quot; /&gt;&lt;hasText val=&quot;1&quot; /&gt;&lt;/Image&gt;&lt;/ThreeDShapeInfo&gt;"/>
  <p:tag name="PRESENTER_SHAPETEXTINFO" val="&lt;ShapeTextInfo&gt;&lt;TableIndex row=&quot;-1&quot; col=&quot;-1&quot;&gt;&lt;linesCount val=&quot;1&quot; /&gt;&lt;lineCharCount val=&quot;10&quot; /&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INFO" val="&lt;ThreeDShapeInfo&gt;&lt;uuid val=&quot;{a02420b8-b3e0-43ad-9eb2-46e85e040f2f}&quot; /&gt;&lt;isInvalidForFieldText val=&quot;0&quot; /&gt;&lt;Image&gt;&lt;filename val=&quot;E:\breeze\content\2372973515\4729695196-2\input\breezo\data\asimages\{a02420b8-b3e0-43ad-9eb2-46e85e040f2f}.png&quot; /&gt;&lt;left val=&quot;58&quot; /&gt;&lt;top val=&quot;226&quot; /&gt;&lt;width val=&quot;817&quot; /&gt;&lt;height val=&quot;127&quot; /&gt;&lt;hasText val=&quot;1&quot; /&gt;&lt;/Image&gt;&lt;/ThreeDShapeInfo&gt;"/>
  <p:tag name="PRESENTER_SHAPETEXTINFO" val="&lt;ShapeTextInfo&gt;&lt;TableIndex row=&quot;-1&quot; col=&quot;-1&quot;&gt;&lt;linesCount val=&quot;3&quot; /&gt;&lt;lineCharCount val=&quot;135&quot; /&gt;&lt;lineCharCount val=&quot;2&quot; /&gt;&lt;lineCharCount val=&quot;66&quot; /&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INFO" val="&lt;ThreeDShapeInfo&gt;&lt;uuid val=&quot;{beb159a6-208e-4df6-a4bb-c7ad2aa2f2ab}&quot; /&gt;&lt;isInvalidForFieldText val=&quot;0&quot; /&gt;&lt;Image&gt;&lt;filename val=&quot;E:\breeze\content\2372973515\4729695196-2\input\breezo\data\asimages\{beb159a6-208e-4df6-a4bb-c7ad2aa2f2ab}.png&quot; /&gt;&lt;left val=&quot;932&quot; /&gt;&lt;top val=&quot;697&quot; /&gt;&lt;width val=&quot;11&quot; /&gt;&lt;height val=&quot;15&quot; /&gt;&lt;hasText val=&quot;1&quot; /&gt;&lt;/Image&gt;&lt;/ThreeDShapeInfo&gt;"/>
  <p:tag name="PRESENTER_SHAPETEXTINFO" val="&lt;ShapeTextInfo&gt;&lt;TableIndex row=&quot;-1&quot; col=&quot;-1&quot;&gt;&lt;linesCount val=&quot;1&quot; /&gt;&lt;lineCharCount val=&quot;1&quot; /&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23.xml><?xml version="1.0" encoding="utf-8"?>
<p:tagLst xmlns:a="http://schemas.openxmlformats.org/drawingml/2006/main" xmlns:r="http://schemas.openxmlformats.org/officeDocument/2006/relationships" xmlns:p="http://schemas.openxmlformats.org/presentationml/2006/main">
  <p:tag name="PRESENTER_SHAPEINFO" val="&lt;ThreeDShapeInfo&gt;&lt;uuid val=&quot;{bf48e516-644a-46cf-a671-95c15a07ea72}&quot; /&gt;&lt;isInvalidForFieldText val=&quot;0&quot; /&gt;&lt;Image&gt;&lt;filename val=&quot;E:\breeze\content\2372973515\4729695196-2\input\breezo\data\asimages\{bf48e516-644a-46cf-a671-95c15a07ea72}.png&quot; /&gt;&lt;left val=&quot;381&quot; /&gt;&lt;top val=&quot;96&quot; /&gt;&lt;width val=&quot;199&quot; /&gt;&lt;height val=&quot;29&quot; /&gt;&lt;hasText val=&quot;1&quot; /&gt;&lt;/Image&gt;&lt;/ThreeDShapeInfo&gt;"/>
  <p:tag name="PRESENTER_SHAPETEXTINFO" val="&lt;ShapeTextInfo&gt;&lt;TableIndex row=&quot;-1&quot; col=&quot;-1&quot;&gt;&lt;linesCount val=&quot;1&quot; /&gt;&lt;lineCharCount val=&quot;10&quot; /&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INFO" val="&lt;ThreeDShapeInfo&gt;&lt;uuid val=&quot;{bed32985-711c-4124-ab42-35e7856f3cc2}&quot; /&gt;&lt;isInvalidForFieldText val=&quot;0&quot; /&gt;&lt;Image&gt;&lt;filename val=&quot;E:\breeze\content\2372973515\4729695196-2\input\breezo\data\asimages\{bed32985-711c-4124-ab42-35e7856f3cc2}.png&quot; /&gt;&lt;left val=&quot;58&quot; /&gt;&lt;top val=&quot;226&quot; /&gt;&lt;width val=&quot;829&quot; /&gt;&lt;height val=&quot;266&quot; /&gt;&lt;hasText val=&quot;1&quot; /&gt;&lt;/Image&gt;&lt;/ThreeDShapeInfo&gt;"/>
  <p:tag name="PRESENTER_SHAPETEXTINFO" val="&lt;ShapeTextInfo&gt;&lt;TableIndex row=&quot;-1&quot; col=&quot;-1&quot;&gt;&lt;linesCount val=&quot;6&quot; /&gt;&lt;lineCharCount val=&quot;22&quot; /&gt;&lt;lineCharCount val=&quot;100&quot; /&gt;&lt;lineCharCount val=&quot;49&quot; /&gt;&lt;lineCharCount val=&quot;108&quot; /&gt;&lt;lineCharCount val=&quot;56&quot; /&gt;&lt;lineCharCount val=&quot;50&quot; /&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INFO" val="&lt;ThreeDShapeInfo&gt;&lt;uuid val=&quot;{ca55a027-63d7-47e9-b00a-975a137152ea}&quot; /&gt;&lt;isInvalidForFieldText val=&quot;0&quot; /&gt;&lt;Image&gt;&lt;filename val=&quot;E:\breeze\content\2372973515\4729695196-2\input\breezo\data\asimages\{ca55a027-63d7-47e9-b00a-975a137152ea}.png&quot; /&gt;&lt;left val=&quot;932&quot; /&gt;&lt;top val=&quot;697&quot; /&gt;&lt;width val=&quot;11&quot; /&gt;&lt;height val=&quot;15&quot; /&gt;&lt;hasText val=&quot;1&quot; /&gt;&lt;/Image&gt;&lt;/ThreeDShapeInfo&gt;"/>
  <p:tag name="PRESENTER_SHAPETEXTINFO" val="&lt;ShapeTextInfo&gt;&lt;TableIndex row=&quot;-1&quot; col=&quot;-1&quot;&gt;&lt;linesCount val=&quot;1&quot; /&gt;&lt;lineCharCount val=&quot;1&quot; /&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INFO" val="&lt;ThreeDShapeInfo&gt;&lt;uuid val=&quot;{b4383d60-0c33-4432-8bfa-bc721d07187e}&quot; /&gt;&lt;isInvalidForFieldText val=&quot;0&quot; /&gt;&lt;Image&gt;&lt;filename val=&quot;E:\breeze\content\2372973515\4729695196-2\input\breezo\data\asimages\{b4383d60-0c33-4432-8bfa-bc721d07187e}.png&quot; /&gt;&lt;left val=&quot;56&quot; /&gt;&lt;top val=&quot;218&quot; /&gt;&lt;width val=&quot;271&quot; /&gt;&lt;height val=&quot;45&quot; /&gt;&lt;hasText val=&quot;1&quot; /&gt;&lt;/Image&gt;&lt;/ThreeDShapeInfo&gt;"/>
  <p:tag name="PRESENTER_SHAPETEXTINFO" val="&lt;ShapeTextInfo&gt;&lt;TableIndex row=&quot;-1&quot; col=&quot;-1&quot;&gt;&lt;linesCount val=&quot;1&quot; /&gt;&lt;lineCharCount val=&quot;1&quot; /&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INFO" val="&lt;ThreeDShapeInfo&gt;&lt;uuid val=&quot;{eddde430-8fc1-4aba-b3f3-e7cd4fdf4218}&quot; /&gt;&lt;isInvalidForFieldText val=&quot;0&quot; /&gt;&lt;Image&gt;&lt;filename val=&quot;E:\breeze\content\2372973515\4729695196-2\input\breezo\data\asimages\{eddde430-8fc1-4aba-b3f3-e7cd4fdf4218}.png&quot; /&gt;&lt;left val=&quot;56&quot; /&gt;&lt;top val=&quot;256&quot; /&gt;&lt;width val=&quot;271&quot; /&gt;&lt;height val=&quot;44&quot; /&gt;&lt;hasText val=&quot;1&quot; /&gt;&lt;/Image&gt;&lt;/ThreeDShapeInfo&gt;"/>
  <p:tag name="PRESENTER_SHAPETEXTINFO" val="&lt;ShapeTextInfo&gt;&lt;TableIndex row=&quot;-1&quot; col=&quot;-1&quot;&gt;&lt;linesCount val=&quot;1&quot; /&gt;&lt;lineCharCount val=&quot;1&quot; /&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INFO" val="&lt;ThreeDShapeInfo&gt;&lt;uuid val=&quot;{aa26f5ac-3756-4409-bc8d-43cd3bcd575c}&quot; /&gt;&lt;isInvalidForFieldText val=&quot;0&quot; /&gt;&lt;Image&gt;&lt;filename val=&quot;E:\breeze\content\2372973515\4729695196-2\input\breezo\data\asimages\{aa26f5ac-3756-4409-bc8d-43cd3bcd575c}.png&quot; /&gt;&lt;left val=&quot;56&quot; /&gt;&lt;top val=&quot;321&quot; /&gt;&lt;width val=&quot;271&quot; /&gt;&lt;height val=&quot;45&quot; /&gt;&lt;hasText val=&quot;1&quot; /&gt;&lt;/Image&gt;&lt;/ThreeDShapeInfo&gt;"/>
  <p:tag name="PRESENTER_SHAPETEXTINFO" val="&lt;ShapeTextInfo&gt;&lt;TableIndex row=&quot;-1&quot; col=&quot;-1&quot;&gt;&lt;linesCount val=&quot;1&quot; /&gt;&lt;lineCharCount val=&quot;1&quot; /&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INFO" val="&lt;ThreeDShapeInfo&gt;&lt;uuid val=&quot;{cc733ea7-c1cc-4846-bc0f-f784ac1f234e}&quot; /&gt;&lt;isInvalidForFieldText val=&quot;0&quot; /&gt;&lt;Image&gt;&lt;filename val=&quot;E:\breeze\content\2372973515\4729695196-2\input\breezo\data\asimages\{cc733ea7-c1cc-4846-bc0f-f784ac1f234e}.png&quot; /&gt;&lt;left val=&quot;56&quot; /&gt;&lt;top val=&quot;358&quot; /&gt;&lt;width val=&quot;271&quot; /&gt;&lt;height val=&quot;45&quot; /&gt;&lt;hasText val=&quot;1&quot; /&gt;&lt;/Image&gt;&lt;/ThreeDShapeInfo&gt;"/>
  <p:tag name="PRESENTER_SHAPETEXTINFO" val="&lt;ShapeTextInfo&gt;&lt;TableIndex row=&quot;-1&quot; col=&quot;-1&quot;&gt;&lt;linesCount val=&quot;1&quot; /&gt;&lt;lineCharCount val=&quot;1&quot; /&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INFO" val="&lt;ThreeDShapeInfo&gt;&lt;uuid val=&quot;{d88ce387-1508-4795-9915-3fbad8e29bc6}&quot; /&gt;&lt;isInvalidForFieldText val=&quot;0&quot; /&gt;&lt;Image&gt;&lt;filename val=&quot;E:\breeze\content\2372973515\4729695196-2\input\breezo\data\asimages\{d88ce387-1508-4795-9915-3fbad8e29bc6}.png&quot; /&gt;&lt;left val=&quot;56&quot; /&gt;&lt;top val=&quot;424&quot; /&gt;&lt;width val=&quot;271&quot; /&gt;&lt;height val=&quot;44&quot; /&gt;&lt;hasText val=&quot;1&quot; /&gt;&lt;/Image&gt;&lt;/ThreeDShapeInfo&gt;"/>
  <p:tag name="PRESENTER_SHAPETEXTINFO" val="&lt;ShapeTextInfo&gt;&lt;TableIndex row=&quot;-1&quot; col=&quot;-1&quot;&gt;&lt;linesCount val=&quot;1&quot; /&gt;&lt;lineCharCount val=&quot;1&quot; /&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INFO" val="&lt;ThreeDShapeInfo&gt;&lt;uuid val=&quot;{ad145af7-3b29-4b0d-93d9-3423a60cb653}&quot; /&gt;&lt;isInvalidForFieldText val=&quot;0&quot; /&gt;&lt;Image&gt;&lt;filename val=&quot;E:\breeze\content\2372973515\4729695196-2\input\breezo\data\asimages\{ad145af7-3b29-4b0d-93d9-3423a60cb653}.png&quot; /&gt;&lt;left val=&quot;56&quot; /&gt;&lt;top val=&quot;460&quot; /&gt;&lt;width val=&quot;271&quot; /&gt;&lt;height val=&quot;45&quot; /&gt;&lt;hasText val=&quot;1&quot; /&gt;&lt;/Image&gt;&lt;/ThreeDShapeInfo&gt;"/>
  <p:tag name="PRESENTER_SHAPETEXTINFO" val="&lt;ShapeTextInfo&gt;&lt;TableIndex row=&quot;-1&quot; col=&quot;-1&quot;&gt;&lt;linesCount val=&quot;1&quot; /&gt;&lt;lineCharCount val=&quot;1&quot; /&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33.xml><?xml version="1.0" encoding="utf-8"?>
<p:tagLst xmlns:a="http://schemas.openxmlformats.org/drawingml/2006/main" xmlns:r="http://schemas.openxmlformats.org/officeDocument/2006/relationships" xmlns:p="http://schemas.openxmlformats.org/presentationml/2006/main">
  <p:tag name="PRESENTER_SHAPEINFO" val="&lt;ThreeDShapeInfo&gt;&lt;uuid val=&quot;{00353446-7384-47ce-8d44-3ac8f6fd29b6}&quot; /&gt;&lt;isInvalidForFieldText val=&quot;0&quot; /&gt;&lt;Image&gt;&lt;filename val=&quot;E:\breeze\content\2372973515\4729695196-2\input\breezo\data\asimages\{00353446-7384-47ce-8d44-3ac8f6fd29b6}.png&quot; /&gt;&lt;left val=&quot;318&quot; /&gt;&lt;top val=&quot;96&quot; /&gt;&lt;width val=&quot;325&quot; /&gt;&lt;height val=&quot;37&quot; /&gt;&lt;hasText val=&quot;1&quot; /&gt;&lt;/Image&gt;&lt;/ThreeDShapeInfo&gt;"/>
  <p:tag name="PRESENTER_SHAPETEXTINFO" val="&lt;ShapeTextInfo&gt;&lt;TableIndex row=&quot;-1&quot; col=&quot;-1&quot;&gt;&lt;linesCount val=&quot;1&quot; /&gt;&lt;lineCharCount val=&quot;18&quot; /&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INFO" val="&lt;ThreeDShapeInfo&gt;&lt;uuid val=&quot;{2eb77ec0-2dc0-4b79-a063-310f597a760c}&quot; /&gt;&lt;isInvalidForFieldText val=&quot;0&quot; /&gt;&lt;Image&gt;&lt;filename val=&quot;E:\breeze\content\2372973515\4729695196-2\input\breezo\data\asimages\{2eb77ec0-2dc0-4b79-a063-310f597a760c}.png&quot; /&gt;&lt;left val=&quot;58&quot; /&gt;&lt;top val=&quot;227&quot; /&gt;&lt;width val=&quot;829&quot; /&gt;&lt;height val=&quot;372&quot; /&gt;&lt;hasText val=&quot;1&quot; /&gt;&lt;/Image&gt;&lt;/ThreeDShapeInfo&gt;"/>
  <p:tag name="PRESENTER_SHAPETEXTINFO" val="&lt;ShapeTextInfo&gt;&lt;TableIndex row=&quot;-1&quot; col=&quot;-1&quot;&gt;&lt;linesCount val=&quot;6&quot; /&gt;&lt;lineCharCount val=&quot;13&quot; /&gt;&lt;lineCharCount val=&quot;156&quot; /&gt;&lt;lineCharCount val=&quot;220&quot; /&gt;&lt;lineCharCount val=&quot;28&quot; /&gt;&lt;lineCharCount val=&quot;19&quot; /&gt;&lt;lineCharCount val=&quot;27&quot; /&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INFO" val="&lt;ThreeDShapeInfo&gt;&lt;uuid val=&quot;{64026f95-c9f9-4ecb-9869-80799729c5f5}&quot; /&gt;&lt;isInvalidForFieldText val=&quot;0&quot; /&gt;&lt;Image&gt;&lt;filename val=&quot;E:\breeze\content\2372973515\4729695196-2\input\breezo\data\asimages\{64026f95-c9f9-4ecb-9869-80799729c5f5}.png&quot; /&gt;&lt;left val=&quot;932&quot; /&gt;&lt;top val=&quot;697&quot; /&gt;&lt;width val=&quot;11&quot; /&gt;&lt;height val=&quot;15&quot; /&gt;&lt;hasText val=&quot;1&quot; /&gt;&lt;/Image&gt;&lt;/ThreeDShapeInfo&gt;"/>
  <p:tag name="PRESENTER_SHAPETEXTINFO" val="&lt;ShapeTextInfo&gt;&lt;TableIndex row=&quot;-1&quot; col=&quot;-1&quot;&gt;&lt;linesCount val=&quot;1&quot; /&gt;&lt;lineCharCount val=&quot;1&quot; /&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37.xml><?xml version="1.0" encoding="utf-8"?>
<p:tagLst xmlns:a="http://schemas.openxmlformats.org/drawingml/2006/main" xmlns:r="http://schemas.openxmlformats.org/officeDocument/2006/relationships" xmlns:p="http://schemas.openxmlformats.org/presentationml/2006/main">
  <p:tag name="PRESENTER_SHAPEINFO" val="&lt;ThreeDShapeInfo&gt;&lt;uuid val=&quot;{d495c76b-d9ed-4e63-85ae-af92eabaa71d}&quot; /&gt;&lt;isInvalidForFieldText val=&quot;0&quot; /&gt;&lt;Image&gt;&lt;filename val=&quot;E:\breeze\content\2372973515\4729695196-2\input\breezo\data\asimages\{d495c76b-d9ed-4e63-85ae-af92eabaa71d}.png&quot; /&gt;&lt;left val=&quot;160&quot; /&gt;&lt;top val=&quot;96&quot; /&gt;&lt;width val=&quot;641&quot; /&gt;&lt;height val=&quot;29&quot; /&gt;&lt;hasText val=&quot;1&quot; /&gt;&lt;/Image&gt;&lt;/ThreeDShapeInfo&gt;"/>
  <p:tag name="PRESENTER_SHAPETEXTINFO" val="&lt;ShapeTextInfo&gt;&lt;TableIndex row=&quot;-1&quot; col=&quot;-1&quot;&gt;&lt;linesCount val=&quot;1&quot; /&gt;&lt;lineCharCount val=&quot;34&quot; /&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INFO" val="&lt;ThreeDShapeInfo&gt;&lt;uuid val=&quot;{d65525ed-9e21-44fe-bc44-21e5e722be58}&quot; /&gt;&lt;isInvalidForFieldText val=&quot;0&quot; /&gt;&lt;Image&gt;&lt;filename val=&quot;E:\breeze\content\2372973515\4729695196-2\input\breezo\data\asimages\{d65525ed-9e21-44fe-bc44-21e5e722be58}.png&quot; /&gt;&lt;left val=&quot;57&quot; /&gt;&lt;top val=&quot;229&quot; /&gt;&lt;width val=&quot;784&quot; /&gt;&lt;height val=&quot;92&quot; /&gt;&lt;hasText val=&quot;1&quot; /&gt;&lt;/Image&gt;&lt;/ThreeDShapeInfo&gt;"/>
  <p:tag name="PRESENTER_SHAPETEXTINFO" val="&lt;ShapeTextInfo&gt;&lt;TableIndex row=&quot;-1&quot; col=&quot;-1&quot;&gt;&lt;linesCount val=&quot;1&quot; /&gt;&lt;lineCharCount val=&quot;150&quot; /&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INFO" val="&lt;ThreeDShapeInfo&gt;&lt;uuid val=&quot;{4009c67c-f933-45c5-aad1-d6c7070a615d}&quot; /&gt;&lt;isInvalidForFieldText val=&quot;0&quot; /&gt;&lt;Image&gt;&lt;filename val=&quot;E:\breeze\content\2372973515\4729695196-2\input\breezo\data\asimages\{4009c67c-f933-45c5-aad1-d6c7070a615d}.png&quot; /&gt;&lt;left val=&quot;931&quot; /&gt;&lt;top val=&quot;697&quot; /&gt;&lt;width val=&quot;11&quot; /&gt;&lt;height val=&quot;15&quot; /&gt;&lt;hasText val=&quot;1&quot; /&gt;&lt;/Image&gt;&lt;/ThreeDShapeInfo&gt;"/>
  <p:tag name="PRESENTER_SHAPETEXTINFO" val="&lt;ShapeTextInfo&gt;&lt;TableIndex row=&quot;-1&quot; col=&quot;-1&quot;&gt;&lt;linesCount val=&quot;1&quot; /&gt;&lt;lineCharCount val=&quot;1&quot; /&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INFO" val="&lt;ThreeDShapeInfo&gt;&lt;uuid val=&quot;{aac0d3ed-cc61-4aa9-93b3-cb4904dd90cb}&quot; /&gt;&lt;isInvalidForFieldText val=&quot;0&quot; /&gt;&lt;Image&gt;&lt;filename val=&quot;E:\breeze\content\2372973515\4729695196-2\input\breezo\data\asimages\{aac0d3ed-cc61-4aa9-93b3-cb4904dd90cb}.png&quot; /&gt;&lt;left val=&quot;58&quot; /&gt;&lt;top val=&quot;359&quot; /&gt;&lt;width val=&quot;839&quot; /&gt;&lt;height val=&quot;231&quot; /&gt;&lt;hasText val=&quot;1&quot; /&gt;&lt;/Image&gt;&lt;/ThreeDShapeInfo&gt;"/>
  <p:tag name="PRESENTER_SHAPETEXTINFO" val="&lt;ShapeTextInfo&gt;&lt;TableIndex row=&quot;-1&quot; col=&quot;-1&quot;&gt;&lt;linesCount val=&quot;5&quot; /&gt;&lt;lineCharCount val=&quot;147&quot; /&gt;&lt;lineCharCount val=&quot;53&quot; /&gt;&lt;lineCharCount val=&quot;24&quot; /&gt;&lt;lineCharCount val=&quot;73&quot; /&gt;&lt;lineCharCount val=&quot;19&quot; /&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42.xml><?xml version="1.0" encoding="utf-8"?>
<p:tagLst xmlns:a="http://schemas.openxmlformats.org/drawingml/2006/main" xmlns:r="http://schemas.openxmlformats.org/officeDocument/2006/relationships" xmlns:p="http://schemas.openxmlformats.org/presentationml/2006/main">
  <p:tag name="PRESENTER_SHAPEINFO" val="&lt;ThreeDShapeInfo&gt;&lt;uuid val=&quot;{31bb2f32-8271-4bc0-b21a-50870a46951e}&quot; /&gt;&lt;isInvalidForFieldText val=&quot;0&quot; /&gt;&lt;Image&gt;&lt;filename val=&quot;E:\breeze\content\2372973515\4729695196-2\input\breezo\data\asimages\{31bb2f32-8271-4bc0-b21a-50870a46951e}.png&quot; /&gt;&lt;left val=&quot;338&quot; /&gt;&lt;top val=&quot;97&quot; /&gt;&lt;width val=&quot;285&quot; /&gt;&lt;height val=&quot;36&quot; /&gt;&lt;hasText val=&quot;1&quot; /&gt;&lt;/Image&gt;&lt;/ThreeDShapeInfo&gt;"/>
  <p:tag name="PRESENTER_SHAPETEXTINFO" val="&lt;ShapeTextInfo&gt;&lt;TableIndex row=&quot;-1&quot; col=&quot;-1&quot;&gt;&lt;linesCount val=&quot;1&quot; /&gt;&lt;lineCharCount val=&quot;17&quot; /&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RESENTER_SHAPEINFO" val="&lt;ThreeDShapeInfo&gt;&lt;uuid val=&quot;{9c9b9926-7936-46d5-8dfd-47c23c1d9c94}&quot; /&gt;&lt;isInvalidForFieldText val=&quot;0&quot; /&gt;&lt;Image&gt;&lt;filename val=&quot;E:\breeze\content\2372973515\4729695196-2\input\breezo\data\asimages\{9c9b9926-7936-46d5-8dfd-47c23c1d9c94}.png&quot; /&gt;&lt;left val=&quot;58&quot; /&gt;&lt;top val=&quot;226&quot; /&gt;&lt;width val=&quot;833&quot; /&gt;&lt;height val=&quot;235&quot; /&gt;&lt;hasText val=&quot;1&quot; /&gt;&lt;/Image&gt;&lt;/ThreeDShapeInfo&gt;"/>
  <p:tag name="PRESENTER_SHAPETEXTINFO" val="&lt;ShapeTextInfo&gt;&lt;TableIndex row=&quot;-1&quot; col=&quot;-1&quot;&gt;&lt;linesCount val=&quot;3&quot; /&gt;&lt;lineCharCount val=&quot;151&quot; /&gt;&lt;lineCharCount val=&quot;1&quot; /&gt;&lt;lineCharCount val=&quot;181&quot; /&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INFO" val="&lt;ThreeDShapeInfo&gt;&lt;uuid val=&quot;{58d5f564-b41f-47bd-96a5-738be6596df9}&quot; /&gt;&lt;isInvalidForFieldText val=&quot;0&quot; /&gt;&lt;Image&gt;&lt;filename val=&quot;E:\breeze\content\2372973515\4729695196-2\input\breezo\data\asimages\{58d5f564-b41f-47bd-96a5-738be6596df9}.png&quot; /&gt;&lt;left val=&quot;924&quot; /&gt;&lt;top val=&quot;697&quot; /&gt;&lt;width val=&quot;16&quot; /&gt;&lt;height val=&quot;15&quot; /&gt;&lt;hasText val=&quot;1&quot; /&gt;&lt;/Image&gt;&lt;/ThreeDShapeInfo&gt;"/>
  <p:tag name="PRESENTER_SHAPETEXTINFO" val="&lt;ShapeTextInfo&gt;&lt;TableIndex row=&quot;-1&quot; col=&quot;-1&quot;&gt;&lt;linesCount val=&quot;1&quot; /&gt;&lt;lineCharCount val=&quot;2&quot; /&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46.xml><?xml version="1.0" encoding="utf-8"?>
<p:tagLst xmlns:a="http://schemas.openxmlformats.org/drawingml/2006/main" xmlns:r="http://schemas.openxmlformats.org/officeDocument/2006/relationships" xmlns:p="http://schemas.openxmlformats.org/presentationml/2006/main">
  <p:tag name="PRESENTER_SHAPEINFO" val="&lt;ThreeDShapeInfo&gt;&lt;uuid val=&quot;{89144359-50ad-4c27-956c-e47cf9fc5c4b}&quot; /&gt;&lt;isInvalidForFieldText val=&quot;0&quot; /&gt;&lt;Image&gt;&lt;filename val=&quot;E:\breeze\content\2372973515\4729695196-2\input\breezo\data\asimages\{89144359-50ad-4c27-956c-e47cf9fc5c4b}.png&quot; /&gt;&lt;left val=&quot;300&quot; /&gt;&lt;top val=&quot;97&quot; /&gt;&lt;width val=&quot;355&quot; /&gt;&lt;height val=&quot;36&quot; /&gt;&lt;hasText val=&quot;1&quot; /&gt;&lt;/Image&gt;&lt;/ThreeDShapeInfo&gt;"/>
  <p:tag name="PRESENTER_SHAPETEXTINFO" val="&lt;ShapeTextInfo&gt;&lt;TableIndex row=&quot;-1&quot; col=&quot;-1&quot;&gt;&lt;linesCount val=&quot;1&quot; /&gt;&lt;lineCharCount val=&quot;17&quot; /&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INFO" val="&lt;ThreeDShapeInfo&gt;&lt;uuid val=&quot;{01724a8d-a383-4f8c-b107-1c33534a12ec}&quot; /&gt;&lt;isInvalidForFieldText val=&quot;0&quot; /&gt;&lt;Image&gt;&lt;filename val=&quot;E:\breeze\content\2372973515\4729695196-2\input\breezo\data\asimages\{01724a8d-a383-4f8c-b107-1c33534a12ec}.png&quot; /&gt;&lt;left val=&quot;76&quot; /&gt;&lt;top val=&quot;241&quot; /&gt;&lt;width val=&quot;809&quot; /&gt;&lt;height val=&quot;395&quot; /&gt;&lt;hasText val=&quot;1&quot; /&gt;&lt;/Image&gt;&lt;/ThreeDShapeInfo&gt;"/>
  <p:tag name="PRESENTER_SHAPETEXTINFO" val="&lt;ShapeTextInfo&gt;&lt;TableIndex row=&quot;1&quot; col=&quot;1&quot;&gt;&lt;linesCount val=&quot;1&quot; /&gt;&lt;lineCharCount val=&quot;9&quot; /&gt;&lt;/TableIndex&gt;&lt;TableIndex row=&quot;1&quot; col=&quot;2&quot;&gt;&lt;linesCount val=&quot;1&quot; /&gt;&lt;lineCharCount val=&quot;17&quot; /&gt;&lt;/TableIndex&gt;&lt;TableIndex row=&quot;1&quot; col=&quot;3&quot;&gt;&lt;linesCount val=&quot;1&quot; /&gt;&lt;lineCharCount val=&quot;39&quot; /&gt;&lt;/TableIndex&gt;&lt;TableIndex row=&quot;2&quot; col=&quot;1&quot;&gt;&lt;linesCount val=&quot;3&quot; /&gt;&lt;lineCharCount val=&quot;13&quot; /&gt;&lt;lineCharCount val=&quot;18&quot; /&gt;&lt;lineCharCount val=&quot;8&quot; /&gt;&lt;/TableIndex&gt;&lt;TableIndex row=&quot;2&quot; col=&quot;2&quot;&gt;&lt;linesCount val=&quot;1&quot; /&gt;&lt;lineCharCount val=&quot;45&quot; /&gt;&lt;/TableIndex&gt;&lt;TableIndex row=&quot;2&quot; col=&quot;3&quot;&gt;&lt;linesCount val=&quot;3&quot; /&gt;&lt;lineCharCount val=&quot;4&quot; /&gt;&lt;lineCharCount val=&quot;0&quot; /&gt;&lt;lineCharCount val=&quot;122&quot; /&gt;&lt;/TableIndex&gt;&lt;TableIndex row=&quot;3&quot; col=&quot;1&quot;&gt;&lt;linesCount val=&quot;1&quot; /&gt;&lt;lineCharCount val=&quot;8&quot; /&gt;&lt;/TableIndex&gt;&lt;TableIndex row=&quot;3&quot; col=&quot;2&quot;&gt;&lt;linesCount val=&quot;1&quot; /&gt;&lt;lineCharCount val=&quot;45&quot; /&gt;&lt;/TableIndex&gt;&lt;TableIndex row=&quot;3&quot; col=&quot;3&quot;&gt;&lt;linesCount val=&quot;3&quot; /&gt;&lt;lineCharCount val=&quot;4&quot; /&gt;&lt;lineCharCount val=&quot;0&quot; /&gt;&lt;lineCharCount val=&quot;122&quot; /&gt;&lt;/TableIndex&gt;&lt;TableIndex row=&quot;4&quot; col=&quot;1&quot;&gt;&lt;linesCount val=&quot;1&quot; /&gt;&lt;lineCharCount val=&quot;26&quot; /&gt;&lt;/TableIndex&gt;&lt;TableIndex row=&quot;4&quot; col=&quot;2&quot;&gt;&lt;linesCount val=&quot;1&quot; /&gt;&lt;lineCharCount val=&quot;44&quot; /&gt;&lt;/TableIndex&gt;&lt;TableIndex row=&quot;4&quot; col=&quot;3&quot;&gt;&lt;linesCount val=&quot;1&quot; /&gt;&lt;lineCharCount val=&quot;12&quot; /&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INFO" val="&lt;ThreeDShapeInfo&gt;&lt;uuid val=&quot;{183eab42-1861-400b-b8dc-2ef2110ed0a2}&quot; /&gt;&lt;isInvalidForFieldText val=&quot;0&quot; /&gt;&lt;Image&gt;&lt;filename val=&quot;E:\breeze\content\2372973515\4729695196-2\input\breezo\data\asimages\{183eab42-1861-400b-b8dc-2ef2110ed0a2}.png&quot; /&gt;&lt;left val=&quot;932&quot; /&gt;&lt;top val=&quot;697&quot; /&gt;&lt;width val=&quot;11&quot; /&gt;&lt;height val=&quot;15&quot; /&gt;&lt;hasText val=&quot;1&quot; /&gt;&lt;/Image&gt;&lt;/ThreeDShapeInfo&gt;"/>
  <p:tag name="PRESENTER_SHAPETEXTINFO" val="&lt;ShapeTextInfo&gt;&lt;TableIndex row=&quot;-1&quot; col=&quot;-1&quot;&gt;&lt;linesCount val=&quot;1&quot; /&gt;&lt;lineCharCount val=&quot;1&quot; /&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INFO" val="&lt;ThreeDShapeInfo&gt;&lt;uuid val=&quot;{69f0ace8-94ee-4279-be9e-13cc1202c63f}&quot; /&gt;&lt;isInvalidForFieldText val=&quot;0&quot; /&gt;&lt;Image&gt;&lt;filename val=&quot;E:\breeze\content\2372973515\4729695196-2\input\breezo\data\asimages\{69f0ace8-94ee-4279-be9e-13cc1202c63f}.png&quot; /&gt;&lt;left val=&quot;44&quot; /&gt;&lt;top val=&quot;206&quot; /&gt;&lt;width val=&quot;789&quot; /&gt;&lt;height val=&quot;24&quot; /&gt;&lt;hasText val=&quot;1&quot; /&gt;&lt;/Image&gt;&lt;/ThreeDShapeInfo&gt;"/>
  <p:tag name="PRESENTER_SHAPETEXTINFO" val="&lt;ShapeTextInfo&gt;&lt;TableIndex row=&quot;-1&quot; col=&quot;-1&quot;&gt;&lt;linesCount val=&quot;1&quot; /&gt;&lt;lineCharCount val=&quot;70&quot; /&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51.xml><?xml version="1.0" encoding="utf-8"?>
<p:tagLst xmlns:a="http://schemas.openxmlformats.org/drawingml/2006/main" xmlns:r="http://schemas.openxmlformats.org/officeDocument/2006/relationships" xmlns:p="http://schemas.openxmlformats.org/presentationml/2006/main">
  <p:tag name="PRESENTER_SHAPEINFO" val="&lt;ThreeDShapeInfo&gt;&lt;uuid val=&quot;{ad1fb67d-95c5-488e-889a-325381af8e72}&quot; /&gt;&lt;isInvalidForFieldText val=&quot;0&quot; /&gt;&lt;Image&gt;&lt;filename val=&quot;E:\breeze\content\2372973515\4729695196-2\input\breezo\data\asimages\{ad1fb67d-95c5-488e-889a-325381af8e72}.png&quot; /&gt;&lt;left val=&quot;228&quot; /&gt;&lt;top val=&quot;96&quot; /&gt;&lt;width val=&quot;505&quot; /&gt;&lt;height val=&quot;37&quot; /&gt;&lt;hasText val=&quot;1&quot; /&gt;&lt;/Image&gt;&lt;/ThreeDShapeInfo&gt;"/>
  <p:tag name="PRESENTER_SHAPETEXTINFO" val="&lt;ShapeTextInfo&gt;&lt;TableIndex row=&quot;-1&quot; col=&quot;-1&quot;&gt;&lt;linesCount val=&quot;1&quot; /&gt;&lt;lineCharCount val=&quot;29&quot; /&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INFO" val="&lt;ThreeDShapeInfo&gt;&lt;uuid val=&quot;{b6dd374e-453d-46f9-86ba-a1043fde0eba}&quot; /&gt;&lt;isInvalidForFieldText val=&quot;0&quot; /&gt;&lt;Image&gt;&lt;filename val=&quot;E:\breeze\content\2372973515\4729695196-2\input\breezo\data\asimages\{b6dd374e-453d-46f9-86ba-a1043fde0eba}.png&quot; /&gt;&lt;left val=&quot;58&quot; /&gt;&lt;top val=&quot;226&quot; /&gt;&lt;width val=&quot;827&quot; /&gt;&lt;height val=&quot;258&quot; /&gt;&lt;hasText val=&quot;1&quot; /&gt;&lt;/Image&gt;&lt;/ThreeDShapeInfo&gt;"/>
  <p:tag name="PRESENTER_SHAPETEXTINFO" val="&lt;ShapeTextInfo&gt;&lt;TableIndex row=&quot;-1&quot; col=&quot;-1&quot;&gt;&lt;linesCount val=&quot;5&quot; /&gt;&lt;lineCharCount val=&quot;68&quot; /&gt;&lt;lineCharCount val=&quot;1&quot; /&gt;&lt;lineCharCount val=&quot;108&quot; /&gt;&lt;lineCharCount val=&quot;1&quot; /&gt;&lt;lineCharCount val=&quot;174&quot; /&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INFO" val="&lt;ThreeDShapeInfo&gt;&lt;uuid val=&quot;{5f5c8ef1-18b4-4c3c-82ab-10b3bbd065ae}&quot; /&gt;&lt;isInvalidForFieldText val=&quot;0&quot; /&gt;&lt;Image&gt;&lt;filename val=&quot;E:\breeze\content\2372973515\4729695196-2\input\breezo\data\asimages\{5f5c8ef1-18b4-4c3c-82ab-10b3bbd065ae}.png&quot; /&gt;&lt;left val=&quot;932&quot; /&gt;&lt;top val=&quot;697&quot; /&gt;&lt;width val=&quot;11&quot; /&gt;&lt;height val=&quot;15&quot; /&gt;&lt;hasText val=&quot;1&quot; /&gt;&lt;/Image&gt;&lt;/ThreeDShapeInfo&gt;"/>
  <p:tag name="PRESENTER_SHAPETEXTINFO" val="&lt;ShapeTextInfo&gt;&lt;TableIndex row=&quot;-1&quot; col=&quot;-1&quot;&gt;&lt;linesCount val=&quot;1&quot; /&gt;&lt;lineCharCount val=&quot;1&quot; /&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55.xml><?xml version="1.0" encoding="utf-8"?>
<p:tagLst xmlns:a="http://schemas.openxmlformats.org/drawingml/2006/main" xmlns:r="http://schemas.openxmlformats.org/officeDocument/2006/relationships" xmlns:p="http://schemas.openxmlformats.org/presentationml/2006/main">
  <p:tag name="PRESENTER_SHAPEINFO" val="&lt;ThreeDShapeInfo&gt;&lt;uuid val=&quot;{56564d44-7f75-40c1-8381-5c022a818904}&quot; /&gt;&lt;isInvalidForFieldText val=&quot;0&quot; /&gt;&lt;Image&gt;&lt;filename val=&quot;E:\breeze\content\2372973515\4729695196-2\input\breezo\data\asimages\{56564d44-7f75-40c1-8381-5c022a818904}.png&quot; /&gt;&lt;left val=&quot;276&quot; /&gt;&lt;top val=&quot;96&quot; /&gt;&lt;width val=&quot;412&quot; /&gt;&lt;height val=&quot;37&quot; /&gt;&lt;hasText val=&quot;1&quot; /&gt;&lt;/Image&gt;&lt;/ThreeDShapeInfo&gt;"/>
  <p:tag name="PRESENTER_SHAPETEXTINFO" val="&lt;ShapeTextInfo&gt;&lt;TableIndex row=&quot;-1&quot; col=&quot;-1&quot;&gt;&lt;linesCount val=&quot;1&quot; /&gt;&lt;lineCharCount val=&quot;22&quot; /&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INFO" val="&lt;ThreeDShapeInfo&gt;&lt;uuid val=&quot;{dbb2813d-b91e-420c-a5ea-1ab42dce7064}&quot; /&gt;&lt;isInvalidForFieldText val=&quot;0&quot; /&gt;&lt;Image&gt;&lt;filename val=&quot;E:\breeze\content\2372973515\4729695196-2\input\breezo\data\asimages\{dbb2813d-b91e-420c-a5ea-1ab42dce7064}.png&quot; /&gt;&lt;left val=&quot;922&quot; /&gt;&lt;top val=&quot;697&quot; /&gt;&lt;width val=&quot;20&quot; /&gt;&lt;height val=&quot;15&quot; /&gt;&lt;hasText val=&quot;1&quot; /&gt;&lt;/Image&gt;&lt;/ThreeDShapeInfo&gt;"/>
  <p:tag name="PRESENTER_SHAPETEXTINFO" val="&lt;ShapeTextInfo&gt;&lt;TableIndex row=&quot;-1&quot; col=&quot;-1&quot;&gt;&lt;linesCount val=&quot;1&quot; /&gt;&lt;lineCharCount val=&quot;2&quot; /&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INFO" val="&lt;ThreeDShapeInfo&gt;&lt;uuid val=&quot;{3676938c-728d-422c-aba7-a1ebe9d8ab37}&quot; /&gt;&lt;isInvalidForFieldText val=&quot;0&quot; /&gt;&lt;Image&gt;&lt;filename val=&quot;E:\breeze\content\2372973515\4729695196-2\input\breezo\data\asimages\{3676938c-728d-422c-aba7-a1ebe9d8ab37}.png&quot; /&gt;&lt;left val=&quot;58&quot; /&gt;&lt;top val=&quot;218&quot; /&gt;&lt;width val=&quot;839&quot; /&gt;&lt;height val=&quot;287&quot; /&gt;&lt;hasText val=&quot;1&quot; /&gt;&lt;/Image&gt;&lt;/ThreeDShapeInfo&gt;"/>
  <p:tag name="PRESENTER_SHAPETEXTINFO" val="&lt;ShapeTextInfo&gt;&lt;TableIndex row=&quot;-1&quot; col=&quot;-1&quot;&gt;&lt;linesCount val=&quot;5&quot; /&gt;&lt;lineCharCount val=&quot;103&quot; /&gt;&lt;lineCharCount val=&quot;1&quot; /&gt;&lt;lineCharCount val=&quot;166&quot; /&gt;&lt;lineCharCount val=&quot;1&quot; /&gt;&lt;lineCharCount val=&quot;151&quot; /&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59.xml><?xml version="1.0" encoding="utf-8"?>
<p:tagLst xmlns:a="http://schemas.openxmlformats.org/drawingml/2006/main" xmlns:r="http://schemas.openxmlformats.org/officeDocument/2006/relationships" xmlns:p="http://schemas.openxmlformats.org/presentationml/2006/main">
  <p:tag name="PRESENTER_SHAPEINFO" val="&lt;ThreeDShapeInfo&gt;&lt;uuid val=&quot;{0258d732-8bf4-4b35-92f3-6f591222989d}&quot; /&gt;&lt;isInvalidForFieldText val=&quot;0&quot; /&gt;&lt;Image&gt;&lt;filename val=&quot;E:\breeze\content\2372973515\4729695196-2\input\breezo\data\asimages\{0258d732-8bf4-4b35-92f3-6f591222989d}.png&quot; /&gt;&lt;left val=&quot;157&quot; /&gt;&lt;top val=&quot;96&quot; /&gt;&lt;width val=&quot;646&quot; /&gt;&lt;height val=&quot;37&quot; /&gt;&lt;hasText val=&quot;1&quot; /&gt;&lt;/Image&gt;&lt;/ThreeDShapeInfo&gt;"/>
  <p:tag name="PRESENTER_SHAPETEXTINFO" val="&lt;ShapeTextInfo&gt;&lt;TableIndex row=&quot;-1&quot; col=&quot;-1&quot;&gt;&lt;linesCount val=&quot;1&quot; /&gt;&lt;lineCharCount val=&quot;35&quot; /&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INFO" val="&lt;ThreeDShapeInfo&gt;&lt;uuid val=&quot;{230ee94e-c05b-4622-8ffe-b7133f121fc0}&quot; /&gt;&lt;isInvalidForFieldText val=&quot;0&quot; /&gt;&lt;Image&gt;&lt;filename val=&quot;E:\breeze\content\2372973515\4729695196-2\input\breezo\data\asimages\{230ee94e-c05b-4622-8ffe-b7133f121fc0}.png&quot; /&gt;&lt;left val=&quot;922&quot; /&gt;&lt;top val=&quot;697&quot; /&gt;&lt;width val=&quot;20&quot; /&gt;&lt;height val=&quot;15&quot; /&gt;&lt;hasText val=&quot;1&quot; /&gt;&lt;/Image&gt;&lt;/ThreeDShapeInfo&gt;"/>
  <p:tag name="PRESENTER_SHAPETEXTINFO" val="&lt;ShapeTextInfo&gt;&lt;TableIndex row=&quot;-1&quot; col=&quot;-1&quot;&gt;&lt;linesCount val=&quot;1&quot; /&gt;&lt;lineCharCount val=&quot;2&quot; /&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INFO" val="&lt;ThreeDShapeInfo&gt;&lt;uuid val=&quot;{0f4e33a2-c8f9-47e0-8e9c-288915a0d167}&quot; /&gt;&lt;isInvalidForFieldText val=&quot;0&quot; /&gt;&lt;Image&gt;&lt;filename val=&quot;E:\breeze\content\2372973515\4729695196-2\input\breezo\data\asimages\{0f4e33a2-c8f9-47e0-8e9c-288915a0d167}.png&quot; /&gt;&lt;left val=&quot;58&quot; /&gt;&lt;top val=&quot;356&quot; /&gt;&lt;width val=&quot;838&quot; /&gt;&lt;height val=&quot;295&quot; /&gt;&lt;hasText val=&quot;1&quot; /&gt;&lt;/Image&gt;&lt;/ThreeDShapeInfo&gt;"/>
  <p:tag name="PRESENTER_SHAPETEXTINFO" val="&lt;ShapeTextInfo&gt;&lt;TableIndex row=&quot;-1&quot; col=&quot;-1&quot;&gt;&lt;linesCount val=&quot;3&quot; /&gt;&lt;lineCharCount val=&quot;121&quot; /&gt;&lt;lineCharCount val=&quot;274&quot; /&gt;&lt;lineCharCount val=&quot;231&quot; /&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INFO" val="&lt;ThreeDShapeInfo&gt;&lt;uuid val=&quot;{91d7185e-bcc0-48e6-9249-2285ddfba473}&quot; /&gt;&lt;isInvalidForFieldText val=&quot;0&quot; /&gt;&lt;Image&gt;&lt;filename val=&quot;E:\breeze\content\2372973515\4729695196-2\input\breezo\data\asimages\{91d7185e-bcc0-48e6-9249-2285ddfba473}.png&quot; /&gt;&lt;left val=&quot;58&quot; /&gt;&lt;top val=&quot;208&quot; /&gt;&lt;width val=&quot;784&quot; /&gt;&lt;height val=&quot;123&quot; /&gt;&lt;hasText val=&quot;1&quot; /&gt;&lt;/Image&gt;&lt;/ThreeDShapeInfo&gt;"/>
  <p:tag name="PRESENTER_SHAPETEXTINFO" val="&lt;ShapeTextInfo&gt;&lt;TableIndex row=&quot;-1&quot; col=&quot;-1&quot;&gt;&lt;linesCount val=&quot;1&quot; /&gt;&lt;lineCharCount val=&quot;243&quot; /&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64.xml><?xml version="1.0" encoding="utf-8"?>
<p:tagLst xmlns:a="http://schemas.openxmlformats.org/drawingml/2006/main" xmlns:r="http://schemas.openxmlformats.org/officeDocument/2006/relationships" xmlns:p="http://schemas.openxmlformats.org/presentationml/2006/main">
  <p:tag name="PRESENTER_SHAPEINFO" val="&lt;ThreeDShapeInfo&gt;&lt;uuid val=&quot;{7bb2fd9a-d985-4286-929a-4fdf89958f5a}&quot; /&gt;&lt;isInvalidForFieldText val=&quot;0&quot; /&gt;&lt;Image&gt;&lt;filename val=&quot;E:\breeze\content\2372973515\4729695196-2\input\breezo\data\asimages\{7bb2fd9a-d985-4286-929a-4fdf89958f5a}.png&quot; /&gt;&lt;left val=&quot;82&quot; /&gt;&lt;top val=&quot;96&quot; /&gt;&lt;width val=&quot;805&quot; /&gt;&lt;height val=&quot;37&quot; /&gt;&lt;hasText val=&quot;1&quot; /&gt;&lt;/Image&gt;&lt;/ThreeDShapeInfo&gt;"/>
  <p:tag name="PRESENTER_SHAPETEXTINFO" val="&lt;ShapeTextInfo&gt;&lt;TableIndex row=&quot;-1&quot; col=&quot;-1&quot;&gt;&lt;linesCount val=&quot;1&quot; /&gt;&lt;lineCharCount val=&quot;44&quot; /&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d6234d-e9b5-4e37-a216-ac03dfbdecf6}&quot; /&gt;&lt;isInvalidForFieldText val=&quot;0&quot; /&gt;&lt;Image&gt;&lt;filename val=&quot;E:\breeze\content\2372973515\4729695196-2\input\breezo\data\asimages\{f0d6234d-e9b5-4e37-a216-ac03dfbdecf6}.png&quot; /&gt;&lt;left val=&quot;922&quot; /&gt;&lt;top val=&quot;697&quot; /&gt;&lt;width val=&quot;20&quot; /&gt;&lt;height val=&quot;15&quot; /&gt;&lt;hasText val=&quot;1&quot; /&gt;&lt;/Image&gt;&lt;/ThreeDShapeInfo&gt;"/>
  <p:tag name="PRESENTER_SHAPETEXTINFO" val="&lt;ShapeTextInfo&gt;&lt;TableIndex row=&quot;-1&quot; col=&quot;-1&quot;&gt;&lt;linesCount val=&quot;1&quot; /&gt;&lt;lineCharCount val=&quot;2&quot; /&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INFO" val="&lt;ThreeDShapeInfo&gt;&lt;uuid val=&quot;{286ba5b8-f1c3-4228-9322-7f690e521c39}&quot; /&gt;&lt;isInvalidForFieldText val=&quot;0&quot; /&gt;&lt;Image&gt;&lt;filename val=&quot;E:\breeze\content\2372973515\4729695196-2\input\breezo\data\asimages\{286ba5b8-f1c3-4228-9322-7f690e521c39}.png&quot; /&gt;&lt;left val=&quot;60&quot; /&gt;&lt;top val=&quot;207&quot; /&gt;&lt;width val=&quot;828&quot; /&gt;&lt;height val=&quot;324&quot; /&gt;&lt;hasText val=&quot;1&quot; /&gt;&lt;/Image&gt;&lt;/ThreeDShapeInfo&gt;"/>
  <p:tag name="PRESENTER_SHAPETEXTINFO" val="&lt;ShapeTextInfo&gt;&lt;TableIndex row=&quot;-1&quot; col=&quot;-1&quot;&gt;&lt;linesCount val=&quot;3&quot; /&gt;&lt;lineCharCount val=&quot;246&quot; /&gt;&lt;lineCharCount val=&quot;1&quot; /&gt;&lt;lineCharCount val=&quot;375&quot; /&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68.xml><?xml version="1.0" encoding="utf-8"?>
<p:tagLst xmlns:a="http://schemas.openxmlformats.org/drawingml/2006/main" xmlns:r="http://schemas.openxmlformats.org/officeDocument/2006/relationships" xmlns:p="http://schemas.openxmlformats.org/presentationml/2006/main">
  <p:tag name="PRESENTER_SHAPEINFO" val="&lt;ThreeDShapeInfo&gt;&lt;uuid val=&quot;{51894504-5943-4897-be9b-6c95d28189ac}&quot; /&gt;&lt;isInvalidForFieldText val=&quot;0&quot; /&gt;&lt;Image&gt;&lt;filename val=&quot;E:\breeze\content\2372973515\4729695196-2\input\breezo\data\asimages\{51894504-5943-4897-be9b-6c95d28189ac}.png&quot; /&gt;&lt;left val=&quot;239&quot; /&gt;&lt;top val=&quot;96&quot; /&gt;&lt;width val=&quot;483&quot; /&gt;&lt;height val=&quot;37&quot; /&gt;&lt;hasText val=&quot;1&quot; /&gt;&lt;/Image&gt;&lt;/ThreeDShapeInfo&gt;"/>
  <p:tag name="PRESENTER_SHAPETEXTINFO" val="&lt;ShapeTextInfo&gt;&lt;TableIndex row=&quot;-1&quot; col=&quot;-1&quot;&gt;&lt;linesCount val=&quot;1&quot; /&gt;&lt;lineCharCount val=&quot;25&quot; /&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INFO" val="&lt;ThreeDShapeInfo&gt;&lt;uuid val=&quot;{e8f43d82-ec94-4325-9264-f71bce508e35}&quot; /&gt;&lt;isInvalidForFieldText val=&quot;0&quot; /&gt;&lt;Image&gt;&lt;filename val=&quot;E:\breeze\content\2372973515\4729695196-2\input\breezo\data\asimages\{e8f43d82-ec94-4325-9264-f71bce508e35}.png&quot; /&gt;&lt;left val=&quot;58&quot; /&gt;&lt;top val=&quot;226&quot; /&gt;&lt;width val=&quot;840&quot; /&gt;&lt;height val=&quot;185&quot; /&gt;&lt;hasText val=&quot;1&quot; /&gt;&lt;/Image&gt;&lt;/ThreeDShapeInfo&gt;"/>
  <p:tag name="PRESENTER_SHAPETEXTINFO" val="&lt;ShapeTextInfo&gt;&lt;TableIndex row=&quot;-1&quot; col=&quot;-1&quot;&gt;&lt;linesCount val=&quot;3&quot; /&gt;&lt;lineCharCount val=&quot;91&quot; /&gt;&lt;lineCharCount val=&quot;1&quot; /&gt;&lt;lineCharCount val=&quot;182&quot; /&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INFO" val="&lt;ThreeDShapeInfo&gt;&lt;uuid val=&quot;{78908976-61d4-4a92-8f90-35d6fab91671}&quot; /&gt;&lt;isInvalidForFieldText val=&quot;0&quot; /&gt;&lt;Image&gt;&lt;filename val=&quot;E:\breeze\content\2372973515\4729695196-2\input\breezo\data\asimages\{78908976-61d4-4a92-8f90-35d6fab91671}.png&quot; /&gt;&lt;left val=&quot;922&quot; /&gt;&lt;top val=&quot;697&quot; /&gt;&lt;width val=&quot;20&quot; /&gt;&lt;height val=&quot;15&quot; /&gt;&lt;hasText val=&quot;1&quot; /&gt;&lt;/Image&gt;&lt;/ThreeDShapeInfo&gt;"/>
  <p:tag name="PRESENTER_SHAPETEXTINFO" val="&lt;ShapeTextInfo&gt;&lt;TableIndex row=&quot;-1&quot; col=&quot;-1&quot;&gt;&lt;linesCount val=&quot;1&quot; /&gt;&lt;lineCharCount val=&quot;2&quot; /&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72.xml><?xml version="1.0" encoding="utf-8"?>
<p:tagLst xmlns:a="http://schemas.openxmlformats.org/drawingml/2006/main" xmlns:r="http://schemas.openxmlformats.org/officeDocument/2006/relationships" xmlns:p="http://schemas.openxmlformats.org/presentationml/2006/main">
  <p:tag name="PRESENTER_SHAPEINFO" val="&lt;ThreeDShapeInfo&gt;&lt;uuid val=&quot;{39ce34f0-2512-4340-a720-4c9632a8fbeb}&quot; /&gt;&lt;isInvalidForFieldText val=&quot;0&quot; /&gt;&lt;Image&gt;&lt;filename val=&quot;E:\breeze\content\2372973515\4729695196-2\input\breezo\data\asimages\{39ce34f0-2512-4340-a720-4c9632a8fbeb}.png&quot; /&gt;&lt;left val=&quot;370&quot; /&gt;&lt;top val=&quot;97&quot; /&gt;&lt;width val=&quot;217&quot; /&gt;&lt;height val=&quot;36&quot; /&gt;&lt;hasText val=&quot;1&quot; /&gt;&lt;/Image&gt;&lt;/ThreeDShapeInfo&gt;"/>
  <p:tag name="PRESENTER_SHAPETEXTINFO" val="&lt;ShapeTextInfo&gt;&lt;TableIndex row=&quot;-1&quot; col=&quot;-1&quot;&gt;&lt;linesCount val=&quot;1&quot; /&gt;&lt;lineCharCount val=&quot;11&quot; /&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INFO" val="&lt;ThreeDShapeInfo&gt;&lt;uuid val=&quot;{e94c4cc3-7db4-4fb0-9805-81113ce2a796}&quot; /&gt;&lt;isInvalidForFieldText val=&quot;0&quot; /&gt;&lt;Image&gt;&lt;filename val=&quot;E:\breeze\content\2372973515\4729695196-2\input\breezo\data\asimages\{e94c4cc3-7db4-4fb0-9805-81113ce2a796}.png&quot; /&gt;&lt;left val=&quot;922&quot; /&gt;&lt;top val=&quot;697&quot; /&gt;&lt;width val=&quot;20&quot; /&gt;&lt;height val=&quot;15&quot; /&gt;&lt;hasText val=&quot;1&quot; /&gt;&lt;/Image&gt;&lt;/ThreeDShapeInfo&gt;"/>
  <p:tag name="PRESENTER_SHAPETEXTINFO" val="&lt;ShapeTextInfo&gt;&lt;TableIndex row=&quot;-1&quot; col=&quot;-1&quot;&gt;&lt;linesCount val=&quot;1&quot; /&gt;&lt;lineCharCount val=&quot;2&quot; /&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INFO" val="&lt;ThreeDShapeInfo&gt;&lt;uuid val=&quot;{dfa5cb0a-cbdf-4320-86f2-67e636620740}&quot; /&gt;&lt;isInvalidForFieldText val=&quot;0&quot; /&gt;&lt;Image&gt;&lt;filename val=&quot;E:\breeze\content\2372973515\4729695196-2\input\breezo\data\asimages\{dfa5cb0a-cbdf-4320-86f2-67e636620740}.png&quot; /&gt;&lt;left val=&quot;58&quot; /&gt;&lt;top val=&quot;208&quot; /&gt;&lt;width val=&quot;819&quot; /&gt;&lt;height val=&quot;347&quot; /&gt;&lt;hasText val=&quot;1&quot; /&gt;&lt;/Image&gt;&lt;/ThreeDShapeInfo&gt;"/>
  <p:tag name="PRESENTER_SHAPETEXTINFO" val="&lt;ShapeTextInfo&gt;&lt;TableIndex row=&quot;-1&quot; col=&quot;-1&quot;&gt;&lt;linesCount val=&quot;5&quot; /&gt;&lt;lineCharCount val=&quot;166&quot; /&gt;&lt;lineCharCount val=&quot;1&quot; /&gt;&lt;lineCharCount val=&quot;159&quot; /&gt;&lt;lineCharCount val=&quot;1&quot; /&gt;&lt;lineCharCount val=&quot;124&quot; /&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76.xml><?xml version="1.0" encoding="utf-8"?>
<p:tagLst xmlns:a="http://schemas.openxmlformats.org/drawingml/2006/main" xmlns:r="http://schemas.openxmlformats.org/officeDocument/2006/relationships" xmlns:p="http://schemas.openxmlformats.org/presentationml/2006/main">
  <p:tag name="PRESENTER_SHAPEINFO" val="&lt;ThreeDShapeInfo&gt;&lt;uuid val=&quot;{94da03eb-3250-41de-803c-cd4eee0e987a}&quot; /&gt;&lt;isInvalidForFieldText val=&quot;0&quot; /&gt;&lt;Image&gt;&lt;filename val=&quot;E:\breeze\content\2372973515\4729695196-2\input\breezo\data\asimages\{94da03eb-3250-41de-803c-cd4eee0e987a}.png&quot; /&gt;&lt;left val=&quot;338&quot; /&gt;&lt;top val=&quot;96&quot; /&gt;&lt;width val=&quot;284&quot; /&gt;&lt;height val=&quot;37&quot; /&gt;&lt;hasText val=&quot;1&quot; /&gt;&lt;/Image&gt;&lt;/ThreeDShapeInfo&gt;"/>
  <p:tag name="PRESENTER_SHAPETEXTINFO" val="&lt;ShapeTextInfo&gt;&lt;TableIndex row=&quot;-1&quot; col=&quot;-1&quot;&gt;&lt;linesCount val=&quot;1&quot; /&gt;&lt;lineCharCount val=&quot;15&quot; /&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INFO" val="&lt;ThreeDShapeInfo&gt;&lt;uuid val=&quot;{b06b798a-43e5-4279-8766-f313ac0c14f9}&quot; /&gt;&lt;isInvalidForFieldText val=&quot;0&quot; /&gt;&lt;Image&gt;&lt;filename val=&quot;E:\breeze\content\2372973515\4729695196-2\input\breezo\data\asimages\{b06b798a-43e5-4279-8766-f313ac0c14f9}.png&quot; /&gt;&lt;left val=&quot;922&quot; /&gt;&lt;top val=&quot;697&quot; /&gt;&lt;width val=&quot;20&quot; /&gt;&lt;height val=&quot;15&quot; /&gt;&lt;hasText val=&quot;1&quot; /&gt;&lt;/Image&gt;&lt;/ThreeDShapeInfo&gt;"/>
  <p:tag name="PRESENTER_SHAPETEXTINFO" val="&lt;ShapeTextInfo&gt;&lt;TableIndex row=&quot;-1&quot; col=&quot;-1&quot;&gt;&lt;linesCount val=&quot;1&quot; /&gt;&lt;lineCharCount val=&quot;2&quot; /&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INFO" val="&lt;ThreeDShapeInfo&gt;&lt;uuid val=&quot;{5f0d6b04-ab2e-4017-b62d-25a69408ff7e}&quot; /&gt;&lt;isInvalidForFieldText val=&quot;0&quot; /&gt;&lt;Image&gt;&lt;filename val=&quot;E:\breeze\content\2372973515\4729695196-2\input\breezo\data\asimages\{5f0d6b04-ab2e-4017-b62d-25a69408ff7e}.png&quot; /&gt;&lt;left val=&quot;61&quot; /&gt;&lt;top val=&quot;208&quot; /&gt;&lt;width val=&quot;814&quot; /&gt;&lt;height val=&quot;347&quot; /&gt;&lt;hasText val=&quot;1&quot; /&gt;&lt;/Image&gt;&lt;/ThreeDShapeInfo&gt;"/>
  <p:tag name="PRESENTER_SHAPETEXTINFO" val="&lt;ShapeTextInfo&gt;&lt;TableIndex row=&quot;-1&quot; col=&quot;-1&quot;&gt;&lt;linesCount val=&quot;5&quot; /&gt;&lt;lineCharCount val=&quot;94&quot; /&gt;&lt;lineCharCount val=&quot;1&quot; /&gt;&lt;lineCharCount val=&quot;152&quot; /&gt;&lt;lineCharCount val=&quot;1&quot; /&gt;&lt;lineCharCount val=&quot;160&quot; /&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SlideThumbPath val=&quot;SlideTemp.PNG&quot;/&gt;"/>
</p:tagLst>
</file>

<file path=ppt/tags/tag80.xml><?xml version="1.0" encoding="utf-8"?>
<p:tagLst xmlns:a="http://schemas.openxmlformats.org/drawingml/2006/main" xmlns:r="http://schemas.openxmlformats.org/officeDocument/2006/relationships" xmlns:p="http://schemas.openxmlformats.org/presentationml/2006/main">
  <p:tag name="PRESENTER_SHAPEINFO" val="&lt;ThreeDShapeInfo&gt;&lt;uuid val=&quot;{33db6055-f0b3-4017-b8c7-0c2199f674a2}&quot; /&gt;&lt;isInvalidForFieldText val=&quot;0&quot; /&gt;&lt;Image&gt;&lt;filename val=&quot;E:\breeze\content\2372973515\4729695196-2\input\breezo\data\asimages\{33db6055-f0b3-4017-b8c7-0c2199f674a2}.png&quot; /&gt;&lt;left val=&quot;338&quot; /&gt;&lt;top val=&quot;96&quot; /&gt;&lt;width val=&quot;284&quot; /&gt;&lt;height val=&quot;37&quot; /&gt;&lt;hasText val=&quot;1&quot; /&gt;&lt;/Image&gt;&lt;/ThreeDShapeInfo&gt;"/>
  <p:tag name="PRESENTER_SHAPETEXTINFO" val="&lt;ShapeTextInfo&gt;&lt;TableIndex row=&quot;-1&quot; col=&quot;-1&quot;&gt;&lt;linesCount val=&quot;1&quot; /&gt;&lt;lineCharCount val=&quot;14&quot; /&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INFO" val="&lt;ThreeDShapeInfo&gt;&lt;uuid val=&quot;{e52be576-eab5-43ad-8778-5d000f423565}&quot; /&gt;&lt;isInvalidForFieldText val=&quot;0&quot; /&gt;&lt;Image&gt;&lt;filename val=&quot;E:\breeze\content\2372973515\4729695196-2\input\breezo\data\asimages\{e52be576-eab5-43ad-8778-5d000f423565}.png&quot; /&gt;&lt;left val=&quot;59&quot; /&gt;&lt;top val=&quot;226&quot; /&gt;&lt;width val=&quot;662&quot; /&gt;&lt;height val=&quot;27&quot; /&gt;&lt;hasText val=&quot;1&quot; /&gt;&lt;/Image&gt;&lt;/ThreeDShapeInfo&gt;"/>
  <p:tag name="PRESENTER_SHAPETEXTINFO" val="&lt;ShapeTextInfo&gt;&lt;TableIndex row=&quot;-1&quot; col=&quot;-1&quot;&gt;&lt;linesCount val=&quot;1&quot; /&gt;&lt;lineCharCount val=&quot;58&quot; /&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INFO" val="&lt;ThreeDShapeInfo&gt;&lt;uuid val=&quot;{92f45aed-a21a-4a5e-ac3f-a782b46f3730}&quot; /&gt;&lt;isInvalidForFieldText val=&quot;0&quot; /&gt;&lt;Image&gt;&lt;filename val=&quot;E:\breeze\content\2372973515\4729695196-2\input\breezo\data\asimages\{92f45aed-a21a-4a5e-ac3f-a782b46f3730}.png&quot; /&gt;&lt;left val=&quot;922&quot; /&gt;&lt;top val=&quot;697&quot; /&gt;&lt;width val=&quot;20&quot; /&gt;&lt;height val=&quot;15&quot; /&gt;&lt;hasText val=&quot;1&quot; /&gt;&lt;/Image&gt;&lt;/ThreeDShapeInfo&gt;"/>
  <p:tag name="PRESENTER_SHAPETEXTINFO" val="&lt;ShapeTextInfo&gt;&lt;TableIndex row=&quot;-1&quot; col=&quot;-1&quot;&gt;&lt;linesCount val=&quot;1&quot; /&gt;&lt;lineCharCount val=&quot;2&quot; /&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INFO" val="&lt;ThreeDShapeInfo&gt;&lt;uuid val=&quot;{134b3756-bedc-444a-88d2-d4c5229808ac}&quot; /&gt;&lt;isInvalidForFieldText val=&quot;0&quot; /&gt;&lt;Image&gt;&lt;filename val=&quot;E:\breeze\content\2372973515\4729695196-2\input\breezo\data\asimages\{134b3756-bedc-444a-88d2-d4c5229808ac}.png&quot; /&gt;&lt;left val=&quot;58&quot; /&gt;&lt;top val=&quot;294&quot; /&gt;&lt;width val=&quot;658&quot; /&gt;&lt;height val=&quot;179&quot; /&gt;&lt;hasText val=&quot;1&quot; /&gt;&lt;/Image&gt;&lt;/ThreeDShapeInfo&gt;"/>
  <p:tag name="PRESENTER_SHAPETEXTINFO" val="&lt;ShapeTextInfo&gt;&lt;TableIndex row=&quot;-1&quot; col=&quot;-1&quot;&gt;&lt;linesCount val=&quot;5&quot; /&gt;&lt;lineCharCount val=&quot;15&quot; /&gt;&lt;lineCharCount val=&quot;59&quot; /&gt;&lt;lineCharCount val=&quot;28&quot; /&gt;&lt;lineCharCount val=&quot;27&quot; /&gt;&lt;lineCharCount val=&quot;24&quot; /&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ARTICULATE_HIDE_SLIDE" val="0"/>
  <p:tag name="ARTICULATE_LOCK_SLIDE" val="0"/>
  <p:tag name="ARTICULATE_NAV_LEVEL" val="1"/>
  <p:tag name="ARTICULATE_PLAYER_CONTROL_NEXT" val="True"/>
  <p:tag name="ARTICULATE_PLAYER_CONTROL_PREVIOUS" val="True"/>
  <p:tag name="ARTICULATE_SLIDE_PAUSE" val="1"/>
  <p:tag name="ARTICULATE_SLIDE_PRESENTER_GUID" val="dcf31de8-c63a-45fa-8e92-a23f3dd0511b"/>
  <p:tag name="ARTICULATE_SLIDE_THUMBNAIL_REFRESH" val="1"/>
  <p:tag name="ARTICULATE_USED_LAYOUT" val="1"/>
  <p:tag name="AUDIO_ID" val="256"/>
  <p:tag name="HTML_SHAPEINFO" val="&lt;SlideThumbPath val=&quot;SlideTemp.PNG&quot;/&gt;"/>
</p:tagLst>
</file>

<file path=ppt/tags/tag85.xml><?xml version="1.0" encoding="utf-8"?>
<p:tagLst xmlns:a="http://schemas.openxmlformats.org/drawingml/2006/main" xmlns:r="http://schemas.openxmlformats.org/officeDocument/2006/relationships" xmlns:p="http://schemas.openxmlformats.org/presentationml/2006/main">
  <p:tag name="PRESENTER_SHAPEINFO" val="&lt;ThreeDShapeInfo&gt;&lt;uuid val=&quot;{6277fa5a-9ff1-46f8-b719-77212b9dcb02}&quot; /&gt;&lt;isInvalidForFieldText val=&quot;0&quot; /&gt;&lt;Image&gt;&lt;filename val=&quot;E:\breeze\content\2372973515\4729695196-2\input\breezo\data\asimages\{6277fa5a-9ff1-46f8-b719-77212b9dcb02}.png&quot; /&gt;&lt;left val=&quot;267&quot; /&gt;&lt;top val=&quot;330&quot; /&gt;&lt;width val=&quot;427&quot; /&gt;&lt;height val=&quot;77&quot; /&gt;&lt;hasText val=&quot;1&quot; /&gt;&lt;/Image&gt;&lt;/ThreeDShapeInfo&gt;"/>
  <p:tag name="PRESENTER_SHAPETEXTINFO" val="&lt;ShapeTextInfo&gt;&lt;TableIndex row=&quot;-1&quot; col=&quot;-1&quot;&gt;&lt;linesCount val=&quot;1&quot; /&gt;&lt;lineCharCount val=&quot;9&quot; /&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INFO" val="&lt;ThreeDShapeInfo&gt;&lt;uuid val=&quot;{63750e91-157b-486b-bb67-b0f8ec75db77}&quot; /&gt;&lt;isInvalidForFieldText val=&quot;0&quot; /&gt;&lt;Image&gt;&lt;filename val=&quot;E:\breeze\content\2372973515\4729695196-2\input\breezo\data\asimages\{63750e91-157b-486b-bb67-b0f8ec75db77}.png&quot; /&gt;&lt;left val=&quot;922&quot; /&gt;&lt;top val=&quot;697&quot; /&gt;&lt;width val=&quot;20&quot; /&gt;&lt;height val=&quot;15&quot; /&gt;&lt;hasText val=&quot;1&quot; /&gt;&lt;/Image&gt;&lt;/ThreeDShapeInfo&gt;"/>
  <p:tag name="PRESENTER_SHAPETEXTINFO" val="&lt;ShapeTextInfo&gt;&lt;TableIndex row=&quot;-1&quot; col=&quot;-1&quot;&gt;&lt;linesCount val=&quot;1&quot; /&gt;&lt;lineCharCount val=&quot;2&quot; /&gt;&lt;/TableIndex&gt;&lt;/ShapeTextInfo&gt;"/>
</p:tagLst>
</file>

<file path=ppt/theme/theme1.xml><?xml version="1.0" encoding="utf-8"?>
<a:theme xmlns:a="http://schemas.openxmlformats.org/drawingml/2006/main" name="Theme1">
  <a:themeElements>
    <a:clrScheme name="VA">
      <a:dk1>
        <a:sysClr val="windowText" lastClr="000000"/>
      </a:dk1>
      <a:lt1>
        <a:sysClr val="window" lastClr="FFFFFF"/>
      </a:lt1>
      <a:dk2>
        <a:srgbClr val="1F497D"/>
      </a:dk2>
      <a:lt2>
        <a:srgbClr val="EEECE1"/>
      </a:lt2>
      <a:accent1>
        <a:srgbClr val="BBE2F2"/>
      </a:accent1>
      <a:accent2>
        <a:srgbClr val="A6192E"/>
      </a:accent2>
      <a:accent3>
        <a:srgbClr val="8A8D4A"/>
      </a:accent3>
      <a:accent4>
        <a:srgbClr val="1D1D1D"/>
      </a:accent4>
      <a:accent5>
        <a:srgbClr val="717171"/>
      </a:accent5>
      <a:accent6>
        <a:srgbClr val="F79646"/>
      </a:accent6>
      <a:hlink>
        <a:srgbClr val="0000FF"/>
      </a:hlink>
      <a:folHlink>
        <a:srgbClr val="800080"/>
      </a:folHlink>
    </a:clrScheme>
    <a:fontScheme name="VA">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9FC0AEF8-C6BF-43AC-8BD0-14029F2678DF}" vid="{29BFCE2A-0B9B-4BDB-A956-4EB6AF2CB7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anose="020F05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DB869E3E810774AA7B17315F3F50FE5" ma:contentTypeVersion="3" ma:contentTypeDescription="Create a new document." ma:contentTypeScope="" ma:versionID="3506bbe711662e7f510a98fd483a111e">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35E050F-F6DD-446A-BC54-722BE857956D}">
  <ds:schemaRefs>
    <ds:schemaRef ds:uri="http://purl.org/dc/terms/"/>
    <ds:schemaRef ds:uri="http://schemas.openxmlformats.org/package/2006/metadata/core-properties"/>
    <ds:schemaRef ds:uri="http://purl.org/dc/dcmitype/"/>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94567239-2D12-4DA4-ACBD-83B3EAAAF41E}">
  <ds:schemaRefs>
    <ds:schemaRef ds:uri="http://schemas.microsoft.com/sharepoint/v3/contenttype/forms"/>
  </ds:schemaRefs>
</ds:datastoreItem>
</file>

<file path=customXml/itemProps3.xml><?xml version="1.0" encoding="utf-8"?>
<ds:datastoreItem xmlns:ds="http://schemas.openxmlformats.org/officeDocument/2006/customXml" ds:itemID="{2420958C-FF78-4199-8684-26A589F097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emplate>Theme1</Template>
  <TotalTime>9150</TotalTime>
  <Words>5243</Words>
  <Application>Microsoft Office PowerPoint</Application>
  <PresentationFormat>On-screen Show (4:3)</PresentationFormat>
  <Paragraphs>405</Paragraphs>
  <Slides>42</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Bitter</vt:lpstr>
      <vt:lpstr>Calibri</vt:lpstr>
      <vt:lpstr>Symbol</vt:lpstr>
      <vt:lpstr>Times New Roman</vt:lpstr>
      <vt:lpstr>Wingdings</vt:lpstr>
      <vt:lpstr>Theme1</vt:lpstr>
      <vt:lpstr>Reviewing National Guard and Reserve Claims for Proper Claims Processing</vt:lpstr>
      <vt:lpstr>Objectives</vt:lpstr>
      <vt:lpstr>References</vt:lpstr>
      <vt:lpstr>References Continued</vt:lpstr>
      <vt:lpstr>COMPONENTS OF THE UNITED STATES MILITARY</vt:lpstr>
      <vt:lpstr>Components of the Military: Active Duty    </vt:lpstr>
      <vt:lpstr>Components of the Military: Reserve Component</vt:lpstr>
      <vt:lpstr>Reserves</vt:lpstr>
      <vt:lpstr>Reserve Component</vt:lpstr>
      <vt:lpstr>Definition</vt:lpstr>
      <vt:lpstr>Types of Qualifying Service</vt:lpstr>
      <vt:lpstr>National Guard and Reserve Service</vt:lpstr>
      <vt:lpstr>ACTIVE DUTY FOR TRAINING</vt:lpstr>
      <vt:lpstr>INACTIVE DUTY TRAINING</vt:lpstr>
      <vt:lpstr>In-service Injury</vt:lpstr>
      <vt:lpstr>Academy Attendees</vt:lpstr>
      <vt:lpstr> 3 Different Types of Guard/ Reserve Assignments</vt:lpstr>
      <vt:lpstr> 3 Different Types of Guard/Reserve Assignments</vt:lpstr>
      <vt:lpstr>3 Different Types of Guard/ Reserve Assignments</vt:lpstr>
      <vt:lpstr>What if there’s no DD 214??</vt:lpstr>
      <vt:lpstr>PowerPoint Presentation</vt:lpstr>
      <vt:lpstr>PowerPoint Presentation</vt:lpstr>
      <vt:lpstr>PowerPoint Presentation</vt:lpstr>
      <vt:lpstr>Line of Duty Determinations </vt:lpstr>
      <vt:lpstr>Line of Duty Continued</vt:lpstr>
      <vt:lpstr>DD 261</vt:lpstr>
      <vt:lpstr>AGR Review Findings  </vt:lpstr>
      <vt:lpstr>AGR Review Findings</vt:lpstr>
      <vt:lpstr>AGR Review Findings</vt:lpstr>
      <vt:lpstr>Hearing Loss and/or Tinnitus Claims</vt:lpstr>
      <vt:lpstr>Example of NG/Reserve Hearing Loss Opinion Request</vt:lpstr>
      <vt:lpstr> SC Based on Multiple Periods of ADT or IADT</vt:lpstr>
      <vt:lpstr>Identifying the Period of Service as Active </vt:lpstr>
      <vt:lpstr>Presumption of Soundness </vt:lpstr>
      <vt:lpstr>Aggravation</vt:lpstr>
      <vt:lpstr>Presumptive SC </vt:lpstr>
      <vt:lpstr>Presumptive SC</vt:lpstr>
      <vt:lpstr>EXAMPLE</vt:lpstr>
      <vt:lpstr>QUESTION</vt:lpstr>
      <vt:lpstr>PowerPoint Presentation</vt:lpstr>
      <vt:lpstr>PowerPoint Presentation</vt:lpstr>
      <vt:lpstr>Questions??</vt:lpstr>
    </vt:vector>
  </TitlesOfParts>
  <Company>Veterans Benefits Administration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Connection for National Guard and Reserves PowerPoint Presentation</dc:title>
  <dc:subject>RVSR</dc:subject>
  <dc:creator>Department of Veterans Affairs, Veterans Benefits Administration, Compensation Service, STAFF</dc:creator>
  <cp:keywords>national guard, reserve, ADT, IADT, active duty, training, veteran, line of duty, LOD, NG</cp:keywords>
  <dc:description>This lesson provides RVSRs with a comprehensive understanding of rating claims for disabilities resulting from National Guard and/or Reserve service.</dc:description>
  <cp:lastModifiedBy>Pollock, John, (VBABOI)</cp:lastModifiedBy>
  <cp:revision>483</cp:revision>
  <dcterms:created xsi:type="dcterms:W3CDTF">2014-04-30T02:32:11Z</dcterms:created>
  <dcterms:modified xsi:type="dcterms:W3CDTF">2025-08-14T20:25:36Z</dcterms:modified>
  <cp:category>NTC Curriculum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C99A1101-545A-4F06-B9B7-341CBA93A72A</vt:lpwstr>
  </property>
  <property fmtid="{D5CDD505-2E9C-101B-9397-08002B2CF9AE}" pid="3" name="ArticulatePath">
    <vt:lpwstr>VSR RVSR Lay Evidence</vt:lpwstr>
  </property>
  <property fmtid="{D5CDD505-2E9C-101B-9397-08002B2CF9AE}" pid="4" name="ArticulateProjectFull">
    <vt:lpwstr>C:\Users\Lynne\Documents\Appeals\VSR RVSR Lay Evidence Final.ppta</vt:lpwstr>
  </property>
  <property fmtid="{D5CDD505-2E9C-101B-9397-08002B2CF9AE}" pid="5" name="ArticulateProjectVersion">
    <vt:lpwstr>7</vt:lpwstr>
  </property>
  <property fmtid="{D5CDD505-2E9C-101B-9397-08002B2CF9AE}" pid="6" name="ArticulateUseProject">
    <vt:lpwstr>1</vt:lpwstr>
  </property>
  <property fmtid="{D5CDD505-2E9C-101B-9397-08002B2CF9AE}" pid="7" name="ContentTypeId">
    <vt:lpwstr>0x0101003DB869E3E810774AA7B17315F3F50FE5</vt:lpwstr>
  </property>
  <property fmtid="{D5CDD505-2E9C-101B-9397-08002B2CF9AE}" pid="8" name="Language">
    <vt:lpwstr>en</vt:lpwstr>
  </property>
  <property fmtid="{D5CDD505-2E9C-101B-9397-08002B2CF9AE}" pid="9" name="Type">
    <vt:lpwstr>Presentation</vt:lpwstr>
  </property>
</Properties>
</file>