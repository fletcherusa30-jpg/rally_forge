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2"/>
  </p:notesMasterIdLst>
  <p:sldIdLst>
    <p:sldId id="1405" r:id="rId5"/>
    <p:sldId id="1417" r:id="rId6"/>
    <p:sldId id="1424" r:id="rId7"/>
    <p:sldId id="1418" r:id="rId8"/>
    <p:sldId id="1419" r:id="rId9"/>
    <p:sldId id="1420" r:id="rId10"/>
    <p:sldId id="1421" r:id="rId11"/>
    <p:sldId id="1422" r:id="rId12"/>
    <p:sldId id="1423" r:id="rId13"/>
    <p:sldId id="787" r:id="rId14"/>
    <p:sldId id="788" r:id="rId15"/>
    <p:sldId id="789" r:id="rId16"/>
    <p:sldId id="791" r:id="rId17"/>
    <p:sldId id="792" r:id="rId18"/>
    <p:sldId id="790" r:id="rId19"/>
    <p:sldId id="793" r:id="rId20"/>
    <p:sldId id="794" r:id="rId21"/>
    <p:sldId id="795" r:id="rId22"/>
    <p:sldId id="796" r:id="rId23"/>
    <p:sldId id="797" r:id="rId24"/>
    <p:sldId id="798" r:id="rId25"/>
    <p:sldId id="799" r:id="rId26"/>
    <p:sldId id="800" r:id="rId27"/>
    <p:sldId id="801" r:id="rId28"/>
    <p:sldId id="802" r:id="rId29"/>
    <p:sldId id="803" r:id="rId30"/>
    <p:sldId id="804"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00CC"/>
    <a:srgbClr val="FF3300"/>
    <a:srgbClr val="1D3275"/>
    <a:srgbClr val="0000FF"/>
    <a:srgbClr val="CCECFF"/>
    <a:srgbClr val="66CCFF"/>
    <a:srgbClr val="3333FF"/>
    <a:srgbClr val="7C5F1E"/>
    <a:srgbClr val="E7D0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9301" autoAdjust="0"/>
  </p:normalViewPr>
  <p:slideViewPr>
    <p:cSldViewPr snapToGrid="0">
      <p:cViewPr varScale="1">
        <p:scale>
          <a:sx n="110" d="100"/>
          <a:sy n="110" d="100"/>
        </p:scale>
        <p:origin x="444" y="10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53" d="100"/>
          <a:sy n="53" d="100"/>
        </p:scale>
        <p:origin x="-286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05838-7BCA-4652-9007-BD0302928936}" type="datetimeFigureOut">
              <a:rPr lang="en-US" smtClean="0"/>
              <a:t>04/15/2020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C618C-DDD3-4DC9-ADAB-73264023D4F2}" type="slidenum">
              <a:rPr lang="en-US" smtClean="0"/>
              <a:t>‹#›</a:t>
            </a:fld>
            <a:endParaRPr lang="en-US" dirty="0"/>
          </a:p>
        </p:txBody>
      </p:sp>
    </p:spTree>
    <p:extLst>
      <p:ext uri="{BB962C8B-B14F-4D97-AF65-F5344CB8AC3E}">
        <p14:creationId xmlns:p14="http://schemas.microsoft.com/office/powerpoint/2010/main" val="1824007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p:cNvSpPr>
            <a:spLocks noChangeShapeType="1"/>
          </p:cNvSpPr>
          <p:nvPr/>
        </p:nvSpPr>
        <p:spPr bwMode="auto">
          <a:xfrm flipV="1">
            <a:off x="501649" y="2969606"/>
            <a:ext cx="11692467" cy="4762"/>
          </a:xfrm>
          <a:prstGeom prst="line">
            <a:avLst/>
          </a:prstGeom>
          <a:noFill/>
          <a:ln w="254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p>
        </p:txBody>
      </p:sp>
      <p:sp>
        <p:nvSpPr>
          <p:cNvPr id="3" name="Freeform 3"/>
          <p:cNvSpPr>
            <a:spLocks/>
          </p:cNvSpPr>
          <p:nvPr/>
        </p:nvSpPr>
        <p:spPr bwMode="auto">
          <a:xfrm>
            <a:off x="33867" y="452439"/>
            <a:ext cx="2117" cy="1587"/>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4" name="Freeform 4"/>
          <p:cNvSpPr>
            <a:spLocks/>
          </p:cNvSpPr>
          <p:nvPr/>
        </p:nvSpPr>
        <p:spPr bwMode="auto">
          <a:xfrm>
            <a:off x="33867" y="6305550"/>
            <a:ext cx="2117" cy="1588"/>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5" name="Line 5"/>
          <p:cNvSpPr>
            <a:spLocks noChangeShapeType="1"/>
          </p:cNvSpPr>
          <p:nvPr/>
        </p:nvSpPr>
        <p:spPr bwMode="auto">
          <a:xfrm>
            <a:off x="499533" y="2875289"/>
            <a:ext cx="11694583" cy="4762"/>
          </a:xfrm>
          <a:prstGeom prst="line">
            <a:avLst/>
          </a:prstGeom>
          <a:noFill/>
          <a:ln w="76200">
            <a:solidFill>
              <a:srgbClr val="1D3275"/>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p>
        </p:txBody>
      </p:sp>
      <p:sp>
        <p:nvSpPr>
          <p:cNvPr id="7" name="Rectangle 8"/>
          <p:cNvSpPr>
            <a:spLocks noChangeArrowheads="1"/>
          </p:cNvSpPr>
          <p:nvPr/>
        </p:nvSpPr>
        <p:spPr bwMode="auto">
          <a:xfrm>
            <a:off x="1" y="0"/>
            <a:ext cx="209550" cy="6858000"/>
          </a:xfrm>
          <a:prstGeom prst="rect">
            <a:avLst/>
          </a:prstGeom>
          <a:gradFill rotWithShape="0">
            <a:gsLst>
              <a:gs pos="0">
                <a:srgbClr val="1D3275"/>
              </a:gs>
              <a:gs pos="100000">
                <a:srgbClr val="111E46"/>
              </a:gs>
            </a:gsLst>
            <a:lin ang="0" scaled="1"/>
          </a:gradFill>
          <a:ln w="12700">
            <a:solidFill>
              <a:srgbClr val="000080"/>
            </a:solidFill>
            <a:miter lim="800000"/>
            <a:headEnd/>
            <a:tailEnd/>
          </a:ln>
        </p:spPr>
        <p:txBody>
          <a:bodyPr wrap="none" anchor="ctr"/>
          <a:lstStyle/>
          <a:p>
            <a:pPr algn="ctr"/>
            <a:endParaRPr lang="en-US" dirty="0"/>
          </a:p>
        </p:txBody>
      </p:sp>
      <p:sp>
        <p:nvSpPr>
          <p:cNvPr id="8" name="Rectangle 9"/>
          <p:cNvSpPr>
            <a:spLocks noChangeArrowheads="1"/>
          </p:cNvSpPr>
          <p:nvPr/>
        </p:nvSpPr>
        <p:spPr bwMode="auto">
          <a:xfrm>
            <a:off x="299946" y="0"/>
            <a:ext cx="190500" cy="6858000"/>
          </a:xfrm>
          <a:prstGeom prst="rect">
            <a:avLst/>
          </a:prstGeom>
          <a:gradFill rotWithShape="0">
            <a:gsLst>
              <a:gs pos="0">
                <a:srgbClr val="FF0000"/>
              </a:gs>
              <a:gs pos="100000">
                <a:srgbClr val="B20000"/>
              </a:gs>
            </a:gsLst>
            <a:lin ang="0" scaled="1"/>
          </a:gradFill>
          <a:ln w="12700">
            <a:solidFill>
              <a:srgbClr val="FF0000"/>
            </a:solidFill>
            <a:miter lim="800000"/>
            <a:headEnd/>
            <a:tailEnd/>
          </a:ln>
        </p:spPr>
        <p:txBody>
          <a:bodyPr wrap="none" anchor="ctr"/>
          <a:lstStyle/>
          <a:p>
            <a:pPr algn="ctr"/>
            <a:endParaRPr lang="en-US" dirty="0"/>
          </a:p>
        </p:txBody>
      </p:sp>
      <p:pic>
        <p:nvPicPr>
          <p:cNvPr id="10" name="Picture 23"/>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74543" y="701452"/>
            <a:ext cx="3946677" cy="393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7892109"/>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41221" y="0"/>
            <a:ext cx="8950779" cy="1179321"/>
          </a:xfrm>
        </p:spPr>
        <p:txBody>
          <a:bodyPr/>
          <a:lstStyle/>
          <a:p>
            <a:r>
              <a:rPr lang="en-US" dirty="0"/>
              <a:t>Click to edit Master title style</a:t>
            </a:r>
          </a:p>
        </p:txBody>
      </p:sp>
      <p:sp>
        <p:nvSpPr>
          <p:cNvPr id="3" name="Content Placeholder 2"/>
          <p:cNvSpPr>
            <a:spLocks noGrp="1"/>
          </p:cNvSpPr>
          <p:nvPr>
            <p:ph idx="1"/>
          </p:nvPr>
        </p:nvSpPr>
        <p:spPr>
          <a:xfrm>
            <a:off x="847165" y="1589518"/>
            <a:ext cx="10945906" cy="4691641"/>
          </a:xfrm>
        </p:spPr>
        <p:txBody>
          <a:bodyPr/>
          <a:lstStyle>
            <a:lvl1pPr>
              <a:defRPr>
                <a:solidFill>
                  <a:srgbClr val="000066"/>
                </a:solidFill>
              </a:defRPr>
            </a:lvl1pPr>
            <a:lvl2pPr marL="860425" indent="-403225">
              <a:buClr>
                <a:srgbClr val="FF0000"/>
              </a:buClr>
              <a:buFont typeface="Wingdings" panose="05000000000000000000" pitchFamily="2" charset="2"/>
              <a:buChar char="Ø"/>
              <a:defRPr>
                <a:solidFill>
                  <a:srgbClr val="000066"/>
                </a:solidFill>
                <a:latin typeface="Arial" panose="020B0604020202020204" pitchFamily="34" charset="0"/>
                <a:cs typeface="Arial" panose="020B0604020202020204" pitchFamily="34" charset="0"/>
              </a:defRPr>
            </a:lvl2pPr>
            <a:lvl3pPr marL="1258888" indent="-344488">
              <a:buFont typeface="Wingdings" panose="05000000000000000000" pitchFamily="2" charset="2"/>
              <a:buChar char="ü"/>
              <a:defRPr>
                <a:solidFill>
                  <a:srgbClr val="000066"/>
                </a:solidFill>
                <a:latin typeface="Arial" panose="020B0604020202020204" pitchFamily="34" charset="0"/>
                <a:cs typeface="Arial" panose="020B0604020202020204" pitchFamily="34" charset="0"/>
              </a:defRPr>
            </a:lvl3pPr>
            <a:lvl4pPr marL="1709738" indent="-338138">
              <a:buClr>
                <a:srgbClr val="FF0000"/>
              </a:buClr>
              <a:buFont typeface="Wingdings" panose="05000000000000000000" pitchFamily="2" charset="2"/>
              <a:buChar char="v"/>
              <a:defRPr>
                <a:solidFill>
                  <a:srgbClr val="000066"/>
                </a:solidFill>
                <a:latin typeface="Arial" panose="020B0604020202020204" pitchFamily="34" charset="0"/>
                <a:cs typeface="Arial" panose="020B0604020202020204" pitchFamily="34" charset="0"/>
              </a:defRPr>
            </a:lvl4pPr>
            <a:lvl5pPr marL="2173288" indent="-344488">
              <a:buClr>
                <a:srgbClr val="FF0000"/>
              </a:buClr>
              <a:buFont typeface="Courier New" panose="02070309020205020404" pitchFamily="49" charset="0"/>
              <a:buChar char="o"/>
              <a:defRPr>
                <a:solidFill>
                  <a:srgbClr val="000066"/>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4278502549"/>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418357842"/>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716618" y="1789114"/>
            <a:ext cx="4991100" cy="4262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10917" y="1789114"/>
            <a:ext cx="4993216" cy="4262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538704649"/>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241220" y="0"/>
            <a:ext cx="8950780" cy="1175657"/>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4127231076"/>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1363441376"/>
      </p:ext>
    </p:extLst>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3501218521"/>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2453744763"/>
      </p:ext>
    </p:extLst>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2714953659"/>
      </p:ext>
    </p:extLst>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691956896"/>
      </p:ext>
    </p:extLst>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73685" y="0"/>
            <a:ext cx="2618316" cy="6051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16617" y="0"/>
            <a:ext cx="7653867" cy="6051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ln/>
        </p:spPr>
        <p:txBody>
          <a:bodyPr/>
          <a:lstStyle>
            <a:lvl1pPr>
              <a:defRPr/>
            </a:lvl1pPr>
          </a:lstStyle>
          <a:p>
            <a:fld id="{7C414AED-89CE-4A48-8B2B-1B3A5C68EA2A}" type="slidenum">
              <a:rPr lang="en-US" smtClean="0"/>
              <a:t>‹#›</a:t>
            </a:fld>
            <a:endParaRPr lang="en-US" dirty="0"/>
          </a:p>
        </p:txBody>
      </p:sp>
    </p:spTree>
    <p:extLst>
      <p:ext uri="{BB962C8B-B14F-4D97-AF65-F5344CB8AC3E}">
        <p14:creationId xmlns:p14="http://schemas.microsoft.com/office/powerpoint/2010/main" val="1520776356"/>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463553" y="1327042"/>
            <a:ext cx="11728448" cy="0"/>
          </a:xfrm>
          <a:prstGeom prst="line">
            <a:avLst/>
          </a:prstGeom>
          <a:noFill/>
          <a:ln w="508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p>
        </p:txBody>
      </p:sp>
      <p:sp>
        <p:nvSpPr>
          <p:cNvPr id="1027" name="Rectangle 3"/>
          <p:cNvSpPr>
            <a:spLocks noChangeArrowheads="1"/>
          </p:cNvSpPr>
          <p:nvPr/>
        </p:nvSpPr>
        <p:spPr bwMode="auto">
          <a:xfrm>
            <a:off x="565152" y="6396039"/>
            <a:ext cx="11626849" cy="53975"/>
          </a:xfrm>
          <a:prstGeom prst="rect">
            <a:avLst/>
          </a:prstGeom>
          <a:gradFill rotWithShape="0">
            <a:gsLst>
              <a:gs pos="0">
                <a:srgbClr val="1D3275"/>
              </a:gs>
              <a:gs pos="100000">
                <a:srgbClr val="111E46"/>
              </a:gs>
            </a:gsLst>
            <a:lin ang="0" scaled="1"/>
          </a:gradFill>
          <a:ln w="12700">
            <a:solidFill>
              <a:srgbClr val="000080"/>
            </a:solidFill>
            <a:miter lim="800000"/>
            <a:headEnd/>
            <a:tailEnd/>
          </a:ln>
        </p:spPr>
        <p:txBody>
          <a:bodyPr wrap="none" anchor="ctr"/>
          <a:lstStyle/>
          <a:p>
            <a:pPr algn="ctr"/>
            <a:endParaRPr lang="en-US" dirty="0"/>
          </a:p>
        </p:txBody>
      </p:sp>
      <p:sp>
        <p:nvSpPr>
          <p:cNvPr id="1028" name="Rectangle 4"/>
          <p:cNvSpPr>
            <a:spLocks noChangeArrowheads="1"/>
          </p:cNvSpPr>
          <p:nvPr/>
        </p:nvSpPr>
        <p:spPr bwMode="auto">
          <a:xfrm>
            <a:off x="463553" y="1199871"/>
            <a:ext cx="11728448" cy="50800"/>
          </a:xfrm>
          <a:prstGeom prst="rect">
            <a:avLst/>
          </a:prstGeom>
          <a:gradFill rotWithShape="0">
            <a:gsLst>
              <a:gs pos="0">
                <a:srgbClr val="1D3275"/>
              </a:gs>
              <a:gs pos="100000">
                <a:srgbClr val="1A2D69"/>
              </a:gs>
            </a:gsLst>
            <a:lin ang="0" scaled="1"/>
          </a:gradFill>
          <a:ln w="12700">
            <a:solidFill>
              <a:srgbClr val="000080"/>
            </a:solidFill>
            <a:miter lim="800000"/>
            <a:headEnd/>
            <a:tailEnd/>
          </a:ln>
        </p:spPr>
        <p:txBody>
          <a:bodyPr wrap="none" anchor="ctr"/>
          <a:lstStyle/>
          <a:p>
            <a:pPr algn="ctr"/>
            <a:endParaRPr lang="en-US" dirty="0"/>
          </a:p>
        </p:txBody>
      </p:sp>
      <p:sp>
        <p:nvSpPr>
          <p:cNvPr id="1029" name="Freeform 5"/>
          <p:cNvSpPr>
            <a:spLocks/>
          </p:cNvSpPr>
          <p:nvPr/>
        </p:nvSpPr>
        <p:spPr bwMode="auto">
          <a:xfrm>
            <a:off x="33867" y="452439"/>
            <a:ext cx="2117" cy="1587"/>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030" name="Freeform 6"/>
          <p:cNvSpPr>
            <a:spLocks/>
          </p:cNvSpPr>
          <p:nvPr/>
        </p:nvSpPr>
        <p:spPr bwMode="auto">
          <a:xfrm>
            <a:off x="33867" y="6305550"/>
            <a:ext cx="2117" cy="1588"/>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222215" name="Rectangle 7"/>
          <p:cNvSpPr>
            <a:spLocks noGrp="1" noChangeArrowheads="1"/>
          </p:cNvSpPr>
          <p:nvPr>
            <p:ph type="title"/>
          </p:nvPr>
        </p:nvSpPr>
        <p:spPr bwMode="auto">
          <a:xfrm>
            <a:off x="3208665" y="0"/>
            <a:ext cx="8983333" cy="119987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32" name="Rectangle 8"/>
          <p:cNvSpPr>
            <a:spLocks noGrp="1" noChangeArrowheads="1"/>
          </p:cNvSpPr>
          <p:nvPr>
            <p:ph type="body" idx="1"/>
          </p:nvPr>
        </p:nvSpPr>
        <p:spPr bwMode="auto">
          <a:xfrm>
            <a:off x="859367" y="1573306"/>
            <a:ext cx="11044767" cy="4732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endParaRPr lang="en-US" dirty="0"/>
          </a:p>
        </p:txBody>
      </p:sp>
      <p:sp>
        <p:nvSpPr>
          <p:cNvPr id="222218" name="Rectangle 10"/>
          <p:cNvSpPr>
            <a:spLocks noGrp="1" noChangeArrowheads="1"/>
          </p:cNvSpPr>
          <p:nvPr>
            <p:ph type="sldNum" sz="quarter" idx="4"/>
          </p:nvPr>
        </p:nvSpPr>
        <p:spPr bwMode="auto">
          <a:xfrm>
            <a:off x="10566400" y="6356350"/>
            <a:ext cx="1625600" cy="457200"/>
          </a:xfrm>
          <a:prstGeom prst="rect">
            <a:avLst/>
          </a:prstGeom>
          <a:noFill/>
          <a:ln w="9525">
            <a:noFill/>
            <a:miter lim="800000"/>
            <a:headEnd/>
            <a:tailEnd/>
          </a:ln>
          <a:effectLst/>
        </p:spPr>
        <p:txBody>
          <a:bodyPr vert="horz" wrap="square" lIns="92075" tIns="46038" rIns="92075" bIns="46038" numCol="1" anchor="ctr" anchorCtr="1" compatLnSpc="1">
            <a:prstTxWarp prst="textNoShape">
              <a:avLst/>
            </a:prstTxWarp>
          </a:bodyPr>
          <a:lstStyle>
            <a:lvl1pPr algn="ctr" eaLnBrk="0" hangingPunct="0">
              <a:defRPr sz="1600" b="1" i="1">
                <a:solidFill>
                  <a:srgbClr val="1D3275"/>
                </a:solidFill>
                <a:effectLst>
                  <a:outerShdw blurRad="38100" dist="38100" dir="2700000" algn="tl">
                    <a:srgbClr val="C0C0C0"/>
                  </a:outerShdw>
                </a:effectLst>
                <a:latin typeface="Century Schoolbook" pitchFamily="18" charset="0"/>
              </a:defRPr>
            </a:lvl1pPr>
          </a:lstStyle>
          <a:p>
            <a:fld id="{36A6A193-2FDC-48DD-8023-1C75B05EEA9A}" type="slidenum">
              <a:rPr lang="en-US" smtClean="0"/>
              <a:t>‹#›</a:t>
            </a:fld>
            <a:endParaRPr lang="en-US" dirty="0"/>
          </a:p>
        </p:txBody>
      </p:sp>
      <p:sp>
        <p:nvSpPr>
          <p:cNvPr id="1034" name="Rectangle 11"/>
          <p:cNvSpPr>
            <a:spLocks noChangeArrowheads="1"/>
          </p:cNvSpPr>
          <p:nvPr/>
        </p:nvSpPr>
        <p:spPr bwMode="auto">
          <a:xfrm>
            <a:off x="1" y="0"/>
            <a:ext cx="209550" cy="6858000"/>
          </a:xfrm>
          <a:prstGeom prst="rect">
            <a:avLst/>
          </a:prstGeom>
          <a:gradFill rotWithShape="0">
            <a:gsLst>
              <a:gs pos="0">
                <a:srgbClr val="1D3275"/>
              </a:gs>
              <a:gs pos="100000">
                <a:srgbClr val="111E46"/>
              </a:gs>
            </a:gsLst>
            <a:lin ang="0" scaled="1"/>
          </a:gradFill>
          <a:ln w="12700">
            <a:solidFill>
              <a:srgbClr val="000080"/>
            </a:solidFill>
            <a:miter lim="800000"/>
            <a:headEnd/>
            <a:tailEnd/>
          </a:ln>
        </p:spPr>
        <p:txBody>
          <a:bodyPr wrap="none" anchor="ctr"/>
          <a:lstStyle/>
          <a:p>
            <a:pPr algn="ctr"/>
            <a:endParaRPr lang="en-US" dirty="0"/>
          </a:p>
        </p:txBody>
      </p:sp>
      <p:sp>
        <p:nvSpPr>
          <p:cNvPr id="1035" name="Rectangle 12"/>
          <p:cNvSpPr>
            <a:spLocks noChangeArrowheads="1"/>
          </p:cNvSpPr>
          <p:nvPr/>
        </p:nvSpPr>
        <p:spPr bwMode="auto">
          <a:xfrm>
            <a:off x="273052" y="0"/>
            <a:ext cx="190500" cy="6858000"/>
          </a:xfrm>
          <a:prstGeom prst="rect">
            <a:avLst/>
          </a:prstGeom>
          <a:gradFill rotWithShape="0">
            <a:gsLst>
              <a:gs pos="0">
                <a:srgbClr val="FF0000"/>
              </a:gs>
              <a:gs pos="100000">
                <a:srgbClr val="B20000"/>
              </a:gs>
            </a:gsLst>
            <a:lin ang="0" scaled="1"/>
          </a:gradFill>
          <a:ln w="12700">
            <a:solidFill>
              <a:srgbClr val="FF0000"/>
            </a:solidFill>
            <a:miter lim="800000"/>
            <a:headEnd/>
            <a:tailEnd/>
          </a:ln>
        </p:spPr>
        <p:txBody>
          <a:bodyPr wrap="none" anchor="ctr"/>
          <a:lstStyle/>
          <a:p>
            <a:pPr algn="ctr"/>
            <a:endParaRPr lang="en-US" dirty="0"/>
          </a:p>
        </p:txBody>
      </p:sp>
      <p:sp>
        <p:nvSpPr>
          <p:cNvPr id="1036" name="Rectangle 13"/>
          <p:cNvSpPr>
            <a:spLocks noChangeArrowheads="1"/>
          </p:cNvSpPr>
          <p:nvPr/>
        </p:nvSpPr>
        <p:spPr bwMode="auto">
          <a:xfrm>
            <a:off x="626534" y="6400800"/>
            <a:ext cx="18601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endParaRPr lang="en-US" sz="2400" dirty="0"/>
          </a:p>
        </p:txBody>
      </p:sp>
      <p:sp>
        <p:nvSpPr>
          <p:cNvPr id="1037" name="Rectangle 14"/>
          <p:cNvSpPr>
            <a:spLocks noChangeArrowheads="1"/>
          </p:cNvSpPr>
          <p:nvPr/>
        </p:nvSpPr>
        <p:spPr bwMode="auto">
          <a:xfrm>
            <a:off x="626534" y="6400800"/>
            <a:ext cx="18601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endParaRPr lang="en-US" sz="2400" dirty="0"/>
          </a:p>
        </p:txBody>
      </p:sp>
      <p:sp>
        <p:nvSpPr>
          <p:cNvPr id="18" name="Rectangle 17"/>
          <p:cNvSpPr/>
          <p:nvPr userDrawn="1"/>
        </p:nvSpPr>
        <p:spPr>
          <a:xfrm>
            <a:off x="565152" y="6386630"/>
            <a:ext cx="10008569" cy="479842"/>
          </a:xfrm>
          <a:prstGeom prst="rect">
            <a:avLst/>
          </a:prstGeom>
          <a:gradFill flip="none" rotWithShape="1">
            <a:gsLst>
              <a:gs pos="0">
                <a:srgbClr val="1D3275"/>
              </a:gs>
              <a:gs pos="100000">
                <a:srgbClr val="111E46"/>
              </a:gs>
            </a:gsLst>
            <a:lin ang="2700000" scaled="1"/>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pic>
        <p:nvPicPr>
          <p:cNvPr id="19" name="Picture 18" descr="3. VA-PRIMARY-HORIZONTAL-WHITE-VECTOR2.png"/>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182086" y="6396039"/>
            <a:ext cx="2209800" cy="461961"/>
          </a:xfrm>
          <a:prstGeom prst="rect">
            <a:avLst/>
          </a:prstGeom>
        </p:spPr>
      </p:pic>
      <p:sp>
        <p:nvSpPr>
          <p:cNvPr id="2" name="TextBox 1"/>
          <p:cNvSpPr txBox="1"/>
          <p:nvPr userDrawn="1"/>
        </p:nvSpPr>
        <p:spPr>
          <a:xfrm>
            <a:off x="626534" y="6433668"/>
            <a:ext cx="7244900" cy="369332"/>
          </a:xfrm>
          <a:prstGeom prst="rect">
            <a:avLst/>
          </a:prstGeom>
          <a:noFill/>
        </p:spPr>
        <p:txBody>
          <a:bodyPr wrap="square" rtlCol="0">
            <a:spAutoFit/>
          </a:bodyPr>
          <a:lstStyle/>
          <a:p>
            <a:r>
              <a:rPr lang="en-US" sz="1800" dirty="0">
                <a:solidFill>
                  <a:schemeClr val="bg1"/>
                </a:solidFill>
                <a:latin typeface="Arial Black" panose="020B0A04020102020204" pitchFamily="34" charset="0"/>
              </a:rPr>
              <a:t>Compensation</a:t>
            </a:r>
            <a:r>
              <a:rPr lang="en-US" sz="1800" baseline="0" dirty="0">
                <a:solidFill>
                  <a:schemeClr val="bg1"/>
                </a:solidFill>
                <a:latin typeface="Arial Black" panose="020B0A04020102020204" pitchFamily="34" charset="0"/>
              </a:rPr>
              <a:t> Service Quality Assurance</a:t>
            </a:r>
            <a:endParaRPr lang="en-US" sz="1800" dirty="0">
              <a:solidFill>
                <a:schemeClr val="bg1"/>
              </a:solidFill>
              <a:latin typeface="Arial Black" panose="020B0A04020102020204" pitchFamily="34" charset="0"/>
            </a:endParaRPr>
          </a:p>
        </p:txBody>
      </p:sp>
      <p:cxnSp>
        <p:nvCxnSpPr>
          <p:cNvPr id="5" name="Straight Connector 4">
            <a:extLst>
              <a:ext uri="{FF2B5EF4-FFF2-40B4-BE49-F238E27FC236}">
                <a16:creationId xmlns:a16="http://schemas.microsoft.com/office/drawing/2014/main" id="{D3709D1B-6294-4726-B871-5207A75E1632}"/>
              </a:ext>
            </a:extLst>
          </p:cNvPr>
          <p:cNvCxnSpPr/>
          <p:nvPr userDrawn="1"/>
        </p:nvCxnSpPr>
        <p:spPr bwMode="auto">
          <a:xfrm>
            <a:off x="3208666" y="0"/>
            <a:ext cx="0" cy="1199871"/>
          </a:xfrm>
          <a:prstGeom prst="line">
            <a:avLst/>
          </a:prstGeom>
          <a:solidFill>
            <a:schemeClr val="accent1"/>
          </a:solidFill>
          <a:ln w="57150" cap="flat" cmpd="sng" algn="ctr">
            <a:solidFill>
              <a:srgbClr val="1D3275"/>
            </a:solidFill>
            <a:prstDash val="solid"/>
            <a:round/>
            <a:headEnd type="none" w="sm" len="sm"/>
            <a:tailEnd type="none" w="sm" len="sm"/>
          </a:ln>
          <a:effectLst/>
        </p:spPr>
      </p:cxnSp>
      <p:pic>
        <p:nvPicPr>
          <p:cNvPr id="3" name="Picture 2">
            <a:extLst>
              <a:ext uri="{FF2B5EF4-FFF2-40B4-BE49-F238E27FC236}">
                <a16:creationId xmlns:a16="http://schemas.microsoft.com/office/drawing/2014/main" id="{933AC69D-9816-486E-B427-C6DEC1C249CC}"/>
              </a:ext>
            </a:extLst>
          </p:cNvPr>
          <p:cNvPicPr>
            <a:picLocks noChangeAspect="1"/>
          </p:cNvPicPr>
          <p:nvPr userDrawn="1"/>
        </p:nvPicPr>
        <p:blipFill>
          <a:blip r:embed="rId14"/>
          <a:stretch>
            <a:fillRect/>
          </a:stretch>
        </p:blipFill>
        <p:spPr>
          <a:xfrm>
            <a:off x="527054" y="55000"/>
            <a:ext cx="2640758" cy="1141505"/>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ransition advClick="0"/>
  <p:hf hdr="0" ftr="0" dt="0"/>
  <p:txStyles>
    <p:titleStyle>
      <a:lvl1pPr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mj-lt"/>
          <a:ea typeface="+mj-ea"/>
          <a:cs typeface="+mj-cs"/>
        </a:defRPr>
      </a:lvl1pPr>
      <a:lvl2pPr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2pPr>
      <a:lvl3pPr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3pPr>
      <a:lvl4pPr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4pPr>
      <a:lvl5pPr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5pPr>
      <a:lvl6pPr marL="457200"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6pPr>
      <a:lvl7pPr marL="914400"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7pPr>
      <a:lvl8pPr marL="1371600"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8pPr>
      <a:lvl9pPr marL="1828800" algn="ctr" rtl="0" eaLnBrk="1" fontAlgn="base" hangingPunct="1">
        <a:spcBef>
          <a:spcPct val="0"/>
        </a:spcBef>
        <a:spcAft>
          <a:spcPct val="0"/>
        </a:spcAft>
        <a:defRPr sz="3200">
          <a:solidFill>
            <a:srgbClr val="000066"/>
          </a:solidFill>
          <a:effectLst>
            <a:outerShdw blurRad="38100" dist="38100" dir="2700000" algn="tl">
              <a:srgbClr val="C0C0C0"/>
            </a:outerShdw>
          </a:effectLst>
          <a:latin typeface="Tahoma" pitchFamily="34" charset="0"/>
        </a:defRPr>
      </a:lvl9pPr>
    </p:titleStyle>
    <p:bodyStyle>
      <a:lvl1pPr marL="342900" indent="-342900" algn="l" rtl="0" eaLnBrk="1" fontAlgn="base" hangingPunct="1">
        <a:spcBef>
          <a:spcPct val="20000"/>
        </a:spcBef>
        <a:spcAft>
          <a:spcPct val="0"/>
        </a:spcAft>
        <a:buClr>
          <a:srgbClr val="FF0000"/>
        </a:buClr>
        <a:buFont typeface="Arial" panose="020B0604020202020204" pitchFamily="34" charset="0"/>
        <a:buChar char="•"/>
        <a:defRPr sz="2800">
          <a:solidFill>
            <a:srgbClr val="000066"/>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Char char="–"/>
        <a:defRPr sz="2400">
          <a:solidFill>
            <a:srgbClr val="1D3275"/>
          </a:solidFill>
          <a:latin typeface="+mn-lt"/>
        </a:defRPr>
      </a:lvl2pPr>
      <a:lvl3pPr marL="1143000" indent="-228600" algn="l" rtl="0" eaLnBrk="1" fontAlgn="base" hangingPunct="1">
        <a:spcBef>
          <a:spcPct val="20000"/>
        </a:spcBef>
        <a:spcAft>
          <a:spcPct val="0"/>
        </a:spcAft>
        <a:buClr>
          <a:srgbClr val="CC0000"/>
        </a:buClr>
        <a:buChar char="•"/>
        <a:defRPr sz="2000">
          <a:solidFill>
            <a:srgbClr val="1D3275"/>
          </a:solidFill>
          <a:latin typeface="+mn-lt"/>
        </a:defRPr>
      </a:lvl3pPr>
      <a:lvl4pPr marL="1600200" indent="-228600" algn="l" rtl="0" eaLnBrk="1" fontAlgn="base" hangingPunct="1">
        <a:spcBef>
          <a:spcPct val="20000"/>
        </a:spcBef>
        <a:spcAft>
          <a:spcPct val="0"/>
        </a:spcAft>
        <a:buChar char="–"/>
        <a:defRPr sz="2000">
          <a:solidFill>
            <a:srgbClr val="1D3275"/>
          </a:solidFill>
          <a:latin typeface="+mn-lt"/>
        </a:defRPr>
      </a:lvl4pPr>
      <a:lvl5pPr marL="2057400" indent="-228600" algn="l" rtl="0" eaLnBrk="1" fontAlgn="base" hangingPunct="1">
        <a:spcBef>
          <a:spcPct val="20000"/>
        </a:spcBef>
        <a:spcAft>
          <a:spcPct val="0"/>
        </a:spcAft>
        <a:buChar char="»"/>
        <a:defRPr sz="2000">
          <a:solidFill>
            <a:srgbClr val="1D3275"/>
          </a:solidFill>
          <a:latin typeface="+mn-lt"/>
        </a:defRPr>
      </a:lvl5pPr>
      <a:lvl6pPr marL="2514600" indent="-228600" algn="l" rtl="0" eaLnBrk="1" fontAlgn="base" hangingPunct="1">
        <a:spcBef>
          <a:spcPct val="20000"/>
        </a:spcBef>
        <a:spcAft>
          <a:spcPct val="0"/>
        </a:spcAft>
        <a:buChar char="»"/>
        <a:defRPr>
          <a:solidFill>
            <a:srgbClr val="1D3275"/>
          </a:solidFill>
          <a:latin typeface="+mn-lt"/>
        </a:defRPr>
      </a:lvl6pPr>
      <a:lvl7pPr marL="2971800" indent="-228600" algn="l" rtl="0" eaLnBrk="1" fontAlgn="base" hangingPunct="1">
        <a:spcBef>
          <a:spcPct val="20000"/>
        </a:spcBef>
        <a:spcAft>
          <a:spcPct val="0"/>
        </a:spcAft>
        <a:buChar char="»"/>
        <a:defRPr>
          <a:solidFill>
            <a:srgbClr val="1D3275"/>
          </a:solidFill>
          <a:latin typeface="+mn-lt"/>
        </a:defRPr>
      </a:lvl7pPr>
      <a:lvl8pPr marL="3429000" indent="-228600" algn="l" rtl="0" eaLnBrk="1" fontAlgn="base" hangingPunct="1">
        <a:spcBef>
          <a:spcPct val="20000"/>
        </a:spcBef>
        <a:spcAft>
          <a:spcPct val="0"/>
        </a:spcAft>
        <a:buChar char="»"/>
        <a:defRPr>
          <a:solidFill>
            <a:srgbClr val="1D3275"/>
          </a:solidFill>
          <a:latin typeface="+mn-lt"/>
        </a:defRPr>
      </a:lvl8pPr>
      <a:lvl9pPr marL="3886200" indent="-228600" algn="l" rtl="0" eaLnBrk="1" fontAlgn="base" hangingPunct="1">
        <a:spcBef>
          <a:spcPct val="20000"/>
        </a:spcBef>
        <a:spcAft>
          <a:spcPct val="0"/>
        </a:spcAft>
        <a:buChar char="»"/>
        <a:defRPr>
          <a:solidFill>
            <a:srgbClr val="1D3275"/>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captivateprime.adobe.com/app/learner?accountId=27356#/course/112626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9789-00F0-43DC-9EE2-FF5991BE6D1E}"/>
              </a:ext>
            </a:extLst>
          </p:cNvPr>
          <p:cNvSpPr>
            <a:spLocks noGrp="1"/>
          </p:cNvSpPr>
          <p:nvPr>
            <p:ph type="title"/>
          </p:nvPr>
        </p:nvSpPr>
        <p:spPr/>
        <p:txBody>
          <a:bodyPr/>
          <a:lstStyle/>
          <a:p>
            <a:r>
              <a:rPr lang="en-US" dirty="0"/>
              <a:t>Favorable Findings</a:t>
            </a:r>
            <a:br>
              <a:rPr lang="en-US" dirty="0"/>
            </a:br>
            <a:r>
              <a:rPr lang="en-US" dirty="0"/>
              <a:t>– Critical Error –</a:t>
            </a:r>
          </a:p>
        </p:txBody>
      </p:sp>
      <p:sp>
        <p:nvSpPr>
          <p:cNvPr id="3" name="Content Placeholder 2">
            <a:extLst>
              <a:ext uri="{FF2B5EF4-FFF2-40B4-BE49-F238E27FC236}">
                <a16:creationId xmlns:a16="http://schemas.microsoft.com/office/drawing/2014/main" id="{888D8680-F27F-49E3-9244-3001BB26D30E}"/>
              </a:ext>
            </a:extLst>
          </p:cNvPr>
          <p:cNvSpPr>
            <a:spLocks noGrp="1"/>
          </p:cNvSpPr>
          <p:nvPr>
            <p:ph idx="1"/>
          </p:nvPr>
        </p:nvSpPr>
        <p:spPr>
          <a:xfrm>
            <a:off x="847164" y="1589518"/>
            <a:ext cx="11064311" cy="4691641"/>
          </a:xfrm>
        </p:spPr>
        <p:txBody>
          <a:bodyPr/>
          <a:lstStyle/>
          <a:p>
            <a:r>
              <a:rPr lang="en-US" dirty="0"/>
              <a:t>Significant Change – RVSR Task Based Quality Review Checklist</a:t>
            </a:r>
          </a:p>
          <a:p>
            <a:pPr marL="0" indent="0">
              <a:buNone/>
            </a:pPr>
            <a:endParaRPr lang="en-US" sz="1000" dirty="0"/>
          </a:p>
          <a:p>
            <a:pPr lvl="1"/>
            <a:r>
              <a:rPr lang="en-US" dirty="0"/>
              <a:t>Descriptor </a:t>
            </a:r>
            <a:r>
              <a:rPr lang="en-US" i="1" dirty="0"/>
              <a:t>“The decision maker did not identify and properly document applicable favorable findings”</a:t>
            </a:r>
          </a:p>
          <a:p>
            <a:pPr marL="457200" lvl="1" indent="0">
              <a:buNone/>
            </a:pPr>
            <a:endParaRPr lang="en-US" sz="1000" dirty="0"/>
          </a:p>
          <a:p>
            <a:pPr lvl="2">
              <a:buFont typeface="Wingdings" panose="05000000000000000000" pitchFamily="2" charset="2"/>
              <a:buChar char="þ"/>
            </a:pPr>
            <a:r>
              <a:rPr lang="en-US" sz="2400" dirty="0"/>
              <a:t>Will be changed from a non-critical to a </a:t>
            </a:r>
            <a:r>
              <a:rPr lang="en-US" sz="2400" dirty="0">
                <a:effectLst>
                  <a:outerShdw blurRad="38100" dist="38100" dir="2700000" algn="tl">
                    <a:srgbClr val="000000">
                      <a:alpha val="43137"/>
                    </a:srgbClr>
                  </a:outerShdw>
                </a:effectLst>
              </a:rPr>
              <a:t>critical</a:t>
            </a:r>
            <a:r>
              <a:rPr lang="en-US" sz="2400" dirty="0"/>
              <a:t> error</a:t>
            </a:r>
          </a:p>
          <a:p>
            <a:pPr marL="457200" lvl="1" indent="0">
              <a:buNone/>
            </a:pPr>
            <a:endParaRPr lang="en-US" sz="500" dirty="0"/>
          </a:p>
          <a:p>
            <a:pPr lvl="3">
              <a:buFont typeface="Wingdings" panose="05000000000000000000" pitchFamily="2" charset="2"/>
              <a:buChar char="ü"/>
            </a:pPr>
            <a:r>
              <a:rPr lang="en-US" sz="2400" dirty="0"/>
              <a:t>This change will be implemented sometime in 3rd Quarter of FY20</a:t>
            </a:r>
          </a:p>
          <a:p>
            <a:pPr marL="914400" lvl="2" indent="0">
              <a:buNone/>
            </a:pPr>
            <a:endParaRPr lang="en-US" sz="800" dirty="0"/>
          </a:p>
          <a:p>
            <a:pPr lvl="3">
              <a:buFont typeface="Wingdings" panose="05000000000000000000" pitchFamily="2" charset="2"/>
              <a:buChar char="ü"/>
            </a:pPr>
            <a:r>
              <a:rPr lang="en-US" sz="2400" dirty="0"/>
              <a:t>Notice will be provided 30 days prior to implementation</a:t>
            </a:r>
          </a:p>
          <a:p>
            <a:pPr lvl="4">
              <a:buFont typeface="Wingdings" panose="05000000000000000000" pitchFamily="2" charset="2"/>
              <a:buChar char="v"/>
            </a:pPr>
            <a:r>
              <a:rPr lang="en-US" dirty="0">
                <a:solidFill>
                  <a:srgbClr val="FF0000"/>
                </a:solidFill>
              </a:rPr>
              <a:t>38 CFR 3.104(c)</a:t>
            </a:r>
          </a:p>
          <a:p>
            <a:pPr lvl="4">
              <a:buFont typeface="Wingdings" panose="05000000000000000000" pitchFamily="2" charset="2"/>
              <a:buChar char="v"/>
            </a:pPr>
            <a:r>
              <a:rPr lang="en-US" dirty="0">
                <a:solidFill>
                  <a:srgbClr val="FF0000"/>
                </a:solidFill>
              </a:rPr>
              <a:t>M21-1 </a:t>
            </a:r>
            <a:r>
              <a:rPr lang="nn-NO" dirty="0">
                <a:solidFill>
                  <a:srgbClr val="FF0000"/>
                </a:solidFill>
              </a:rPr>
              <a:t>III.iv.2.B.5</a:t>
            </a:r>
          </a:p>
          <a:p>
            <a:pPr lvl="4">
              <a:buFont typeface="Wingdings" panose="05000000000000000000" pitchFamily="2" charset="2"/>
              <a:buChar char="v"/>
            </a:pPr>
            <a:r>
              <a:rPr lang="nn-NO" dirty="0">
                <a:solidFill>
                  <a:srgbClr val="FF0000"/>
                </a:solidFill>
              </a:rPr>
              <a:t>M21-1 III.iv.5.A.1.f</a:t>
            </a:r>
          </a:p>
          <a:p>
            <a:pPr lvl="4">
              <a:buFont typeface="Wingdings" panose="05000000000000000000" pitchFamily="2" charset="2"/>
              <a:buChar char="v"/>
            </a:pPr>
            <a:r>
              <a:rPr lang="nn-NO" dirty="0">
                <a:solidFill>
                  <a:srgbClr val="FF0000"/>
                </a:solidFill>
              </a:rPr>
              <a:t>M21-1 III.iv.6.C.5.f</a:t>
            </a:r>
            <a:endParaRPr lang="en-US" dirty="0">
              <a:solidFill>
                <a:srgbClr val="FF0000"/>
              </a:solidFill>
            </a:endParaRPr>
          </a:p>
          <a:p>
            <a:pPr lvl="3"/>
            <a:endParaRPr lang="en-US" sz="2400" dirty="0"/>
          </a:p>
        </p:txBody>
      </p:sp>
      <p:sp>
        <p:nvSpPr>
          <p:cNvPr id="4" name="Slide Number Placeholder 3">
            <a:extLst>
              <a:ext uri="{FF2B5EF4-FFF2-40B4-BE49-F238E27FC236}">
                <a16:creationId xmlns:a16="http://schemas.microsoft.com/office/drawing/2014/main" id="{F5119EBD-42F8-43E5-BCCB-C6616A822D7C}"/>
              </a:ext>
            </a:extLst>
          </p:cNvPr>
          <p:cNvSpPr>
            <a:spLocks noGrp="1"/>
          </p:cNvSpPr>
          <p:nvPr>
            <p:ph type="sldNum" sz="quarter" idx="10"/>
          </p:nvPr>
        </p:nvSpPr>
        <p:spPr/>
        <p:txBody>
          <a:bodyPr/>
          <a:lstStyle/>
          <a:p>
            <a:fld id="{7C414AED-89CE-4A48-8B2B-1B3A5C68EA2A}" type="slidenum">
              <a:rPr lang="en-US" smtClean="0"/>
              <a:t>1</a:t>
            </a:fld>
            <a:endParaRPr lang="en-US" dirty="0"/>
          </a:p>
        </p:txBody>
      </p:sp>
    </p:spTree>
    <p:extLst>
      <p:ext uri="{BB962C8B-B14F-4D97-AF65-F5344CB8AC3E}">
        <p14:creationId xmlns:p14="http://schemas.microsoft.com/office/powerpoint/2010/main" val="4177662880"/>
      </p:ext>
    </p:extLst>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EE62-EFB8-4267-9B76-138747E531B0}"/>
              </a:ext>
            </a:extLst>
          </p:cNvPr>
          <p:cNvSpPr>
            <a:spLocks noGrp="1"/>
          </p:cNvSpPr>
          <p:nvPr>
            <p:ph type="title"/>
          </p:nvPr>
        </p:nvSpPr>
        <p:spPr/>
        <p:txBody>
          <a:bodyPr/>
          <a:lstStyle/>
          <a:p>
            <a:r>
              <a:rPr lang="en-US" dirty="0"/>
              <a:t>What Are Favorable Findings</a:t>
            </a:r>
          </a:p>
        </p:txBody>
      </p:sp>
      <p:sp>
        <p:nvSpPr>
          <p:cNvPr id="3" name="Content Placeholder 2">
            <a:extLst>
              <a:ext uri="{FF2B5EF4-FFF2-40B4-BE49-F238E27FC236}">
                <a16:creationId xmlns:a16="http://schemas.microsoft.com/office/drawing/2014/main" id="{17BEFE6E-AD20-40E4-B018-61073357E96C}"/>
              </a:ext>
            </a:extLst>
          </p:cNvPr>
          <p:cNvSpPr>
            <a:spLocks noGrp="1"/>
          </p:cNvSpPr>
          <p:nvPr>
            <p:ph idx="1"/>
          </p:nvPr>
        </p:nvSpPr>
        <p:spPr>
          <a:xfrm>
            <a:off x="847165" y="1589518"/>
            <a:ext cx="10945906" cy="4766832"/>
          </a:xfrm>
        </p:spPr>
        <p:txBody>
          <a:bodyPr/>
          <a:lstStyle/>
          <a:p>
            <a:r>
              <a:rPr lang="en-US" dirty="0"/>
              <a:t>An element that is met and conceded getting you one step closer to being able to grant the benefit sought</a:t>
            </a:r>
          </a:p>
          <a:p>
            <a:pPr marL="0" indent="0">
              <a:buNone/>
            </a:pPr>
            <a:endParaRPr lang="en-US" sz="1000" dirty="0"/>
          </a:p>
          <a:p>
            <a:pPr lvl="1"/>
            <a:r>
              <a:rPr lang="en-US" dirty="0"/>
              <a:t>Not predicated on scheduling a VAE, but at least one element is met if it was properly scheduled</a:t>
            </a:r>
          </a:p>
        </p:txBody>
      </p:sp>
      <p:sp>
        <p:nvSpPr>
          <p:cNvPr id="4" name="Slide Number Placeholder 3">
            <a:extLst>
              <a:ext uri="{FF2B5EF4-FFF2-40B4-BE49-F238E27FC236}">
                <a16:creationId xmlns:a16="http://schemas.microsoft.com/office/drawing/2014/main" id="{547BBE9F-125F-4BCF-9F53-00608C1E197F}"/>
              </a:ext>
            </a:extLst>
          </p:cNvPr>
          <p:cNvSpPr>
            <a:spLocks noGrp="1"/>
          </p:cNvSpPr>
          <p:nvPr>
            <p:ph type="sldNum" sz="quarter" idx="10"/>
          </p:nvPr>
        </p:nvSpPr>
        <p:spPr/>
        <p:txBody>
          <a:bodyPr/>
          <a:lstStyle/>
          <a:p>
            <a:fld id="{7C414AED-89CE-4A48-8B2B-1B3A5C68EA2A}" type="slidenum">
              <a:rPr lang="en-US" smtClean="0"/>
              <a:t>2</a:t>
            </a:fld>
            <a:endParaRPr lang="en-US" dirty="0"/>
          </a:p>
        </p:txBody>
      </p:sp>
    </p:spTree>
    <p:extLst>
      <p:ext uri="{BB962C8B-B14F-4D97-AF65-F5344CB8AC3E}">
        <p14:creationId xmlns:p14="http://schemas.microsoft.com/office/powerpoint/2010/main" val="3402503719"/>
      </p:ext>
    </p:extLst>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55F2-4960-46CD-9655-E3C70F5AE806}"/>
              </a:ext>
            </a:extLst>
          </p:cNvPr>
          <p:cNvSpPr>
            <a:spLocks noGrp="1"/>
          </p:cNvSpPr>
          <p:nvPr>
            <p:ph type="title"/>
          </p:nvPr>
        </p:nvSpPr>
        <p:spPr/>
        <p:txBody>
          <a:bodyPr/>
          <a:lstStyle/>
          <a:p>
            <a:r>
              <a:rPr lang="en-US" dirty="0"/>
              <a:t>Favorable Findings Helpful Hints – SC</a:t>
            </a:r>
          </a:p>
        </p:txBody>
      </p:sp>
      <p:sp>
        <p:nvSpPr>
          <p:cNvPr id="3" name="Content Placeholder 2">
            <a:extLst>
              <a:ext uri="{FF2B5EF4-FFF2-40B4-BE49-F238E27FC236}">
                <a16:creationId xmlns:a16="http://schemas.microsoft.com/office/drawing/2014/main" id="{79603116-46A9-4872-A248-9B47DF06CA19}"/>
              </a:ext>
            </a:extLst>
          </p:cNvPr>
          <p:cNvSpPr>
            <a:spLocks noGrp="1"/>
          </p:cNvSpPr>
          <p:nvPr>
            <p:ph idx="1"/>
          </p:nvPr>
        </p:nvSpPr>
        <p:spPr>
          <a:xfrm>
            <a:off x="847165" y="1589518"/>
            <a:ext cx="11161416" cy="4691641"/>
          </a:xfrm>
        </p:spPr>
        <p:txBody>
          <a:bodyPr/>
          <a:lstStyle/>
          <a:p>
            <a:r>
              <a:rPr lang="en-US" sz="2400" dirty="0"/>
              <a:t>Is the Veteran claiming SC for his/her condition based on military service</a:t>
            </a:r>
          </a:p>
          <a:p>
            <a:pPr marL="0" indent="0">
              <a:buNone/>
            </a:pPr>
            <a:endParaRPr lang="en-US" sz="500" dirty="0"/>
          </a:p>
          <a:p>
            <a:pPr lvl="1"/>
            <a:r>
              <a:rPr lang="en-US" sz="2000" dirty="0"/>
              <a:t>Incurrence:  Was there a qualifying event, injury or disease during service</a:t>
            </a:r>
          </a:p>
          <a:p>
            <a:pPr lvl="2">
              <a:buFont typeface="Wingdings" panose="05000000000000000000" pitchFamily="2" charset="2"/>
              <a:buChar char="ý"/>
            </a:pPr>
            <a:r>
              <a:rPr lang="en-US" dirty="0"/>
              <a:t>No:  No favorable finding for this element</a:t>
            </a:r>
          </a:p>
          <a:p>
            <a:pPr lvl="2">
              <a:buFont typeface="Wingdings" panose="05000000000000000000" pitchFamily="2" charset="2"/>
              <a:buChar char="þ"/>
            </a:pPr>
            <a:r>
              <a:rPr lang="en-US" dirty="0"/>
              <a:t>Yes:  Favorable finding:  When and where did you find this information</a:t>
            </a:r>
          </a:p>
          <a:p>
            <a:pPr marL="914400" lvl="2" indent="0">
              <a:buNone/>
            </a:pPr>
            <a:endParaRPr lang="en-US" dirty="0"/>
          </a:p>
          <a:p>
            <a:pPr lvl="1"/>
            <a:r>
              <a:rPr lang="en-US" sz="2000" dirty="0"/>
              <a:t>Diagnosis:  Does the Veteran have a current diagnosis of the condition being denied</a:t>
            </a:r>
          </a:p>
          <a:p>
            <a:pPr lvl="2">
              <a:buFont typeface="Wingdings" panose="05000000000000000000" pitchFamily="2" charset="2"/>
              <a:buChar char="ý"/>
            </a:pPr>
            <a:r>
              <a:rPr lang="en-US" dirty="0"/>
              <a:t>No:  No favorable finding for this element</a:t>
            </a:r>
          </a:p>
          <a:p>
            <a:pPr lvl="2">
              <a:buFont typeface="Wingdings" panose="05000000000000000000" pitchFamily="2" charset="2"/>
              <a:buChar char="þ"/>
            </a:pPr>
            <a:r>
              <a:rPr lang="en-US" dirty="0"/>
              <a:t>Yes:  Favorable finding:  What is the date of diagnosis, source &amp; date are you using</a:t>
            </a:r>
          </a:p>
          <a:p>
            <a:pPr marL="914400" lvl="2" indent="0">
              <a:buNone/>
            </a:pPr>
            <a:endParaRPr lang="en-US" dirty="0"/>
          </a:p>
          <a:p>
            <a:pPr lvl="1"/>
            <a:r>
              <a:rPr lang="en-US" sz="2000" dirty="0"/>
              <a:t>Nexus:  Is there a positive opinion with rationale of record</a:t>
            </a:r>
          </a:p>
          <a:p>
            <a:pPr lvl="2">
              <a:buFont typeface="Wingdings" panose="05000000000000000000" pitchFamily="2" charset="2"/>
              <a:buChar char="ý"/>
            </a:pPr>
            <a:r>
              <a:rPr lang="en-US" dirty="0"/>
              <a:t>No:  No favorable finding for this element</a:t>
            </a:r>
          </a:p>
          <a:p>
            <a:pPr lvl="2">
              <a:buFont typeface="Wingdings" panose="05000000000000000000" pitchFamily="2" charset="2"/>
              <a:buChar char="þ"/>
            </a:pPr>
            <a:r>
              <a:rPr lang="en-US" dirty="0"/>
              <a:t>Yes:  Favorable finding:  What source and date are you using</a:t>
            </a:r>
          </a:p>
        </p:txBody>
      </p:sp>
      <p:sp>
        <p:nvSpPr>
          <p:cNvPr id="4" name="Slide Number Placeholder 3">
            <a:extLst>
              <a:ext uri="{FF2B5EF4-FFF2-40B4-BE49-F238E27FC236}">
                <a16:creationId xmlns:a16="http://schemas.microsoft.com/office/drawing/2014/main" id="{57131431-EF5E-484F-94F1-2A5F7215777C}"/>
              </a:ext>
            </a:extLst>
          </p:cNvPr>
          <p:cNvSpPr>
            <a:spLocks noGrp="1"/>
          </p:cNvSpPr>
          <p:nvPr>
            <p:ph type="sldNum" sz="quarter" idx="10"/>
          </p:nvPr>
        </p:nvSpPr>
        <p:spPr/>
        <p:txBody>
          <a:bodyPr/>
          <a:lstStyle/>
          <a:p>
            <a:fld id="{7C414AED-89CE-4A48-8B2B-1B3A5C68EA2A}" type="slidenum">
              <a:rPr lang="en-US" smtClean="0"/>
              <a:t>3</a:t>
            </a:fld>
            <a:endParaRPr lang="en-US" dirty="0"/>
          </a:p>
        </p:txBody>
      </p:sp>
    </p:spTree>
    <p:extLst>
      <p:ext uri="{BB962C8B-B14F-4D97-AF65-F5344CB8AC3E}">
        <p14:creationId xmlns:p14="http://schemas.microsoft.com/office/powerpoint/2010/main" val="754557243"/>
      </p:ext>
    </p:extLst>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B568-137C-465D-98BD-3C862CD184F6}"/>
              </a:ext>
            </a:extLst>
          </p:cNvPr>
          <p:cNvSpPr>
            <a:spLocks noGrp="1"/>
          </p:cNvSpPr>
          <p:nvPr>
            <p:ph type="title"/>
          </p:nvPr>
        </p:nvSpPr>
        <p:spPr/>
        <p:txBody>
          <a:bodyPr/>
          <a:lstStyle/>
          <a:p>
            <a:r>
              <a:rPr lang="en-US" dirty="0"/>
              <a:t>38 CFR 3.303 Example</a:t>
            </a:r>
          </a:p>
        </p:txBody>
      </p:sp>
      <p:sp>
        <p:nvSpPr>
          <p:cNvPr id="3" name="Content Placeholder 2">
            <a:extLst>
              <a:ext uri="{FF2B5EF4-FFF2-40B4-BE49-F238E27FC236}">
                <a16:creationId xmlns:a16="http://schemas.microsoft.com/office/drawing/2014/main" id="{DA096F0A-28E8-449E-A315-5F41ACBCB2D3}"/>
              </a:ext>
            </a:extLst>
          </p:cNvPr>
          <p:cNvSpPr>
            <a:spLocks noGrp="1"/>
          </p:cNvSpPr>
          <p:nvPr>
            <p:ph idx="1"/>
          </p:nvPr>
        </p:nvSpPr>
        <p:spPr/>
        <p:txBody>
          <a:bodyPr/>
          <a:lstStyle/>
          <a:p>
            <a:r>
              <a:rPr lang="en-US" dirty="0"/>
              <a:t>Claim for direct SC for low back pain</a:t>
            </a:r>
          </a:p>
          <a:p>
            <a:pPr marL="0" indent="0">
              <a:buNone/>
            </a:pPr>
            <a:endParaRPr lang="en-US" sz="1000" dirty="0"/>
          </a:p>
          <a:p>
            <a:r>
              <a:rPr lang="en-US" dirty="0"/>
              <a:t>STRs show in-service event:  lumbar spine injury</a:t>
            </a:r>
          </a:p>
          <a:p>
            <a:pPr marL="0" indent="0">
              <a:buNone/>
            </a:pPr>
            <a:endParaRPr lang="en-US" sz="1000" dirty="0"/>
          </a:p>
          <a:p>
            <a:r>
              <a:rPr lang="en-US" dirty="0"/>
              <a:t>Proper VAE/MO scheduled</a:t>
            </a:r>
          </a:p>
          <a:p>
            <a:pPr marL="0" indent="0">
              <a:buNone/>
            </a:pPr>
            <a:endParaRPr lang="en-US" sz="1000" dirty="0"/>
          </a:p>
          <a:p>
            <a:r>
              <a:rPr lang="en-US" dirty="0"/>
              <a:t>VAE shows dx lumbar strain with MO not related to service</a:t>
            </a:r>
          </a:p>
          <a:p>
            <a:pPr marL="0" indent="0">
              <a:buNone/>
            </a:pPr>
            <a:endParaRPr lang="en-US" sz="1000" dirty="0"/>
          </a:p>
          <a:p>
            <a:r>
              <a:rPr lang="en-US" dirty="0"/>
              <a:t>SC denied for lumbar strain (claimed as low back pain)</a:t>
            </a:r>
          </a:p>
          <a:p>
            <a:pPr marL="0" indent="0">
              <a:buNone/>
            </a:pPr>
            <a:endParaRPr lang="en-US" sz="1000" dirty="0"/>
          </a:p>
          <a:p>
            <a:pPr lvl="1"/>
            <a:r>
              <a:rPr lang="en-US" dirty="0"/>
              <a:t>What are the favorable findings?</a:t>
            </a:r>
          </a:p>
          <a:p>
            <a:pPr lvl="2"/>
            <a:r>
              <a:rPr lang="en-US" dirty="0"/>
              <a:t>In-service event of lumbar spine injury jumping off a tank on June 1, 2002</a:t>
            </a:r>
          </a:p>
          <a:p>
            <a:pPr lvl="2"/>
            <a:r>
              <a:rPr lang="en-US" dirty="0"/>
              <a:t>Current diagnosis of lumbar strain in VAE dated March 11, 2020</a:t>
            </a:r>
          </a:p>
        </p:txBody>
      </p:sp>
      <p:sp>
        <p:nvSpPr>
          <p:cNvPr id="4" name="Slide Number Placeholder 3">
            <a:extLst>
              <a:ext uri="{FF2B5EF4-FFF2-40B4-BE49-F238E27FC236}">
                <a16:creationId xmlns:a16="http://schemas.microsoft.com/office/drawing/2014/main" id="{2BA40B46-9F4C-4054-9B90-AC06DC518F2E}"/>
              </a:ext>
            </a:extLst>
          </p:cNvPr>
          <p:cNvSpPr>
            <a:spLocks noGrp="1"/>
          </p:cNvSpPr>
          <p:nvPr>
            <p:ph type="sldNum" sz="quarter" idx="10"/>
          </p:nvPr>
        </p:nvSpPr>
        <p:spPr/>
        <p:txBody>
          <a:bodyPr/>
          <a:lstStyle/>
          <a:p>
            <a:fld id="{7C414AED-89CE-4A48-8B2B-1B3A5C68EA2A}" type="slidenum">
              <a:rPr lang="en-US" smtClean="0"/>
              <a:t>4</a:t>
            </a:fld>
            <a:endParaRPr lang="en-US" dirty="0"/>
          </a:p>
        </p:txBody>
      </p:sp>
    </p:spTree>
    <p:extLst>
      <p:ext uri="{BB962C8B-B14F-4D97-AF65-F5344CB8AC3E}">
        <p14:creationId xmlns:p14="http://schemas.microsoft.com/office/powerpoint/2010/main" val="102411717"/>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wipe(left)">
                                      <p:cBhvr>
                                        <p:cTn id="49" dur="500"/>
                                        <p:tgtEl>
                                          <p:spTgt spid="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wipe(left)">
                                      <p:cBhvr>
                                        <p:cTn id="54" dur="500"/>
                                        <p:tgtEl>
                                          <p:spTgt spid="3">
                                            <p:txEl>
                                              <p:pRg st="11" end="1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Effect transition="in" filter="wipe(left)">
                                      <p:cBhvr>
                                        <p:cTn id="59"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488D6-4BBE-4254-B81C-538633EC8CB3}"/>
              </a:ext>
            </a:extLst>
          </p:cNvPr>
          <p:cNvSpPr>
            <a:spLocks noGrp="1"/>
          </p:cNvSpPr>
          <p:nvPr>
            <p:ph type="title"/>
          </p:nvPr>
        </p:nvSpPr>
        <p:spPr/>
        <p:txBody>
          <a:bodyPr/>
          <a:lstStyle/>
          <a:p>
            <a:r>
              <a:rPr lang="en-US" dirty="0"/>
              <a:t>Documenting Favorable Findings</a:t>
            </a:r>
          </a:p>
        </p:txBody>
      </p:sp>
      <p:sp>
        <p:nvSpPr>
          <p:cNvPr id="3" name="Content Placeholder 2">
            <a:extLst>
              <a:ext uri="{FF2B5EF4-FFF2-40B4-BE49-F238E27FC236}">
                <a16:creationId xmlns:a16="http://schemas.microsoft.com/office/drawing/2014/main" id="{95FA8A4E-4ABC-4178-9102-F302E2D037C4}"/>
              </a:ext>
            </a:extLst>
          </p:cNvPr>
          <p:cNvSpPr>
            <a:spLocks noGrp="1"/>
          </p:cNvSpPr>
          <p:nvPr>
            <p:ph idx="1"/>
          </p:nvPr>
        </p:nvSpPr>
        <p:spPr>
          <a:xfrm>
            <a:off x="847165" y="1589518"/>
            <a:ext cx="11067744" cy="4766832"/>
          </a:xfrm>
        </p:spPr>
        <p:txBody>
          <a:bodyPr/>
          <a:lstStyle/>
          <a:p>
            <a:r>
              <a:rPr lang="en-US" dirty="0"/>
              <a:t>Favorable Findings Tab in VBMS-R must be used to document</a:t>
            </a:r>
          </a:p>
          <a:p>
            <a:pPr lvl="1"/>
            <a:r>
              <a:rPr lang="en-US" dirty="0"/>
              <a:t>Excel document showing favorable finding drop-downs is </a:t>
            </a:r>
            <a:r>
              <a:rPr lang="en-US" i="1" dirty="0"/>
              <a:t>exact</a:t>
            </a:r>
            <a:r>
              <a:rPr lang="en-US" dirty="0"/>
              <a:t> duplicate of drop-downs in this Tab</a:t>
            </a:r>
          </a:p>
          <a:p>
            <a:pPr marL="457200" lvl="1" indent="0">
              <a:buNone/>
            </a:pPr>
            <a:endParaRPr lang="en-US" sz="800" dirty="0"/>
          </a:p>
          <a:p>
            <a:pPr lvl="1"/>
            <a:r>
              <a:rPr lang="en-US" dirty="0"/>
              <a:t>The finding </a:t>
            </a:r>
            <a:r>
              <a:rPr lang="en-US" b="1" dirty="0">
                <a:effectLst>
                  <a:outerShdw blurRad="38100" dist="38100" dir="2700000" algn="tl">
                    <a:srgbClr val="000000">
                      <a:alpha val="43137"/>
                    </a:srgbClr>
                  </a:outerShdw>
                </a:effectLst>
              </a:rPr>
              <a:t>must be specific</a:t>
            </a:r>
            <a:r>
              <a:rPr lang="en-US" dirty="0"/>
              <a:t> by using a combination of the pre-populated VBMS-R text, supplemented with appropriate concise </a:t>
            </a:r>
            <a:r>
              <a:rPr lang="en-US" b="1" dirty="0">
                <a:effectLst>
                  <a:outerShdw blurRad="38100" dist="38100" dir="2700000" algn="tl">
                    <a:srgbClr val="000000">
                      <a:alpha val="43137"/>
                    </a:srgbClr>
                  </a:outerShdw>
                </a:effectLst>
              </a:rPr>
              <a:t>free text</a:t>
            </a:r>
          </a:p>
          <a:p>
            <a:pPr marL="457200" lvl="1" indent="0">
              <a:buNone/>
            </a:pPr>
            <a:endParaRPr lang="en-US" sz="800" dirty="0"/>
          </a:p>
          <a:p>
            <a:pPr lvl="3"/>
            <a:r>
              <a:rPr lang="en-US" sz="2400" dirty="0"/>
              <a:t>The evidence shows that a qualifying event, injury or disease had its onset during your 	service.  </a:t>
            </a:r>
            <a:r>
              <a:rPr lang="en-US" sz="2400" b="1" dirty="0">
                <a:effectLst>
                  <a:outerShdw blurRad="38100" dist="38100" dir="2700000" algn="tl">
                    <a:srgbClr val="000000">
                      <a:alpha val="43137"/>
                    </a:srgbClr>
                  </a:outerShdw>
                </a:effectLst>
              </a:rPr>
              <a:t>On the DD214, your MOS of Infantryman confirms a high probability of noise exposure.</a:t>
            </a:r>
          </a:p>
          <a:p>
            <a:pPr marL="1371600" lvl="3" indent="0">
              <a:buNone/>
            </a:pPr>
            <a:endParaRPr lang="en-US" sz="1000" dirty="0"/>
          </a:p>
          <a:p>
            <a:pPr lvl="1"/>
            <a:r>
              <a:rPr lang="en-US" dirty="0"/>
              <a:t>Free text should be no more than one or two sentences, </a:t>
            </a:r>
            <a:r>
              <a:rPr lang="en-US" i="1" dirty="0"/>
              <a:t>at most</a:t>
            </a:r>
          </a:p>
          <a:p>
            <a:pPr marL="457200" lvl="1" indent="0">
              <a:buNone/>
            </a:pPr>
            <a:endParaRPr lang="en-US" sz="800" dirty="0"/>
          </a:p>
          <a:p>
            <a:pPr lvl="2"/>
            <a:r>
              <a:rPr lang="en-US" dirty="0"/>
              <a:t>If you are typing more than two sentences, it is too much and/or not appropriate</a:t>
            </a:r>
          </a:p>
          <a:p>
            <a:endParaRPr lang="en-US" dirty="0"/>
          </a:p>
        </p:txBody>
      </p:sp>
      <p:sp>
        <p:nvSpPr>
          <p:cNvPr id="4" name="Slide Number Placeholder 3">
            <a:extLst>
              <a:ext uri="{FF2B5EF4-FFF2-40B4-BE49-F238E27FC236}">
                <a16:creationId xmlns:a16="http://schemas.microsoft.com/office/drawing/2014/main" id="{DA8E8745-D861-42E5-A621-498131369903}"/>
              </a:ext>
            </a:extLst>
          </p:cNvPr>
          <p:cNvSpPr>
            <a:spLocks noGrp="1"/>
          </p:cNvSpPr>
          <p:nvPr>
            <p:ph type="sldNum" sz="quarter" idx="10"/>
          </p:nvPr>
        </p:nvSpPr>
        <p:spPr/>
        <p:txBody>
          <a:bodyPr/>
          <a:lstStyle/>
          <a:p>
            <a:fld id="{7C414AED-89CE-4A48-8B2B-1B3A5C68EA2A}" type="slidenum">
              <a:rPr lang="en-US" smtClean="0"/>
              <a:t>5</a:t>
            </a:fld>
            <a:endParaRPr lang="en-US" dirty="0"/>
          </a:p>
        </p:txBody>
      </p:sp>
    </p:spTree>
    <p:extLst>
      <p:ext uri="{BB962C8B-B14F-4D97-AF65-F5344CB8AC3E}">
        <p14:creationId xmlns:p14="http://schemas.microsoft.com/office/powerpoint/2010/main" val="443208143"/>
      </p:ext>
    </p:extLst>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F0709-8F83-4E89-8A51-771FFD31E7F1}"/>
              </a:ext>
            </a:extLst>
          </p:cNvPr>
          <p:cNvSpPr>
            <a:spLocks noGrp="1"/>
          </p:cNvSpPr>
          <p:nvPr>
            <p:ph type="title"/>
          </p:nvPr>
        </p:nvSpPr>
        <p:spPr/>
        <p:txBody>
          <a:bodyPr/>
          <a:lstStyle/>
          <a:p>
            <a:r>
              <a:rPr lang="en-US" dirty="0"/>
              <a:t>Inappropriate Free Text Example</a:t>
            </a:r>
          </a:p>
        </p:txBody>
      </p:sp>
      <p:sp>
        <p:nvSpPr>
          <p:cNvPr id="3" name="Content Placeholder 2">
            <a:extLst>
              <a:ext uri="{FF2B5EF4-FFF2-40B4-BE49-F238E27FC236}">
                <a16:creationId xmlns:a16="http://schemas.microsoft.com/office/drawing/2014/main" id="{06EA2A95-0F0B-47FE-AF0B-8942E7C16425}"/>
              </a:ext>
            </a:extLst>
          </p:cNvPr>
          <p:cNvSpPr>
            <a:spLocks noGrp="1"/>
          </p:cNvSpPr>
          <p:nvPr>
            <p:ph idx="1"/>
          </p:nvPr>
        </p:nvSpPr>
        <p:spPr/>
        <p:txBody>
          <a:bodyPr/>
          <a:lstStyle/>
          <a:p>
            <a:pPr>
              <a:buFont typeface="Wingdings" panose="05000000000000000000" pitchFamily="2" charset="2"/>
              <a:buChar char=""/>
            </a:pPr>
            <a:r>
              <a:rPr lang="en-US" sz="2300" dirty="0"/>
              <a:t>You have been diagnosed with a disability. VA examination dated 01/17/2019 shows left eye functional loss of vision. Medical opinion from Michael Monson, OD shows a diagnosis of central corneal opacity, left eye likely causing decrease visual acuity also vitral degeneration and corneal dystrophy. And opined corneal scar from metal in eye during service is more likely than not related to military service. Service treatment records show a piece of metal fell and hit your left eye and FB in left eye could not be gathered or swabbed and you were treated with antibiotic and a steroid and patch. Service treatment record dated 11/30/1962 shows you reported blurred vision in the left eye but it had cleared up. Vision testing done 12/31/1962 showed 20/25 normal vision in the left eye. Service treatment record dated 02/63 showed FB complaint, no damage to left eye was found. X-ray dated 08/09/63 for FB, none were found. Eye exam dated 10/14/65 was found to be normal.</a:t>
            </a:r>
          </a:p>
        </p:txBody>
      </p:sp>
      <p:sp>
        <p:nvSpPr>
          <p:cNvPr id="4" name="Slide Number Placeholder 3">
            <a:extLst>
              <a:ext uri="{FF2B5EF4-FFF2-40B4-BE49-F238E27FC236}">
                <a16:creationId xmlns:a16="http://schemas.microsoft.com/office/drawing/2014/main" id="{7AF50364-D263-49B5-831C-AACAF56A4765}"/>
              </a:ext>
            </a:extLst>
          </p:cNvPr>
          <p:cNvSpPr>
            <a:spLocks noGrp="1"/>
          </p:cNvSpPr>
          <p:nvPr>
            <p:ph type="sldNum" sz="quarter" idx="10"/>
          </p:nvPr>
        </p:nvSpPr>
        <p:spPr/>
        <p:txBody>
          <a:bodyPr/>
          <a:lstStyle/>
          <a:p>
            <a:fld id="{7C414AED-89CE-4A48-8B2B-1B3A5C68EA2A}" type="slidenum">
              <a:rPr lang="en-US" smtClean="0"/>
              <a:t>6</a:t>
            </a:fld>
            <a:endParaRPr lang="en-US" dirty="0"/>
          </a:p>
        </p:txBody>
      </p:sp>
    </p:spTree>
    <p:extLst>
      <p:ext uri="{BB962C8B-B14F-4D97-AF65-F5344CB8AC3E}">
        <p14:creationId xmlns:p14="http://schemas.microsoft.com/office/powerpoint/2010/main" val="2589287572"/>
      </p:ext>
    </p:extLst>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544FC-3FF7-408E-A1CB-FD909124353A}"/>
              </a:ext>
            </a:extLst>
          </p:cNvPr>
          <p:cNvSpPr>
            <a:spLocks noGrp="1"/>
          </p:cNvSpPr>
          <p:nvPr>
            <p:ph type="title"/>
          </p:nvPr>
        </p:nvSpPr>
        <p:spPr/>
        <p:txBody>
          <a:bodyPr/>
          <a:lstStyle/>
          <a:p>
            <a:r>
              <a:rPr lang="en-US" dirty="0"/>
              <a:t>What Isn’t a Favorable Finding</a:t>
            </a:r>
          </a:p>
        </p:txBody>
      </p:sp>
      <p:sp>
        <p:nvSpPr>
          <p:cNvPr id="3" name="Content Placeholder 2">
            <a:extLst>
              <a:ext uri="{FF2B5EF4-FFF2-40B4-BE49-F238E27FC236}">
                <a16:creationId xmlns:a16="http://schemas.microsoft.com/office/drawing/2014/main" id="{ED814882-C485-4956-B3C9-BC8D4A78517A}"/>
              </a:ext>
            </a:extLst>
          </p:cNvPr>
          <p:cNvSpPr>
            <a:spLocks noGrp="1"/>
          </p:cNvSpPr>
          <p:nvPr>
            <p:ph idx="1"/>
          </p:nvPr>
        </p:nvSpPr>
        <p:spPr>
          <a:xfrm>
            <a:off x="847165" y="1589518"/>
            <a:ext cx="11270944" cy="4691641"/>
          </a:xfrm>
        </p:spPr>
        <p:txBody>
          <a:bodyPr/>
          <a:lstStyle/>
          <a:p>
            <a:r>
              <a:rPr lang="en-US" dirty="0"/>
              <a:t>Favorable findings are </a:t>
            </a:r>
            <a:r>
              <a:rPr lang="en-US" b="1" dirty="0">
                <a:effectLst>
                  <a:outerShdw blurRad="38100" dist="38100" dir="2700000" algn="tl">
                    <a:srgbClr val="000000">
                      <a:alpha val="43137"/>
                    </a:srgbClr>
                  </a:outerShdw>
                </a:effectLst>
              </a:rPr>
              <a:t>NOT</a:t>
            </a:r>
            <a:r>
              <a:rPr lang="en-US" dirty="0"/>
              <a:t> discussions of the facts of the case (even facts that appear favorable, such as a private medical opinion, if that fact is not accepted as a conceded element)</a:t>
            </a:r>
          </a:p>
          <a:p>
            <a:pPr marL="0" indent="0">
              <a:buNone/>
            </a:pPr>
            <a:endParaRPr lang="en-US" sz="1000" dirty="0"/>
          </a:p>
          <a:p>
            <a:r>
              <a:rPr lang="en-US" dirty="0"/>
              <a:t>Favorable findings are </a:t>
            </a:r>
            <a:r>
              <a:rPr lang="en-US" b="1" dirty="0">
                <a:effectLst>
                  <a:outerShdw blurRad="38100" dist="38100" dir="2700000" algn="tl">
                    <a:srgbClr val="000000">
                      <a:alpha val="43137"/>
                    </a:srgbClr>
                  </a:outerShdw>
                </a:effectLst>
              </a:rPr>
              <a:t>NOT</a:t>
            </a:r>
            <a:r>
              <a:rPr lang="en-US" dirty="0"/>
              <a:t> negative findings</a:t>
            </a:r>
          </a:p>
          <a:p>
            <a:pPr marL="0" indent="0">
              <a:buNone/>
            </a:pPr>
            <a:endParaRPr lang="en-US" sz="1000" dirty="0"/>
          </a:p>
          <a:p>
            <a:r>
              <a:rPr lang="en-US" dirty="0"/>
              <a:t>Examples of what would </a:t>
            </a:r>
            <a:r>
              <a:rPr lang="en-US" b="1" dirty="0">
                <a:effectLst>
                  <a:outerShdw blurRad="38100" dist="38100" dir="2700000" algn="tl">
                    <a:srgbClr val="000000">
                      <a:alpha val="43137"/>
                    </a:srgbClr>
                  </a:outerShdw>
                </a:effectLst>
              </a:rPr>
              <a:t>NOT</a:t>
            </a:r>
            <a:r>
              <a:rPr lang="en-US" dirty="0"/>
              <a:t> be a favorable finding:</a:t>
            </a:r>
          </a:p>
          <a:p>
            <a:pPr marL="0" indent="0">
              <a:buNone/>
            </a:pPr>
            <a:endParaRPr lang="en-US" sz="1000" dirty="0"/>
          </a:p>
          <a:p>
            <a:pPr lvl="1"/>
            <a:r>
              <a:rPr lang="en-US" i="1" dirty="0"/>
              <a:t>The STRs do not show evidence of your claimed condition</a:t>
            </a:r>
          </a:p>
          <a:p>
            <a:pPr marL="457200" lvl="1" indent="0">
              <a:buNone/>
            </a:pPr>
            <a:endParaRPr lang="en-US" sz="1000" dirty="0"/>
          </a:p>
          <a:p>
            <a:pPr lvl="1"/>
            <a:r>
              <a:rPr lang="en-US" i="1" dirty="0"/>
              <a:t>The private medical opinion provided a nexus, but we are not accepting that nexus as it does not include rationale, and the VA medical opinion does</a:t>
            </a:r>
          </a:p>
        </p:txBody>
      </p:sp>
      <p:sp>
        <p:nvSpPr>
          <p:cNvPr id="4" name="Slide Number Placeholder 3">
            <a:extLst>
              <a:ext uri="{FF2B5EF4-FFF2-40B4-BE49-F238E27FC236}">
                <a16:creationId xmlns:a16="http://schemas.microsoft.com/office/drawing/2014/main" id="{5526D863-CF0C-41BB-895D-5DB79473CC31}"/>
              </a:ext>
            </a:extLst>
          </p:cNvPr>
          <p:cNvSpPr>
            <a:spLocks noGrp="1"/>
          </p:cNvSpPr>
          <p:nvPr>
            <p:ph type="sldNum" sz="quarter" idx="10"/>
          </p:nvPr>
        </p:nvSpPr>
        <p:spPr/>
        <p:txBody>
          <a:bodyPr/>
          <a:lstStyle/>
          <a:p>
            <a:fld id="{7C414AED-89CE-4A48-8B2B-1B3A5C68EA2A}" type="slidenum">
              <a:rPr lang="en-US" smtClean="0"/>
              <a:t>7</a:t>
            </a:fld>
            <a:endParaRPr lang="en-US" dirty="0"/>
          </a:p>
        </p:txBody>
      </p:sp>
    </p:spTree>
    <p:extLst>
      <p:ext uri="{BB962C8B-B14F-4D97-AF65-F5344CB8AC3E}">
        <p14:creationId xmlns:p14="http://schemas.microsoft.com/office/powerpoint/2010/main" val="2543380482"/>
      </p:ext>
    </p:extLst>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910A8-B7B3-44FE-B5B0-752F6AB2F4BA}"/>
              </a:ext>
            </a:extLst>
          </p:cNvPr>
          <p:cNvSpPr>
            <a:spLocks noGrp="1"/>
          </p:cNvSpPr>
          <p:nvPr>
            <p:ph type="title"/>
          </p:nvPr>
        </p:nvSpPr>
        <p:spPr/>
        <p:txBody>
          <a:bodyPr/>
          <a:lstStyle/>
          <a:p>
            <a:r>
              <a:rPr lang="en-US" dirty="0"/>
              <a:t>Correcting AMA Error Citations</a:t>
            </a:r>
          </a:p>
        </p:txBody>
      </p:sp>
      <p:sp>
        <p:nvSpPr>
          <p:cNvPr id="3" name="Content Placeholder 2">
            <a:extLst>
              <a:ext uri="{FF2B5EF4-FFF2-40B4-BE49-F238E27FC236}">
                <a16:creationId xmlns:a16="http://schemas.microsoft.com/office/drawing/2014/main" id="{3628DED2-08F5-4B43-8A67-AB987486B718}"/>
              </a:ext>
            </a:extLst>
          </p:cNvPr>
          <p:cNvSpPr>
            <a:spLocks noGrp="1"/>
          </p:cNvSpPr>
          <p:nvPr>
            <p:ph idx="1"/>
          </p:nvPr>
        </p:nvSpPr>
        <p:spPr/>
        <p:txBody>
          <a:bodyPr/>
          <a:lstStyle/>
          <a:p>
            <a:r>
              <a:rPr lang="en-US" dirty="0"/>
              <a:t>The following verbiage will be used within the new rating decision and related notification letter:</a:t>
            </a:r>
          </a:p>
          <a:p>
            <a:pPr marL="0" indent="0">
              <a:buNone/>
            </a:pPr>
            <a:endParaRPr lang="en-US" sz="1000" dirty="0"/>
          </a:p>
          <a:p>
            <a:pPr lvl="1"/>
            <a:r>
              <a:rPr lang="en-US" b="1" dirty="0">
                <a:effectLst>
                  <a:outerShdw blurRad="38100" dist="38100" dir="2700000" algn="tl">
                    <a:srgbClr val="000000">
                      <a:alpha val="43137"/>
                    </a:srgbClr>
                  </a:outerShdw>
                </a:effectLst>
              </a:rPr>
              <a:t>Providing missed laws and regulations:</a:t>
            </a:r>
            <a:r>
              <a:rPr lang="en-US" i="1" dirty="0"/>
              <a:t>  The purpose of this rating decision is to provide you with additional laws and regulations that are applicable to our decision on your claim but were not included in our previous decision of ____ </a:t>
            </a:r>
            <a:r>
              <a:rPr lang="en-US" i="1" dirty="0">
                <a:solidFill>
                  <a:srgbClr val="FF0000"/>
                </a:solidFill>
              </a:rPr>
              <a:t>(date)</a:t>
            </a:r>
            <a:r>
              <a:rPr lang="en-US" i="1" dirty="0"/>
              <a:t>.</a:t>
            </a:r>
          </a:p>
          <a:p>
            <a:pPr marL="457200" lvl="1" indent="0">
              <a:buNone/>
            </a:pPr>
            <a:endParaRPr lang="en-US" sz="2000" dirty="0"/>
          </a:p>
          <a:p>
            <a:pPr lvl="1"/>
            <a:r>
              <a:rPr lang="en-US" b="1" dirty="0">
                <a:effectLst>
                  <a:outerShdw blurRad="38100" dist="38100" dir="2700000" algn="tl">
                    <a:srgbClr val="000000">
                      <a:alpha val="43137"/>
                    </a:srgbClr>
                  </a:outerShdw>
                </a:effectLst>
              </a:rPr>
              <a:t>Providing favorable findings:</a:t>
            </a:r>
            <a:r>
              <a:rPr lang="en-US" i="1" dirty="0"/>
              <a:t>  The purpose of this rating decision is to explain the favorable findings associated with your claim for ____ </a:t>
            </a:r>
            <a:r>
              <a:rPr lang="en-US" i="1" dirty="0">
                <a:solidFill>
                  <a:srgbClr val="FF0000"/>
                </a:solidFill>
              </a:rPr>
              <a:t>(issue)</a:t>
            </a:r>
            <a:r>
              <a:rPr lang="en-US" i="1" dirty="0"/>
              <a:t> but were not included in our previous decision of ___ </a:t>
            </a:r>
            <a:r>
              <a:rPr lang="en-US" i="1" dirty="0">
                <a:solidFill>
                  <a:srgbClr val="FF0000"/>
                </a:solidFill>
              </a:rPr>
              <a:t>(date)</a:t>
            </a:r>
            <a:r>
              <a:rPr lang="en-US" i="1" dirty="0"/>
              <a:t>.</a:t>
            </a:r>
          </a:p>
        </p:txBody>
      </p:sp>
      <p:sp>
        <p:nvSpPr>
          <p:cNvPr id="4" name="Slide Number Placeholder 3">
            <a:extLst>
              <a:ext uri="{FF2B5EF4-FFF2-40B4-BE49-F238E27FC236}">
                <a16:creationId xmlns:a16="http://schemas.microsoft.com/office/drawing/2014/main" id="{48D74448-7E28-4CB0-8C8E-547E54D6F896}"/>
              </a:ext>
            </a:extLst>
          </p:cNvPr>
          <p:cNvSpPr>
            <a:spLocks noGrp="1"/>
          </p:cNvSpPr>
          <p:nvPr>
            <p:ph type="sldNum" sz="quarter" idx="10"/>
          </p:nvPr>
        </p:nvSpPr>
        <p:spPr/>
        <p:txBody>
          <a:bodyPr/>
          <a:lstStyle/>
          <a:p>
            <a:fld id="{7C414AED-89CE-4A48-8B2B-1B3A5C68EA2A}" type="slidenum">
              <a:rPr lang="en-US" smtClean="0"/>
              <a:t>8</a:t>
            </a:fld>
            <a:endParaRPr lang="en-US" dirty="0"/>
          </a:p>
        </p:txBody>
      </p:sp>
    </p:spTree>
    <p:extLst>
      <p:ext uri="{BB962C8B-B14F-4D97-AF65-F5344CB8AC3E}">
        <p14:creationId xmlns:p14="http://schemas.microsoft.com/office/powerpoint/2010/main" val="1659401670"/>
      </p:ext>
    </p:extLst>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9679-50F0-4B5E-8085-D5B46EEB4921}"/>
              </a:ext>
            </a:extLst>
          </p:cNvPr>
          <p:cNvSpPr>
            <a:spLocks noGrp="1"/>
          </p:cNvSpPr>
          <p:nvPr>
            <p:ph type="title"/>
          </p:nvPr>
        </p:nvSpPr>
        <p:spPr/>
        <p:txBody>
          <a:bodyPr/>
          <a:lstStyle/>
          <a:p>
            <a:r>
              <a:rPr lang="en-US" dirty="0"/>
              <a:t>Refresher Courses</a:t>
            </a:r>
          </a:p>
        </p:txBody>
      </p:sp>
      <p:sp>
        <p:nvSpPr>
          <p:cNvPr id="3" name="Content Placeholder 2">
            <a:extLst>
              <a:ext uri="{FF2B5EF4-FFF2-40B4-BE49-F238E27FC236}">
                <a16:creationId xmlns:a16="http://schemas.microsoft.com/office/drawing/2014/main" id="{6CF1FFC2-6831-4F02-A967-D610382BB6CC}"/>
              </a:ext>
            </a:extLst>
          </p:cNvPr>
          <p:cNvSpPr>
            <a:spLocks noGrp="1"/>
          </p:cNvSpPr>
          <p:nvPr>
            <p:ph idx="1"/>
          </p:nvPr>
        </p:nvSpPr>
        <p:spPr>
          <a:xfrm>
            <a:off x="847165" y="1589518"/>
            <a:ext cx="11250428" cy="4766832"/>
          </a:xfrm>
        </p:spPr>
        <p:txBody>
          <a:bodyPr/>
          <a:lstStyle/>
          <a:p>
            <a:r>
              <a:rPr lang="en-US" sz="2500" dirty="0"/>
              <a:t>AMA Improved Decision Notices - Rating Decisions:  TMS # 4491280</a:t>
            </a:r>
          </a:p>
          <a:p>
            <a:pPr marL="0" indent="0">
              <a:buNone/>
            </a:pPr>
            <a:endParaRPr lang="en-US" sz="2400" dirty="0"/>
          </a:p>
          <a:p>
            <a:r>
              <a:rPr lang="en-US" sz="2500" dirty="0"/>
              <a:t>Appeals Modernization Act 201:  TMS # 4491236</a:t>
            </a:r>
          </a:p>
          <a:p>
            <a:pPr marL="0" indent="0">
              <a:buNone/>
            </a:pPr>
            <a:endParaRPr lang="en-US" sz="2400" dirty="0"/>
          </a:p>
          <a:p>
            <a:r>
              <a:rPr lang="en-US" sz="2500" dirty="0"/>
              <a:t>Favorable Findings (VBMS-R) and Supplemental Claims:  TMS # 4500202</a:t>
            </a:r>
          </a:p>
          <a:p>
            <a:pPr marL="0" indent="0">
              <a:buNone/>
            </a:pPr>
            <a:endParaRPr lang="en-US" sz="2400" dirty="0"/>
          </a:p>
          <a:p>
            <a:r>
              <a:rPr lang="en-US" sz="2500" dirty="0"/>
              <a:t>AMA Supplemental Training in Adobe Prime:  TMS # 4500996</a:t>
            </a:r>
          </a:p>
          <a:p>
            <a:pPr lvl="2"/>
            <a:r>
              <a:rPr lang="en-US" u="sng" dirty="0">
                <a:solidFill>
                  <a:srgbClr val="0000FF"/>
                </a:solidFill>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https://captivateprime.adobe.com/app/learner?accountId=27356#/course/1126260</a:t>
            </a:r>
            <a:endParaRPr lang="en-US" u="sng" dirty="0">
              <a:solidFill>
                <a:srgbClr val="0000FF"/>
              </a:solidFill>
              <a:latin typeface="Calibri" panose="020F0502020204030204" pitchFamily="34" charset="0"/>
              <a:ea typeface="Calibri" panose="020F0502020204030204" pitchFamily="34" charset="0"/>
            </a:endParaRPr>
          </a:p>
          <a:p>
            <a:pPr marL="0" indent="0">
              <a:buNone/>
            </a:pPr>
            <a:endParaRPr lang="en-US" sz="2400" dirty="0"/>
          </a:p>
          <a:p>
            <a:r>
              <a:rPr lang="en-US" sz="2500" dirty="0"/>
              <a:t>AMA FAQs</a:t>
            </a:r>
          </a:p>
        </p:txBody>
      </p:sp>
      <p:sp>
        <p:nvSpPr>
          <p:cNvPr id="4" name="Slide Number Placeholder 3">
            <a:extLst>
              <a:ext uri="{FF2B5EF4-FFF2-40B4-BE49-F238E27FC236}">
                <a16:creationId xmlns:a16="http://schemas.microsoft.com/office/drawing/2014/main" id="{21307A24-1034-46FF-B9F7-50147EA7610C}"/>
              </a:ext>
            </a:extLst>
          </p:cNvPr>
          <p:cNvSpPr>
            <a:spLocks noGrp="1"/>
          </p:cNvSpPr>
          <p:nvPr>
            <p:ph type="sldNum" sz="quarter" idx="10"/>
          </p:nvPr>
        </p:nvSpPr>
        <p:spPr/>
        <p:txBody>
          <a:bodyPr/>
          <a:lstStyle/>
          <a:p>
            <a:fld id="{7C414AED-89CE-4A48-8B2B-1B3A5C68EA2A}" type="slidenum">
              <a:rPr lang="en-US" smtClean="0"/>
              <a:t>9</a:t>
            </a:fld>
            <a:endParaRPr lang="en-US" dirty="0"/>
          </a:p>
        </p:txBody>
      </p:sp>
    </p:spTree>
    <p:extLst>
      <p:ext uri="{BB962C8B-B14F-4D97-AF65-F5344CB8AC3E}">
        <p14:creationId xmlns:p14="http://schemas.microsoft.com/office/powerpoint/2010/main" val="1197557026"/>
      </p:ext>
    </p:extLst>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VBMS-R User Tips for Correcting CUEs</a:t>
            </a:r>
          </a:p>
        </p:txBody>
      </p:sp>
      <p:sp>
        <p:nvSpPr>
          <p:cNvPr id="3" name="Content Placeholder 2"/>
          <p:cNvSpPr>
            <a:spLocks noGrp="1"/>
          </p:cNvSpPr>
          <p:nvPr>
            <p:ph idx="1"/>
          </p:nvPr>
        </p:nvSpPr>
        <p:spPr/>
        <p:txBody>
          <a:bodyPr/>
          <a:lstStyle/>
          <a:p>
            <a:r>
              <a:rPr lang="en-US" dirty="0"/>
              <a:t>Recent M21-1 updates have clarified procedures for correction of the record in CUE scenarios associated with administrative error</a:t>
            </a:r>
          </a:p>
          <a:p>
            <a:pPr lvl="1"/>
            <a:r>
              <a:rPr lang="en-US" dirty="0"/>
              <a:t>M21-1 III.iv.8.B</a:t>
            </a:r>
          </a:p>
          <a:p>
            <a:pPr lvl="1"/>
            <a:r>
              <a:rPr lang="en-US" dirty="0"/>
              <a:t>M21-1 III.iv.8.E</a:t>
            </a:r>
          </a:p>
          <a:p>
            <a:pPr lvl="1"/>
            <a:r>
              <a:rPr lang="en-US" dirty="0"/>
              <a:t>M21-1 IV.ii.3.A</a:t>
            </a:r>
          </a:p>
          <a:p>
            <a:pPr marL="457200" lvl="1" indent="0">
              <a:buNone/>
            </a:pPr>
            <a:endParaRPr lang="en-US" sz="1400" dirty="0"/>
          </a:p>
          <a:p>
            <a:r>
              <a:rPr lang="en-US" dirty="0"/>
              <a:t>Two significant clarifications</a:t>
            </a:r>
          </a:p>
          <a:p>
            <a:pPr lvl="1"/>
            <a:r>
              <a:rPr lang="en-US" dirty="0"/>
              <a:t>Update the codesheet so that it reads how it should have read had no error been made</a:t>
            </a:r>
          </a:p>
          <a:p>
            <a:pPr lvl="1"/>
            <a:r>
              <a:rPr lang="en-US" dirty="0"/>
              <a:t>Provide due process for past reductions even if current payments are not affected</a:t>
            </a:r>
          </a:p>
          <a:p>
            <a:pPr lvl="1"/>
            <a:endParaRPr lang="en-US" dirty="0"/>
          </a:p>
          <a:p>
            <a:pPr lvl="2"/>
            <a:endParaRPr lang="en-US" dirty="0"/>
          </a:p>
        </p:txBody>
      </p:sp>
      <p:sp>
        <p:nvSpPr>
          <p:cNvPr id="4" name="Slide Number Placeholder 3"/>
          <p:cNvSpPr>
            <a:spLocks noGrp="1"/>
          </p:cNvSpPr>
          <p:nvPr>
            <p:ph type="sldNum" sz="quarter" idx="10"/>
          </p:nvPr>
        </p:nvSpPr>
        <p:spPr/>
        <p:txBody>
          <a:bodyPr/>
          <a:lstStyle/>
          <a:p>
            <a:fld id="{7C414AED-89CE-4A48-8B2B-1B3A5C68EA2A}" type="slidenum">
              <a:rPr lang="en-US" smtClean="0"/>
              <a:t>10</a:t>
            </a:fld>
            <a:endParaRPr lang="en-US" dirty="0"/>
          </a:p>
        </p:txBody>
      </p:sp>
    </p:spTree>
    <p:extLst>
      <p:ext uri="{BB962C8B-B14F-4D97-AF65-F5344CB8AC3E}">
        <p14:creationId xmlns:p14="http://schemas.microsoft.com/office/powerpoint/2010/main" val="90863533"/>
      </p:ext>
    </p:extLst>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Guidance</a:t>
            </a:r>
          </a:p>
        </p:txBody>
      </p:sp>
      <p:sp>
        <p:nvSpPr>
          <p:cNvPr id="3" name="Content Placeholder 2"/>
          <p:cNvSpPr>
            <a:spLocks noGrp="1"/>
          </p:cNvSpPr>
          <p:nvPr>
            <p:ph idx="1"/>
          </p:nvPr>
        </p:nvSpPr>
        <p:spPr/>
        <p:txBody>
          <a:bodyPr/>
          <a:lstStyle/>
          <a:p>
            <a:r>
              <a:rPr lang="en-US" dirty="0"/>
              <a:t>General best practice:  </a:t>
            </a:r>
          </a:p>
          <a:p>
            <a:pPr lvl="1"/>
            <a:r>
              <a:rPr lang="en-US" dirty="0"/>
              <a:t>Use VBMS-R to generate the issue and decision for the final rating</a:t>
            </a:r>
          </a:p>
          <a:p>
            <a:pPr lvl="1"/>
            <a:r>
              <a:rPr lang="en-US" dirty="0">
                <a:effectLst>
                  <a:outerShdw blurRad="38100" dist="38100" dir="2700000" algn="tl">
                    <a:srgbClr val="000000">
                      <a:alpha val="43137"/>
                    </a:srgbClr>
                  </a:outerShdw>
                </a:effectLst>
              </a:rPr>
              <a:t>THEN</a:t>
            </a:r>
            <a:r>
              <a:rPr lang="en-US" dirty="0"/>
              <a:t> return to the master record to correct the codesheet</a:t>
            </a:r>
          </a:p>
          <a:p>
            <a:pPr marL="457200" lvl="1" indent="0">
              <a:buNone/>
            </a:pPr>
            <a:endParaRPr lang="en-US" sz="2000" dirty="0"/>
          </a:p>
          <a:p>
            <a:r>
              <a:rPr lang="en-US" dirty="0"/>
              <a:t>M21-1 III.iv.6.C.5.a requires explanation of effective dates</a:t>
            </a:r>
          </a:p>
          <a:p>
            <a:pPr marL="0" indent="0">
              <a:buNone/>
            </a:pPr>
            <a:endParaRPr lang="en-US" sz="2000" dirty="0"/>
          </a:p>
          <a:p>
            <a:r>
              <a:rPr lang="en-US" dirty="0"/>
              <a:t>3 main scenarios</a:t>
            </a:r>
          </a:p>
          <a:p>
            <a:pPr marL="914400" lvl="1" indent="-457200">
              <a:buFont typeface="+mj-lt"/>
              <a:buAutoNum type="arabicParenR"/>
            </a:pPr>
            <a:r>
              <a:rPr lang="en-US" dirty="0"/>
              <a:t>Severance</a:t>
            </a:r>
          </a:p>
          <a:p>
            <a:pPr marL="914400" lvl="1" indent="-457200">
              <a:buFont typeface="+mj-lt"/>
              <a:buAutoNum type="arabicParenR"/>
            </a:pPr>
            <a:r>
              <a:rPr lang="en-US" dirty="0"/>
              <a:t>Reduction affecting current payment</a:t>
            </a:r>
          </a:p>
          <a:p>
            <a:pPr marL="914400" lvl="1" indent="-457200">
              <a:buFont typeface="+mj-lt"/>
              <a:buAutoNum type="arabicParenR"/>
            </a:pPr>
            <a:r>
              <a:rPr lang="en-US" dirty="0"/>
              <a:t>Past reduction not affecting current payment</a:t>
            </a:r>
          </a:p>
        </p:txBody>
      </p:sp>
      <p:sp>
        <p:nvSpPr>
          <p:cNvPr id="4" name="Slide Number Placeholder 3"/>
          <p:cNvSpPr>
            <a:spLocks noGrp="1"/>
          </p:cNvSpPr>
          <p:nvPr>
            <p:ph type="sldNum" sz="quarter" idx="10"/>
          </p:nvPr>
        </p:nvSpPr>
        <p:spPr/>
        <p:txBody>
          <a:bodyPr/>
          <a:lstStyle/>
          <a:p>
            <a:fld id="{7C414AED-89CE-4A48-8B2B-1B3A5C68EA2A}" type="slidenum">
              <a:rPr lang="en-US" smtClean="0"/>
              <a:t>11</a:t>
            </a:fld>
            <a:endParaRPr lang="en-US" dirty="0"/>
          </a:p>
        </p:txBody>
      </p:sp>
    </p:spTree>
    <p:extLst>
      <p:ext uri="{BB962C8B-B14F-4D97-AF65-F5344CB8AC3E}">
        <p14:creationId xmlns:p14="http://schemas.microsoft.com/office/powerpoint/2010/main" val="3396410738"/>
      </p:ext>
    </p:extLst>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1</a:t>
            </a:r>
          </a:p>
        </p:txBody>
      </p:sp>
      <p:sp>
        <p:nvSpPr>
          <p:cNvPr id="3" name="Content Placeholder 2"/>
          <p:cNvSpPr>
            <a:spLocks noGrp="1"/>
          </p:cNvSpPr>
          <p:nvPr>
            <p:ph idx="1"/>
          </p:nvPr>
        </p:nvSpPr>
        <p:spPr>
          <a:xfrm>
            <a:off x="847164" y="1589518"/>
            <a:ext cx="11344835" cy="4691641"/>
          </a:xfrm>
        </p:spPr>
        <p:txBody>
          <a:bodyPr/>
          <a:lstStyle/>
          <a:p>
            <a:r>
              <a:rPr lang="en-US" dirty="0"/>
              <a:t>Severance</a:t>
            </a:r>
          </a:p>
          <a:p>
            <a:pPr lvl="1"/>
            <a:r>
              <a:rPr lang="en-US" dirty="0"/>
              <a:t>Facts:  	</a:t>
            </a:r>
          </a:p>
          <a:p>
            <a:pPr lvl="2"/>
            <a:r>
              <a:rPr lang="en-US" dirty="0"/>
              <a:t>SC was erroneously established for a right knee disability effective 04/16/2016</a:t>
            </a:r>
          </a:p>
          <a:p>
            <a:pPr lvl="3"/>
            <a:r>
              <a:rPr lang="en-US" dirty="0"/>
              <a:t>Evidence did not establish service incurrence</a:t>
            </a:r>
          </a:p>
          <a:p>
            <a:pPr marL="1371600" lvl="3" indent="0">
              <a:buNone/>
            </a:pPr>
            <a:endParaRPr lang="en-US" sz="1000" dirty="0"/>
          </a:p>
          <a:p>
            <a:pPr lvl="2"/>
            <a:r>
              <a:rPr lang="en-US" dirty="0"/>
              <a:t>Rating decision and notification letter providing due process was completed 12/29/2019</a:t>
            </a:r>
          </a:p>
          <a:p>
            <a:pPr marL="914400" lvl="2" indent="0">
              <a:buNone/>
            </a:pPr>
            <a:endParaRPr lang="en-US" sz="1000" dirty="0"/>
          </a:p>
          <a:p>
            <a:pPr lvl="2"/>
            <a:r>
              <a:rPr lang="en-US" dirty="0"/>
              <a:t>The claimant did not provide any evidence during the due process period</a:t>
            </a:r>
          </a:p>
          <a:p>
            <a:pPr marL="914400" lvl="2" indent="0">
              <a:buNone/>
            </a:pPr>
            <a:endParaRPr lang="en-US" sz="1000" dirty="0"/>
          </a:p>
          <a:p>
            <a:pPr lvl="2"/>
            <a:r>
              <a:rPr lang="en-US" dirty="0"/>
              <a:t>Today we are rating the final reduction</a:t>
            </a:r>
          </a:p>
          <a:p>
            <a:pPr marL="914400" lvl="2" indent="0">
              <a:buNone/>
            </a:pPr>
            <a:endParaRPr lang="en-US" sz="1000" dirty="0"/>
          </a:p>
          <a:p>
            <a:pPr lvl="2"/>
            <a:r>
              <a:rPr lang="en-US" dirty="0"/>
              <a:t>The rating has been completed in VBMS-R up to the point of completion of the decision entry and narrative creation</a:t>
            </a:r>
          </a:p>
        </p:txBody>
      </p:sp>
      <p:sp>
        <p:nvSpPr>
          <p:cNvPr id="4" name="Slide Number Placeholder 3"/>
          <p:cNvSpPr>
            <a:spLocks noGrp="1"/>
          </p:cNvSpPr>
          <p:nvPr>
            <p:ph type="sldNum" sz="quarter" idx="10"/>
          </p:nvPr>
        </p:nvSpPr>
        <p:spPr/>
        <p:txBody>
          <a:bodyPr/>
          <a:lstStyle/>
          <a:p>
            <a:fld id="{7C414AED-89CE-4A48-8B2B-1B3A5C68EA2A}" type="slidenum">
              <a:rPr lang="en-US" smtClean="0"/>
              <a:t>12</a:t>
            </a:fld>
            <a:endParaRPr lang="en-US" dirty="0"/>
          </a:p>
        </p:txBody>
      </p:sp>
    </p:spTree>
    <p:extLst>
      <p:ext uri="{BB962C8B-B14F-4D97-AF65-F5344CB8AC3E}">
        <p14:creationId xmlns:p14="http://schemas.microsoft.com/office/powerpoint/2010/main" val="858519211"/>
      </p:ext>
    </p:extLst>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 Management</a:t>
            </a:r>
          </a:p>
        </p:txBody>
      </p:sp>
      <p:sp>
        <p:nvSpPr>
          <p:cNvPr id="4" name="Slide Number Placeholder 3"/>
          <p:cNvSpPr>
            <a:spLocks noGrp="1"/>
          </p:cNvSpPr>
          <p:nvPr>
            <p:ph type="sldNum" sz="quarter" idx="10"/>
          </p:nvPr>
        </p:nvSpPr>
        <p:spPr/>
        <p:txBody>
          <a:bodyPr/>
          <a:lstStyle/>
          <a:p>
            <a:fld id="{7C414AED-89CE-4A48-8B2B-1B3A5C68EA2A}" type="slidenum">
              <a:rPr lang="en-US" smtClean="0"/>
              <a:t>13</a:t>
            </a:fld>
            <a:endParaRPr lang="en-US" dirty="0"/>
          </a:p>
        </p:txBody>
      </p:sp>
      <p:pic>
        <p:nvPicPr>
          <p:cNvPr id="6" name="Picture 5">
            <a:extLst>
              <a:ext uri="{FF2B5EF4-FFF2-40B4-BE49-F238E27FC236}">
                <a16:creationId xmlns:a16="http://schemas.microsoft.com/office/drawing/2014/main" id="{EB082ED7-D6BE-40D5-AD34-C6A7114313F9}"/>
              </a:ext>
            </a:extLst>
          </p:cNvPr>
          <p:cNvPicPr>
            <a:picLocks noChangeAspect="1"/>
          </p:cNvPicPr>
          <p:nvPr/>
        </p:nvPicPr>
        <p:blipFill>
          <a:blip r:embed="rId2"/>
          <a:stretch>
            <a:fillRect/>
          </a:stretch>
        </p:blipFill>
        <p:spPr>
          <a:xfrm>
            <a:off x="3401005" y="1567197"/>
            <a:ext cx="8605140" cy="4470735"/>
          </a:xfrm>
          <a:prstGeom prst="rect">
            <a:avLst/>
          </a:prstGeom>
        </p:spPr>
      </p:pic>
      <p:sp>
        <p:nvSpPr>
          <p:cNvPr id="7" name="Oval 6">
            <a:extLst>
              <a:ext uri="{FF2B5EF4-FFF2-40B4-BE49-F238E27FC236}">
                <a16:creationId xmlns:a16="http://schemas.microsoft.com/office/drawing/2014/main" id="{5FE2838B-910E-41B1-A5DC-29F01B284E96}"/>
              </a:ext>
            </a:extLst>
          </p:cNvPr>
          <p:cNvSpPr/>
          <p:nvPr/>
        </p:nvSpPr>
        <p:spPr bwMode="auto">
          <a:xfrm>
            <a:off x="6096000" y="3523785"/>
            <a:ext cx="1141141" cy="557561"/>
          </a:xfrm>
          <a:prstGeom prst="ellipse">
            <a:avLst/>
          </a:prstGeom>
          <a:noFill/>
          <a:ln w="12700" cap="flat" cmpd="sng" algn="ctr">
            <a:solidFill>
              <a:srgbClr val="FF33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ahoma" pitchFamily="34" charset="0"/>
            </a:endParaRPr>
          </a:p>
        </p:txBody>
      </p:sp>
      <p:sp>
        <p:nvSpPr>
          <p:cNvPr id="8" name="Oval 7">
            <a:extLst>
              <a:ext uri="{FF2B5EF4-FFF2-40B4-BE49-F238E27FC236}">
                <a16:creationId xmlns:a16="http://schemas.microsoft.com/office/drawing/2014/main" id="{465134FA-EBB1-47C1-9FFF-0185A0E5EDC8}"/>
              </a:ext>
            </a:extLst>
          </p:cNvPr>
          <p:cNvSpPr/>
          <p:nvPr/>
        </p:nvSpPr>
        <p:spPr bwMode="auto">
          <a:xfrm>
            <a:off x="8456342" y="2070410"/>
            <a:ext cx="1141141" cy="557561"/>
          </a:xfrm>
          <a:prstGeom prst="ellipse">
            <a:avLst/>
          </a:prstGeom>
          <a:noFill/>
          <a:ln w="12700" cap="flat" cmpd="sng" algn="ctr">
            <a:solidFill>
              <a:srgbClr val="FF33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ahoma" pitchFamily="34" charset="0"/>
            </a:endParaRPr>
          </a:p>
        </p:txBody>
      </p:sp>
      <p:sp>
        <p:nvSpPr>
          <p:cNvPr id="9" name="Content Placeholder 2">
            <a:extLst>
              <a:ext uri="{FF2B5EF4-FFF2-40B4-BE49-F238E27FC236}">
                <a16:creationId xmlns:a16="http://schemas.microsoft.com/office/drawing/2014/main" id="{F2137678-C006-40E9-8BDD-FDB955F50388}"/>
              </a:ext>
            </a:extLst>
          </p:cNvPr>
          <p:cNvSpPr>
            <a:spLocks noGrp="1"/>
          </p:cNvSpPr>
          <p:nvPr>
            <p:ph idx="1"/>
          </p:nvPr>
        </p:nvSpPr>
        <p:spPr>
          <a:xfrm>
            <a:off x="623087" y="1589518"/>
            <a:ext cx="2777918" cy="4691641"/>
          </a:xfrm>
        </p:spPr>
        <p:txBody>
          <a:bodyPr/>
          <a:lstStyle/>
          <a:p>
            <a:r>
              <a:rPr lang="en-US" sz="1600" dirty="0"/>
              <a:t>Diagnosis Information Screen:</a:t>
            </a:r>
          </a:p>
          <a:p>
            <a:pPr lvl="1"/>
            <a:r>
              <a:rPr lang="en-US" sz="1600" dirty="0"/>
              <a:t>Enter effective date of severance in </a:t>
            </a:r>
            <a:r>
              <a:rPr lang="en-US" sz="1600" i="1" dirty="0"/>
              <a:t>To Date</a:t>
            </a:r>
          </a:p>
          <a:p>
            <a:pPr marL="457200" lvl="1" indent="0">
              <a:buNone/>
            </a:pPr>
            <a:endParaRPr lang="en-US" sz="1600" i="1" dirty="0"/>
          </a:p>
          <a:p>
            <a:pPr lvl="1"/>
            <a:r>
              <a:rPr lang="en-US" sz="1600" dirty="0"/>
              <a:t>Select </a:t>
            </a:r>
            <a:r>
              <a:rPr lang="en-US" sz="1600" i="1" dirty="0"/>
              <a:t>Final Severance </a:t>
            </a:r>
            <a:r>
              <a:rPr lang="en-US" sz="1600" dirty="0"/>
              <a:t>from the Supplementary Decision </a:t>
            </a:r>
            <a:r>
              <a:rPr lang="en-US" sz="1400" dirty="0"/>
              <a:t>menu</a:t>
            </a:r>
          </a:p>
          <a:p>
            <a:pPr lvl="1"/>
            <a:endParaRPr lang="en-US" sz="1400" dirty="0"/>
          </a:p>
          <a:p>
            <a:pPr lvl="1"/>
            <a:r>
              <a:rPr lang="en-US" sz="1400" dirty="0"/>
              <a:t>DO NOT change Decision Basis or other information at this point.</a:t>
            </a:r>
          </a:p>
        </p:txBody>
      </p:sp>
    </p:spTree>
    <p:extLst>
      <p:ext uri="{BB962C8B-B14F-4D97-AF65-F5344CB8AC3E}">
        <p14:creationId xmlns:p14="http://schemas.microsoft.com/office/powerpoint/2010/main" val="1851754520"/>
      </p:ext>
    </p:extLst>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 Management</a:t>
            </a:r>
          </a:p>
        </p:txBody>
      </p:sp>
      <p:sp>
        <p:nvSpPr>
          <p:cNvPr id="4" name="Slide Number Placeholder 3"/>
          <p:cNvSpPr>
            <a:spLocks noGrp="1"/>
          </p:cNvSpPr>
          <p:nvPr>
            <p:ph type="sldNum" sz="quarter" idx="10"/>
          </p:nvPr>
        </p:nvSpPr>
        <p:spPr/>
        <p:txBody>
          <a:bodyPr/>
          <a:lstStyle/>
          <a:p>
            <a:fld id="{7C414AED-89CE-4A48-8B2B-1B3A5C68EA2A}" type="slidenum">
              <a:rPr lang="en-US" smtClean="0"/>
              <a:t>14</a:t>
            </a:fld>
            <a:endParaRPr lang="en-US" dirty="0"/>
          </a:p>
        </p:txBody>
      </p:sp>
      <p:sp>
        <p:nvSpPr>
          <p:cNvPr id="3" name="Content Placeholder 2"/>
          <p:cNvSpPr>
            <a:spLocks noGrp="1"/>
          </p:cNvSpPr>
          <p:nvPr>
            <p:ph idx="1"/>
          </p:nvPr>
        </p:nvSpPr>
        <p:spPr>
          <a:xfrm>
            <a:off x="2960267" y="3300901"/>
            <a:ext cx="7179053" cy="2888026"/>
          </a:xfrm>
          <a:solidFill>
            <a:schemeClr val="bg1"/>
          </a:solidFill>
        </p:spPr>
        <p:txBody>
          <a:bodyPr/>
          <a:lstStyle/>
          <a:p>
            <a:pPr marL="0" indent="0">
              <a:buNone/>
            </a:pPr>
            <a:r>
              <a:rPr lang="en-US" dirty="0"/>
              <a:t>Complete rating narrative</a:t>
            </a:r>
          </a:p>
          <a:p>
            <a:r>
              <a:rPr lang="en-US" dirty="0"/>
              <a:t>Narrative text (supplement as necessary)</a:t>
            </a:r>
          </a:p>
          <a:p>
            <a:r>
              <a:rPr lang="en-US" dirty="0"/>
              <a:t>Favorable findings</a:t>
            </a:r>
          </a:p>
          <a:p>
            <a:r>
              <a:rPr lang="en-US" dirty="0"/>
              <a:t>Reference laws</a:t>
            </a:r>
          </a:p>
          <a:p>
            <a:r>
              <a:rPr lang="en-US" dirty="0"/>
              <a:t>Include explanation of effective date</a:t>
            </a:r>
          </a:p>
        </p:txBody>
      </p:sp>
      <p:pic>
        <p:nvPicPr>
          <p:cNvPr id="7" name="Picture 6">
            <a:extLst>
              <a:ext uri="{FF2B5EF4-FFF2-40B4-BE49-F238E27FC236}">
                <a16:creationId xmlns:a16="http://schemas.microsoft.com/office/drawing/2014/main" id="{A26C2A6A-7D5F-4DB2-B473-034D230B292F}"/>
              </a:ext>
            </a:extLst>
          </p:cNvPr>
          <p:cNvPicPr>
            <a:picLocks noChangeAspect="1"/>
          </p:cNvPicPr>
          <p:nvPr/>
        </p:nvPicPr>
        <p:blipFill>
          <a:blip r:embed="rId2"/>
          <a:stretch>
            <a:fillRect/>
          </a:stretch>
        </p:blipFill>
        <p:spPr>
          <a:xfrm>
            <a:off x="481709" y="1424476"/>
            <a:ext cx="11630025" cy="1876425"/>
          </a:xfrm>
          <a:prstGeom prst="rect">
            <a:avLst/>
          </a:prstGeom>
        </p:spPr>
      </p:pic>
    </p:spTree>
    <p:extLst>
      <p:ext uri="{BB962C8B-B14F-4D97-AF65-F5344CB8AC3E}">
        <p14:creationId xmlns:p14="http://schemas.microsoft.com/office/powerpoint/2010/main" val="4231087818"/>
      </p:ext>
    </p:extLst>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Master Record</a:t>
            </a:r>
          </a:p>
        </p:txBody>
      </p:sp>
      <p:sp>
        <p:nvSpPr>
          <p:cNvPr id="4" name="Slide Number Placeholder 3"/>
          <p:cNvSpPr>
            <a:spLocks noGrp="1"/>
          </p:cNvSpPr>
          <p:nvPr>
            <p:ph type="sldNum" sz="quarter" idx="10"/>
          </p:nvPr>
        </p:nvSpPr>
        <p:spPr/>
        <p:txBody>
          <a:bodyPr/>
          <a:lstStyle/>
          <a:p>
            <a:fld id="{7C414AED-89CE-4A48-8B2B-1B3A5C68EA2A}" type="slidenum">
              <a:rPr lang="en-US" smtClean="0"/>
              <a:t>15</a:t>
            </a:fld>
            <a:endParaRPr lang="en-US" dirty="0"/>
          </a:p>
        </p:txBody>
      </p:sp>
      <p:pic>
        <p:nvPicPr>
          <p:cNvPr id="7" name="Picture 6">
            <a:extLst>
              <a:ext uri="{FF2B5EF4-FFF2-40B4-BE49-F238E27FC236}">
                <a16:creationId xmlns:a16="http://schemas.microsoft.com/office/drawing/2014/main" id="{4652264D-BC61-4851-BC47-3EB2C32F2AC9}"/>
              </a:ext>
            </a:extLst>
          </p:cNvPr>
          <p:cNvPicPr>
            <a:picLocks noChangeAspect="1"/>
          </p:cNvPicPr>
          <p:nvPr/>
        </p:nvPicPr>
        <p:blipFill>
          <a:blip r:embed="rId2"/>
          <a:stretch>
            <a:fillRect/>
          </a:stretch>
        </p:blipFill>
        <p:spPr>
          <a:xfrm>
            <a:off x="6423339" y="1743811"/>
            <a:ext cx="5768661" cy="4048048"/>
          </a:xfrm>
          <a:prstGeom prst="rect">
            <a:avLst/>
          </a:prstGeom>
        </p:spPr>
      </p:pic>
      <p:pic>
        <p:nvPicPr>
          <p:cNvPr id="5" name="Picture 4">
            <a:extLst>
              <a:ext uri="{FF2B5EF4-FFF2-40B4-BE49-F238E27FC236}">
                <a16:creationId xmlns:a16="http://schemas.microsoft.com/office/drawing/2014/main" id="{212A806D-81D0-45C4-B487-90D63AA8877B}"/>
              </a:ext>
            </a:extLst>
          </p:cNvPr>
          <p:cNvPicPr>
            <a:picLocks noChangeAspect="1"/>
          </p:cNvPicPr>
          <p:nvPr/>
        </p:nvPicPr>
        <p:blipFill>
          <a:blip r:embed="rId3"/>
          <a:stretch>
            <a:fillRect/>
          </a:stretch>
        </p:blipFill>
        <p:spPr>
          <a:xfrm>
            <a:off x="610500" y="1798967"/>
            <a:ext cx="5209298" cy="3937737"/>
          </a:xfrm>
          <a:prstGeom prst="rect">
            <a:avLst/>
          </a:prstGeom>
        </p:spPr>
      </p:pic>
      <p:sp>
        <p:nvSpPr>
          <p:cNvPr id="10" name="Oval 9">
            <a:extLst>
              <a:ext uri="{FF2B5EF4-FFF2-40B4-BE49-F238E27FC236}">
                <a16:creationId xmlns:a16="http://schemas.microsoft.com/office/drawing/2014/main" id="{C73A3E5E-2029-42CB-81E2-307228F962FD}"/>
              </a:ext>
            </a:extLst>
          </p:cNvPr>
          <p:cNvSpPr/>
          <p:nvPr/>
        </p:nvSpPr>
        <p:spPr bwMode="auto">
          <a:xfrm>
            <a:off x="814039" y="3230001"/>
            <a:ext cx="1538867" cy="762136"/>
          </a:xfrm>
          <a:prstGeom prst="ellipse">
            <a:avLst/>
          </a:prstGeom>
          <a:no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4085097640"/>
      </p:ext>
    </p:extLst>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Correct the Master Record</a:t>
            </a:r>
          </a:p>
        </p:txBody>
      </p:sp>
      <p:sp>
        <p:nvSpPr>
          <p:cNvPr id="3" name="Content Placeholder 2"/>
          <p:cNvSpPr>
            <a:spLocks noGrp="1"/>
          </p:cNvSpPr>
          <p:nvPr>
            <p:ph idx="1"/>
          </p:nvPr>
        </p:nvSpPr>
        <p:spPr>
          <a:xfrm>
            <a:off x="606903" y="1589518"/>
            <a:ext cx="4814761" cy="4691641"/>
          </a:xfrm>
        </p:spPr>
        <p:txBody>
          <a:bodyPr/>
          <a:lstStyle/>
          <a:p>
            <a:r>
              <a:rPr lang="en-US" sz="2400" dirty="0"/>
              <a:t>Return to the Master Record</a:t>
            </a:r>
          </a:p>
          <a:p>
            <a:pPr lvl="1"/>
            <a:r>
              <a:rPr lang="en-US" sz="2000" dirty="0"/>
              <a:t>Edit the severance issue on the </a:t>
            </a:r>
            <a:r>
              <a:rPr lang="en-US" sz="2000" i="1" dirty="0"/>
              <a:t>Disability Decision Information</a:t>
            </a:r>
            <a:r>
              <a:rPr lang="en-US" sz="2000" dirty="0"/>
              <a:t> screen</a:t>
            </a:r>
          </a:p>
          <a:p>
            <a:pPr lvl="2"/>
            <a:r>
              <a:rPr lang="en-US" sz="1800" i="1" dirty="0"/>
              <a:t>Decision</a:t>
            </a:r>
            <a:r>
              <a:rPr lang="en-US" sz="1800" dirty="0"/>
              <a:t> field:  change to </a:t>
            </a:r>
            <a:r>
              <a:rPr lang="en-US" sz="1800" i="1" dirty="0"/>
              <a:t>Not Service Connected</a:t>
            </a:r>
          </a:p>
          <a:p>
            <a:pPr marL="914400" lvl="2" indent="0">
              <a:buNone/>
            </a:pPr>
            <a:endParaRPr lang="en-US" sz="800" i="1" dirty="0"/>
          </a:p>
          <a:p>
            <a:pPr lvl="2"/>
            <a:r>
              <a:rPr lang="en-US" sz="1800" i="1" dirty="0"/>
              <a:t>Decision Basis </a:t>
            </a:r>
            <a:r>
              <a:rPr lang="en-US" sz="1800" dirty="0"/>
              <a:t>field:  change to </a:t>
            </a:r>
            <a:r>
              <a:rPr lang="en-US" sz="1800" i="1" dirty="0"/>
              <a:t>Not Incurred/Caused by Service </a:t>
            </a:r>
            <a:r>
              <a:rPr lang="en-US" sz="1800" dirty="0"/>
              <a:t>(or whatever basis is appropriate for the issue being addressed)</a:t>
            </a:r>
          </a:p>
          <a:p>
            <a:pPr marL="914400" lvl="2" indent="0">
              <a:buNone/>
            </a:pPr>
            <a:endParaRPr lang="en-US" sz="800" dirty="0"/>
          </a:p>
          <a:p>
            <a:pPr lvl="2"/>
            <a:r>
              <a:rPr lang="en-US" sz="1800" i="1" dirty="0"/>
              <a:t>Service</a:t>
            </a:r>
            <a:r>
              <a:rPr lang="en-US" sz="1800" dirty="0"/>
              <a:t> field:  re-enter appropriate service</a:t>
            </a:r>
          </a:p>
          <a:p>
            <a:pPr marL="914400" lvl="2" indent="0">
              <a:buNone/>
            </a:pPr>
            <a:endParaRPr lang="en-US" sz="800" dirty="0"/>
          </a:p>
          <a:p>
            <a:pPr lvl="1"/>
            <a:r>
              <a:rPr lang="en-US" sz="2200" dirty="0"/>
              <a:t>Save  make no other changes</a:t>
            </a:r>
          </a:p>
        </p:txBody>
      </p:sp>
      <p:sp>
        <p:nvSpPr>
          <p:cNvPr id="4" name="Slide Number Placeholder 3"/>
          <p:cNvSpPr>
            <a:spLocks noGrp="1"/>
          </p:cNvSpPr>
          <p:nvPr>
            <p:ph type="sldNum" sz="quarter" idx="10"/>
          </p:nvPr>
        </p:nvSpPr>
        <p:spPr/>
        <p:txBody>
          <a:bodyPr/>
          <a:lstStyle/>
          <a:p>
            <a:fld id="{7C414AED-89CE-4A48-8B2B-1B3A5C68EA2A}" type="slidenum">
              <a:rPr lang="en-US" smtClean="0"/>
              <a:t>16</a:t>
            </a:fld>
            <a:endParaRPr lang="en-US" dirty="0"/>
          </a:p>
        </p:txBody>
      </p:sp>
      <p:pic>
        <p:nvPicPr>
          <p:cNvPr id="6" name="Picture 5">
            <a:extLst>
              <a:ext uri="{FF2B5EF4-FFF2-40B4-BE49-F238E27FC236}">
                <a16:creationId xmlns:a16="http://schemas.microsoft.com/office/drawing/2014/main" id="{D0B03F15-618C-48BC-84FD-06A6FB700002}"/>
              </a:ext>
            </a:extLst>
          </p:cNvPr>
          <p:cNvPicPr>
            <a:picLocks noChangeAspect="1"/>
          </p:cNvPicPr>
          <p:nvPr/>
        </p:nvPicPr>
        <p:blipFill>
          <a:blip r:embed="rId2"/>
          <a:stretch>
            <a:fillRect/>
          </a:stretch>
        </p:blipFill>
        <p:spPr>
          <a:xfrm>
            <a:off x="5524383" y="1635830"/>
            <a:ext cx="6562725" cy="4181475"/>
          </a:xfrm>
          <a:prstGeom prst="rect">
            <a:avLst/>
          </a:prstGeom>
        </p:spPr>
      </p:pic>
    </p:spTree>
    <p:extLst>
      <p:ext uri="{BB962C8B-B14F-4D97-AF65-F5344CB8AC3E}">
        <p14:creationId xmlns:p14="http://schemas.microsoft.com/office/powerpoint/2010/main" val="739559235"/>
      </p:ext>
    </p:extLst>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Severance Narrative &amp; Codesheet</a:t>
            </a:r>
          </a:p>
        </p:txBody>
      </p:sp>
      <p:sp>
        <p:nvSpPr>
          <p:cNvPr id="4" name="Slide Number Placeholder 3"/>
          <p:cNvSpPr>
            <a:spLocks noGrp="1"/>
          </p:cNvSpPr>
          <p:nvPr>
            <p:ph type="sldNum" sz="quarter" idx="10"/>
          </p:nvPr>
        </p:nvSpPr>
        <p:spPr/>
        <p:txBody>
          <a:bodyPr/>
          <a:lstStyle/>
          <a:p>
            <a:fld id="{7C414AED-89CE-4A48-8B2B-1B3A5C68EA2A}" type="slidenum">
              <a:rPr lang="en-US" smtClean="0"/>
              <a:t>17</a:t>
            </a:fld>
            <a:endParaRPr lang="en-US" dirty="0"/>
          </a:p>
        </p:txBody>
      </p:sp>
      <p:pic>
        <p:nvPicPr>
          <p:cNvPr id="7" name="Picture 6">
            <a:extLst>
              <a:ext uri="{FF2B5EF4-FFF2-40B4-BE49-F238E27FC236}">
                <a16:creationId xmlns:a16="http://schemas.microsoft.com/office/drawing/2014/main" id="{293AAE05-542A-4964-9E3E-074E390F0D81}"/>
              </a:ext>
            </a:extLst>
          </p:cNvPr>
          <p:cNvPicPr>
            <a:picLocks noChangeAspect="1"/>
          </p:cNvPicPr>
          <p:nvPr/>
        </p:nvPicPr>
        <p:blipFill>
          <a:blip r:embed="rId2"/>
          <a:stretch>
            <a:fillRect/>
          </a:stretch>
        </p:blipFill>
        <p:spPr>
          <a:xfrm>
            <a:off x="502618" y="1557016"/>
            <a:ext cx="5889812" cy="3137647"/>
          </a:xfrm>
          <a:prstGeom prst="rect">
            <a:avLst/>
          </a:prstGeom>
        </p:spPr>
      </p:pic>
      <p:pic>
        <p:nvPicPr>
          <p:cNvPr id="9" name="Picture 8">
            <a:extLst>
              <a:ext uri="{FF2B5EF4-FFF2-40B4-BE49-F238E27FC236}">
                <a16:creationId xmlns:a16="http://schemas.microsoft.com/office/drawing/2014/main" id="{483F8E41-976E-4D89-839E-7F840376484D}"/>
              </a:ext>
            </a:extLst>
          </p:cNvPr>
          <p:cNvPicPr>
            <a:picLocks noChangeAspect="1"/>
          </p:cNvPicPr>
          <p:nvPr/>
        </p:nvPicPr>
        <p:blipFill>
          <a:blip r:embed="rId3"/>
          <a:stretch>
            <a:fillRect/>
          </a:stretch>
        </p:blipFill>
        <p:spPr>
          <a:xfrm>
            <a:off x="663729" y="4605455"/>
            <a:ext cx="5647860" cy="1759811"/>
          </a:xfrm>
          <a:prstGeom prst="rect">
            <a:avLst/>
          </a:prstGeom>
        </p:spPr>
      </p:pic>
      <p:pic>
        <p:nvPicPr>
          <p:cNvPr id="10" name="Picture 9">
            <a:extLst>
              <a:ext uri="{FF2B5EF4-FFF2-40B4-BE49-F238E27FC236}">
                <a16:creationId xmlns:a16="http://schemas.microsoft.com/office/drawing/2014/main" id="{8053696B-71C3-4A0B-9744-A125A0A9F130}"/>
              </a:ext>
            </a:extLst>
          </p:cNvPr>
          <p:cNvPicPr>
            <a:picLocks noChangeAspect="1"/>
          </p:cNvPicPr>
          <p:nvPr/>
        </p:nvPicPr>
        <p:blipFill>
          <a:blip r:embed="rId4"/>
          <a:stretch>
            <a:fillRect/>
          </a:stretch>
        </p:blipFill>
        <p:spPr>
          <a:xfrm>
            <a:off x="6392430" y="1650203"/>
            <a:ext cx="5372100" cy="4371975"/>
          </a:xfrm>
          <a:prstGeom prst="rect">
            <a:avLst/>
          </a:prstGeom>
        </p:spPr>
      </p:pic>
    </p:spTree>
    <p:extLst>
      <p:ext uri="{BB962C8B-B14F-4D97-AF65-F5344CB8AC3E}">
        <p14:creationId xmlns:p14="http://schemas.microsoft.com/office/powerpoint/2010/main" val="1709638737"/>
      </p:ext>
    </p:extLst>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2</a:t>
            </a:r>
          </a:p>
        </p:txBody>
      </p:sp>
      <p:sp>
        <p:nvSpPr>
          <p:cNvPr id="3" name="Content Placeholder 2"/>
          <p:cNvSpPr>
            <a:spLocks noGrp="1"/>
          </p:cNvSpPr>
          <p:nvPr>
            <p:ph idx="1"/>
          </p:nvPr>
        </p:nvSpPr>
        <p:spPr/>
        <p:txBody>
          <a:bodyPr/>
          <a:lstStyle/>
          <a:p>
            <a:r>
              <a:rPr lang="en-US" dirty="0"/>
              <a:t>Reduction affecting current payment</a:t>
            </a:r>
          </a:p>
          <a:p>
            <a:pPr lvl="1"/>
            <a:r>
              <a:rPr lang="en-US" dirty="0"/>
              <a:t>Facts:</a:t>
            </a:r>
          </a:p>
          <a:p>
            <a:pPr lvl="2"/>
            <a:r>
              <a:rPr lang="en-US" dirty="0"/>
              <a:t>Rating decision dated October 5, 2017, granted service connection for right knee patellofemoral syndrome at 20 percent effective January 12, 2017</a:t>
            </a:r>
          </a:p>
          <a:p>
            <a:pPr marL="914400" lvl="2" indent="0">
              <a:buNone/>
            </a:pPr>
            <a:endParaRPr lang="en-US" sz="1000" dirty="0"/>
          </a:p>
          <a:p>
            <a:pPr lvl="2"/>
            <a:r>
              <a:rPr lang="en-US" dirty="0"/>
              <a:t>A rating decision dated December 23, 2019 (with due process letter on the same date), properly identified a CUE for assigning an incorrect evaluation of 20 percent and proposed to reduce the evaluation to 10 percent</a:t>
            </a:r>
          </a:p>
          <a:p>
            <a:pPr lvl="3"/>
            <a:r>
              <a:rPr lang="en-US" dirty="0"/>
              <a:t>The current combined evaluation will be reduced from 20 to 10 percent</a:t>
            </a:r>
          </a:p>
          <a:p>
            <a:pPr marL="1371600" lvl="3" indent="0">
              <a:buNone/>
            </a:pPr>
            <a:endParaRPr lang="en-US" sz="1000" dirty="0"/>
          </a:p>
          <a:p>
            <a:pPr lvl="2"/>
            <a:r>
              <a:rPr lang="en-US" dirty="0"/>
              <a:t>Today we are rating the final reduction</a:t>
            </a:r>
          </a:p>
          <a:p>
            <a:pPr lvl="1"/>
            <a:endParaRPr lang="en-US" dirty="0"/>
          </a:p>
        </p:txBody>
      </p:sp>
      <p:sp>
        <p:nvSpPr>
          <p:cNvPr id="4" name="Slide Number Placeholder 3"/>
          <p:cNvSpPr>
            <a:spLocks noGrp="1"/>
          </p:cNvSpPr>
          <p:nvPr>
            <p:ph type="sldNum" sz="quarter" idx="10"/>
          </p:nvPr>
        </p:nvSpPr>
        <p:spPr/>
        <p:txBody>
          <a:bodyPr/>
          <a:lstStyle/>
          <a:p>
            <a:fld id="{7C414AED-89CE-4A48-8B2B-1B3A5C68EA2A}" type="slidenum">
              <a:rPr lang="en-US" smtClean="0"/>
              <a:t>18</a:t>
            </a:fld>
            <a:endParaRPr lang="en-US" dirty="0"/>
          </a:p>
        </p:txBody>
      </p:sp>
    </p:spTree>
    <p:extLst>
      <p:ext uri="{BB962C8B-B14F-4D97-AF65-F5344CB8AC3E}">
        <p14:creationId xmlns:p14="http://schemas.microsoft.com/office/powerpoint/2010/main" val="47905306"/>
      </p:ext>
    </p:extLst>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Issue/Decision</a:t>
            </a:r>
          </a:p>
        </p:txBody>
      </p:sp>
      <p:sp>
        <p:nvSpPr>
          <p:cNvPr id="4" name="Slide Number Placeholder 3"/>
          <p:cNvSpPr>
            <a:spLocks noGrp="1"/>
          </p:cNvSpPr>
          <p:nvPr>
            <p:ph type="sldNum" sz="quarter" idx="10"/>
          </p:nvPr>
        </p:nvSpPr>
        <p:spPr/>
        <p:txBody>
          <a:bodyPr/>
          <a:lstStyle/>
          <a:p>
            <a:fld id="{7C414AED-89CE-4A48-8B2B-1B3A5C68EA2A}" type="slidenum">
              <a:rPr lang="en-US" smtClean="0"/>
              <a:t>19</a:t>
            </a:fld>
            <a:endParaRPr lang="en-US" dirty="0"/>
          </a:p>
        </p:txBody>
      </p:sp>
      <p:sp>
        <p:nvSpPr>
          <p:cNvPr id="3" name="Content Placeholder 2"/>
          <p:cNvSpPr>
            <a:spLocks noGrp="1"/>
          </p:cNvSpPr>
          <p:nvPr>
            <p:ph idx="1"/>
          </p:nvPr>
        </p:nvSpPr>
        <p:spPr>
          <a:xfrm>
            <a:off x="992459" y="3293822"/>
            <a:ext cx="10080702" cy="2210964"/>
          </a:xfrm>
          <a:solidFill>
            <a:schemeClr val="bg1"/>
          </a:solidFill>
        </p:spPr>
        <p:txBody>
          <a:bodyPr/>
          <a:lstStyle/>
          <a:p>
            <a:pPr marL="0" indent="0">
              <a:buNone/>
            </a:pPr>
            <a:r>
              <a:rPr lang="en-US" dirty="0"/>
              <a:t>Generate the final reduction in </a:t>
            </a:r>
            <a:r>
              <a:rPr lang="en-US" i="1" dirty="0"/>
              <a:t>Issue Management </a:t>
            </a:r>
            <a:r>
              <a:rPr lang="en-US" dirty="0"/>
              <a:t>in VBMS-R as normal, adding necessary effective date and reasons and basis information and applicable laws, as needed</a:t>
            </a:r>
          </a:p>
        </p:txBody>
      </p:sp>
      <p:pic>
        <p:nvPicPr>
          <p:cNvPr id="5" name="Picture 4">
            <a:extLst>
              <a:ext uri="{FF2B5EF4-FFF2-40B4-BE49-F238E27FC236}">
                <a16:creationId xmlns:a16="http://schemas.microsoft.com/office/drawing/2014/main" id="{DFFBF9EF-0CE9-4D1A-B0B5-1B766B85E71C}"/>
              </a:ext>
            </a:extLst>
          </p:cNvPr>
          <p:cNvPicPr>
            <a:picLocks noChangeAspect="1"/>
          </p:cNvPicPr>
          <p:nvPr/>
        </p:nvPicPr>
        <p:blipFill>
          <a:blip r:embed="rId2"/>
          <a:stretch>
            <a:fillRect/>
          </a:stretch>
        </p:blipFill>
        <p:spPr>
          <a:xfrm>
            <a:off x="514350" y="1556870"/>
            <a:ext cx="11677650" cy="1643529"/>
          </a:xfrm>
          <a:prstGeom prst="rect">
            <a:avLst/>
          </a:prstGeom>
        </p:spPr>
      </p:pic>
    </p:spTree>
    <p:extLst>
      <p:ext uri="{BB962C8B-B14F-4D97-AF65-F5344CB8AC3E}">
        <p14:creationId xmlns:p14="http://schemas.microsoft.com/office/powerpoint/2010/main" val="2456917583"/>
      </p:ext>
    </p:extLst>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Must the Codesheet Be Corrected?</a:t>
            </a:r>
          </a:p>
        </p:txBody>
      </p:sp>
      <p:sp>
        <p:nvSpPr>
          <p:cNvPr id="3" name="Content Placeholder 2"/>
          <p:cNvSpPr>
            <a:spLocks noGrp="1"/>
          </p:cNvSpPr>
          <p:nvPr>
            <p:ph idx="1"/>
          </p:nvPr>
        </p:nvSpPr>
        <p:spPr>
          <a:xfrm>
            <a:off x="847165" y="1589518"/>
            <a:ext cx="4741340" cy="4691641"/>
          </a:xfrm>
        </p:spPr>
        <p:txBody>
          <a:bodyPr/>
          <a:lstStyle/>
          <a:p>
            <a:r>
              <a:rPr lang="en-US" dirty="0"/>
              <a:t>Without correction of the codesheet, the combined evaluation continues to be calculated as 30 percent from January 12, 2017, for this and future decisions</a:t>
            </a:r>
          </a:p>
        </p:txBody>
      </p:sp>
      <p:sp>
        <p:nvSpPr>
          <p:cNvPr id="4" name="Slide Number Placeholder 3"/>
          <p:cNvSpPr>
            <a:spLocks noGrp="1"/>
          </p:cNvSpPr>
          <p:nvPr>
            <p:ph type="sldNum" sz="quarter" idx="10"/>
          </p:nvPr>
        </p:nvSpPr>
        <p:spPr/>
        <p:txBody>
          <a:bodyPr/>
          <a:lstStyle/>
          <a:p>
            <a:fld id="{7C414AED-89CE-4A48-8B2B-1B3A5C68EA2A}" type="slidenum">
              <a:rPr lang="en-US" smtClean="0"/>
              <a:t>20</a:t>
            </a:fld>
            <a:endParaRPr lang="en-US" dirty="0"/>
          </a:p>
        </p:txBody>
      </p:sp>
      <p:pic>
        <p:nvPicPr>
          <p:cNvPr id="5" name="Picture 4">
            <a:extLst>
              <a:ext uri="{FF2B5EF4-FFF2-40B4-BE49-F238E27FC236}">
                <a16:creationId xmlns:a16="http://schemas.microsoft.com/office/drawing/2014/main" id="{2ACE8256-1538-4DFB-B966-2DE9F1067FEF}"/>
              </a:ext>
            </a:extLst>
          </p:cNvPr>
          <p:cNvPicPr>
            <a:picLocks noChangeAspect="1"/>
          </p:cNvPicPr>
          <p:nvPr/>
        </p:nvPicPr>
        <p:blipFill>
          <a:blip r:embed="rId2"/>
          <a:stretch>
            <a:fillRect/>
          </a:stretch>
        </p:blipFill>
        <p:spPr>
          <a:xfrm>
            <a:off x="6603496" y="2232025"/>
            <a:ext cx="5095875" cy="4124325"/>
          </a:xfrm>
          <a:prstGeom prst="rect">
            <a:avLst/>
          </a:prstGeom>
        </p:spPr>
      </p:pic>
      <p:sp>
        <p:nvSpPr>
          <p:cNvPr id="6" name="Content Placeholder 2">
            <a:extLst>
              <a:ext uri="{FF2B5EF4-FFF2-40B4-BE49-F238E27FC236}">
                <a16:creationId xmlns:a16="http://schemas.microsoft.com/office/drawing/2014/main" id="{71837BB8-B216-4B2E-A81F-D2059B31FFA3}"/>
              </a:ext>
            </a:extLst>
          </p:cNvPr>
          <p:cNvSpPr txBox="1">
            <a:spLocks/>
          </p:cNvSpPr>
          <p:nvPr/>
        </p:nvSpPr>
        <p:spPr bwMode="auto">
          <a:xfrm>
            <a:off x="6923670" y="1636521"/>
            <a:ext cx="4371606" cy="59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1" fontAlgn="base" hangingPunct="1">
              <a:spcBef>
                <a:spcPct val="20000"/>
              </a:spcBef>
              <a:spcAft>
                <a:spcPct val="0"/>
              </a:spcAft>
              <a:buClr>
                <a:srgbClr val="FF0000"/>
              </a:buClr>
              <a:buFont typeface="Arial" panose="020B0604020202020204" pitchFamily="34" charset="0"/>
              <a:buChar char="•"/>
              <a:defRPr sz="2800">
                <a:solidFill>
                  <a:srgbClr val="000066"/>
                </a:solidFill>
                <a:latin typeface="Arial" panose="020B0604020202020204" pitchFamily="34" charset="0"/>
                <a:ea typeface="+mn-ea"/>
                <a:cs typeface="Arial" panose="020B0604020202020204" pitchFamily="34" charset="0"/>
              </a:defRPr>
            </a:lvl1pPr>
            <a:lvl2pPr marL="860425" indent="-403225" algn="l" rtl="0" eaLnBrk="1" fontAlgn="base" hangingPunct="1">
              <a:spcBef>
                <a:spcPct val="20000"/>
              </a:spcBef>
              <a:spcAft>
                <a:spcPct val="0"/>
              </a:spcAft>
              <a:buClr>
                <a:srgbClr val="FF0000"/>
              </a:buClr>
              <a:buFont typeface="Wingdings" panose="05000000000000000000" pitchFamily="2" charset="2"/>
              <a:buChar char="Ø"/>
              <a:defRPr sz="2400">
                <a:solidFill>
                  <a:srgbClr val="000066"/>
                </a:solidFill>
                <a:latin typeface="Arial" panose="020B0604020202020204" pitchFamily="34" charset="0"/>
                <a:cs typeface="Arial" panose="020B0604020202020204" pitchFamily="34" charset="0"/>
              </a:defRPr>
            </a:lvl2pPr>
            <a:lvl3pPr marL="1258888" indent="-344488" algn="l" rtl="0" eaLnBrk="1" fontAlgn="base" hangingPunct="1">
              <a:spcBef>
                <a:spcPct val="20000"/>
              </a:spcBef>
              <a:spcAft>
                <a:spcPct val="0"/>
              </a:spcAft>
              <a:buClr>
                <a:srgbClr val="CC0000"/>
              </a:buClr>
              <a:buFont typeface="Wingdings" panose="05000000000000000000" pitchFamily="2" charset="2"/>
              <a:buChar char="ü"/>
              <a:defRPr sz="2000">
                <a:solidFill>
                  <a:srgbClr val="000066"/>
                </a:solidFill>
                <a:latin typeface="Arial" panose="020B0604020202020204" pitchFamily="34" charset="0"/>
                <a:cs typeface="Arial" panose="020B0604020202020204" pitchFamily="34" charset="0"/>
              </a:defRPr>
            </a:lvl3pPr>
            <a:lvl4pPr marL="1709738" indent="-338138" algn="l" rtl="0" eaLnBrk="1" fontAlgn="base" hangingPunct="1">
              <a:spcBef>
                <a:spcPct val="20000"/>
              </a:spcBef>
              <a:spcAft>
                <a:spcPct val="0"/>
              </a:spcAft>
              <a:buClr>
                <a:srgbClr val="FF0000"/>
              </a:buClr>
              <a:buFont typeface="Wingdings" panose="05000000000000000000" pitchFamily="2" charset="2"/>
              <a:buChar char="v"/>
              <a:defRPr sz="2000">
                <a:solidFill>
                  <a:srgbClr val="000066"/>
                </a:solidFill>
                <a:latin typeface="Arial" panose="020B0604020202020204" pitchFamily="34" charset="0"/>
                <a:cs typeface="Arial" panose="020B0604020202020204" pitchFamily="34" charset="0"/>
              </a:defRPr>
            </a:lvl4pPr>
            <a:lvl5pPr marL="2173288" indent="-344488" algn="l" rtl="0" eaLnBrk="1" fontAlgn="base" hangingPunct="1">
              <a:spcBef>
                <a:spcPct val="20000"/>
              </a:spcBef>
              <a:spcAft>
                <a:spcPct val="0"/>
              </a:spcAft>
              <a:buClr>
                <a:srgbClr val="FF0000"/>
              </a:buClr>
              <a:buFont typeface="Courier New" panose="02070309020205020404" pitchFamily="49" charset="0"/>
              <a:buChar char="o"/>
              <a:defRPr sz="2000">
                <a:solidFill>
                  <a:srgbClr val="000066"/>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a:solidFill>
                  <a:srgbClr val="1D3275"/>
                </a:solidFill>
                <a:latin typeface="+mn-lt"/>
              </a:defRPr>
            </a:lvl6pPr>
            <a:lvl7pPr marL="2971800" indent="-228600" algn="l" rtl="0" eaLnBrk="1" fontAlgn="base" hangingPunct="1">
              <a:spcBef>
                <a:spcPct val="20000"/>
              </a:spcBef>
              <a:spcAft>
                <a:spcPct val="0"/>
              </a:spcAft>
              <a:buChar char="»"/>
              <a:defRPr>
                <a:solidFill>
                  <a:srgbClr val="1D3275"/>
                </a:solidFill>
                <a:latin typeface="+mn-lt"/>
              </a:defRPr>
            </a:lvl7pPr>
            <a:lvl8pPr marL="3429000" indent="-228600" algn="l" rtl="0" eaLnBrk="1" fontAlgn="base" hangingPunct="1">
              <a:spcBef>
                <a:spcPct val="20000"/>
              </a:spcBef>
              <a:spcAft>
                <a:spcPct val="0"/>
              </a:spcAft>
              <a:buChar char="»"/>
              <a:defRPr>
                <a:solidFill>
                  <a:srgbClr val="1D3275"/>
                </a:solidFill>
                <a:latin typeface="+mn-lt"/>
              </a:defRPr>
            </a:lvl8pPr>
            <a:lvl9pPr marL="3886200" indent="-228600" algn="l" rtl="0" eaLnBrk="1" fontAlgn="base" hangingPunct="1">
              <a:spcBef>
                <a:spcPct val="20000"/>
              </a:spcBef>
              <a:spcAft>
                <a:spcPct val="0"/>
              </a:spcAft>
              <a:buChar char="»"/>
              <a:defRPr>
                <a:solidFill>
                  <a:srgbClr val="1D3275"/>
                </a:solidFill>
                <a:latin typeface="+mn-lt"/>
              </a:defRPr>
            </a:lvl9pPr>
          </a:lstStyle>
          <a:p>
            <a:pPr marL="0" indent="0">
              <a:buNone/>
            </a:pPr>
            <a:r>
              <a:rPr lang="en-US" kern="0" dirty="0">
                <a:solidFill>
                  <a:srgbClr val="FF0000"/>
                </a:solidFill>
              </a:rPr>
              <a:t>Incorrect Codesheet</a:t>
            </a:r>
          </a:p>
        </p:txBody>
      </p:sp>
    </p:spTree>
    <p:extLst>
      <p:ext uri="{BB962C8B-B14F-4D97-AF65-F5344CB8AC3E}">
        <p14:creationId xmlns:p14="http://schemas.microsoft.com/office/powerpoint/2010/main" val="2557831325"/>
      </p:ext>
    </p:extLst>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Procedures to Correct the Codesheet</a:t>
            </a:r>
          </a:p>
        </p:txBody>
      </p:sp>
      <p:sp>
        <p:nvSpPr>
          <p:cNvPr id="3" name="Content Placeholder 2"/>
          <p:cNvSpPr>
            <a:spLocks noGrp="1"/>
          </p:cNvSpPr>
          <p:nvPr>
            <p:ph idx="1"/>
          </p:nvPr>
        </p:nvSpPr>
        <p:spPr/>
        <p:txBody>
          <a:bodyPr/>
          <a:lstStyle/>
          <a:p>
            <a:r>
              <a:rPr lang="en-US" dirty="0"/>
              <a:t>Return to the Master Record</a:t>
            </a:r>
          </a:p>
          <a:p>
            <a:pPr marL="0" indent="0">
              <a:buNone/>
            </a:pPr>
            <a:endParaRPr lang="en-US" sz="2000" dirty="0"/>
          </a:p>
          <a:p>
            <a:r>
              <a:rPr lang="en-US" dirty="0"/>
              <a:t>Edit the Diagnosis Information screen to change the effective date of the 10 percent evaluation to reflect the correct effective date for the decision had the error not occurred (January 12, 2017)</a:t>
            </a:r>
          </a:p>
          <a:p>
            <a:pPr marL="0" indent="0">
              <a:buNone/>
            </a:pPr>
            <a:endParaRPr lang="en-US" sz="2000" dirty="0"/>
          </a:p>
          <a:p>
            <a:r>
              <a:rPr lang="en-US" dirty="0"/>
              <a:t>Delete the information from the </a:t>
            </a:r>
            <a:r>
              <a:rPr lang="en-US" i="1" dirty="0"/>
              <a:t>Supplementary Decision</a:t>
            </a:r>
            <a:r>
              <a:rPr lang="en-US" dirty="0"/>
              <a:t> field</a:t>
            </a:r>
          </a:p>
          <a:p>
            <a:pPr marL="0" indent="0">
              <a:buNone/>
            </a:pPr>
            <a:endParaRPr lang="en-US" sz="2000" dirty="0"/>
          </a:p>
          <a:p>
            <a:r>
              <a:rPr lang="en-US" dirty="0"/>
              <a:t>Delete the 20 percent evaluation information</a:t>
            </a:r>
          </a:p>
        </p:txBody>
      </p:sp>
      <p:sp>
        <p:nvSpPr>
          <p:cNvPr id="4" name="Slide Number Placeholder 3"/>
          <p:cNvSpPr>
            <a:spLocks noGrp="1"/>
          </p:cNvSpPr>
          <p:nvPr>
            <p:ph type="sldNum" sz="quarter" idx="10"/>
          </p:nvPr>
        </p:nvSpPr>
        <p:spPr/>
        <p:txBody>
          <a:bodyPr/>
          <a:lstStyle/>
          <a:p>
            <a:fld id="{7C414AED-89CE-4A48-8B2B-1B3A5C68EA2A}" type="slidenum">
              <a:rPr lang="en-US" smtClean="0"/>
              <a:t>21</a:t>
            </a:fld>
            <a:endParaRPr lang="en-US" dirty="0"/>
          </a:p>
        </p:txBody>
      </p:sp>
    </p:spTree>
    <p:extLst>
      <p:ext uri="{BB962C8B-B14F-4D97-AF65-F5344CB8AC3E}">
        <p14:creationId xmlns:p14="http://schemas.microsoft.com/office/powerpoint/2010/main" val="2942077538"/>
      </p:ext>
    </p:extLst>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Corrected Codesheet</a:t>
            </a:r>
          </a:p>
        </p:txBody>
      </p:sp>
      <p:sp>
        <p:nvSpPr>
          <p:cNvPr id="3" name="Content Placeholder 2"/>
          <p:cNvSpPr>
            <a:spLocks noGrp="1"/>
          </p:cNvSpPr>
          <p:nvPr>
            <p:ph idx="1"/>
          </p:nvPr>
        </p:nvSpPr>
        <p:spPr>
          <a:xfrm>
            <a:off x="847164" y="1589518"/>
            <a:ext cx="5480807" cy="4691641"/>
          </a:xfrm>
        </p:spPr>
        <p:txBody>
          <a:bodyPr/>
          <a:lstStyle/>
          <a:p>
            <a:r>
              <a:rPr lang="en-US" dirty="0"/>
              <a:t>Following correction of</a:t>
            </a:r>
            <a:br>
              <a:rPr lang="en-US" dirty="0"/>
            </a:br>
            <a:r>
              <a:rPr lang="en-US" dirty="0"/>
              <a:t>the Master Record </a:t>
            </a:r>
          </a:p>
          <a:p>
            <a:pPr lvl="1"/>
            <a:r>
              <a:rPr lang="en-US" dirty="0"/>
              <a:t>the narrative will continue to generate with the proper notification for the Veteran, and</a:t>
            </a:r>
          </a:p>
          <a:p>
            <a:pPr lvl="1"/>
            <a:r>
              <a:rPr lang="en-US" dirty="0"/>
              <a:t>the codesheet will generate with the CUE corrected and proper combined evaluation information</a:t>
            </a:r>
          </a:p>
        </p:txBody>
      </p:sp>
      <p:sp>
        <p:nvSpPr>
          <p:cNvPr id="4" name="Slide Number Placeholder 3"/>
          <p:cNvSpPr>
            <a:spLocks noGrp="1"/>
          </p:cNvSpPr>
          <p:nvPr>
            <p:ph type="sldNum" sz="quarter" idx="10"/>
          </p:nvPr>
        </p:nvSpPr>
        <p:spPr/>
        <p:txBody>
          <a:bodyPr/>
          <a:lstStyle/>
          <a:p>
            <a:fld id="{7C414AED-89CE-4A48-8B2B-1B3A5C68EA2A}" type="slidenum">
              <a:rPr lang="en-US" smtClean="0"/>
              <a:t>22</a:t>
            </a:fld>
            <a:endParaRPr lang="en-US" dirty="0"/>
          </a:p>
        </p:txBody>
      </p:sp>
      <p:pic>
        <p:nvPicPr>
          <p:cNvPr id="5" name="Picture 4">
            <a:extLst>
              <a:ext uri="{FF2B5EF4-FFF2-40B4-BE49-F238E27FC236}">
                <a16:creationId xmlns:a16="http://schemas.microsoft.com/office/drawing/2014/main" id="{916293EF-EB13-469A-AD5E-C801FABF877F}"/>
              </a:ext>
            </a:extLst>
          </p:cNvPr>
          <p:cNvPicPr>
            <a:picLocks noChangeAspect="1"/>
          </p:cNvPicPr>
          <p:nvPr/>
        </p:nvPicPr>
        <p:blipFill>
          <a:blip r:embed="rId2"/>
          <a:stretch>
            <a:fillRect/>
          </a:stretch>
        </p:blipFill>
        <p:spPr>
          <a:xfrm>
            <a:off x="7004011" y="1719262"/>
            <a:ext cx="4562475" cy="3419475"/>
          </a:xfrm>
          <a:prstGeom prst="rect">
            <a:avLst/>
          </a:prstGeom>
        </p:spPr>
      </p:pic>
    </p:spTree>
    <p:extLst>
      <p:ext uri="{BB962C8B-B14F-4D97-AF65-F5344CB8AC3E}">
        <p14:creationId xmlns:p14="http://schemas.microsoft.com/office/powerpoint/2010/main" val="2731743219"/>
      </p:ext>
    </p:extLst>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3</a:t>
            </a:r>
          </a:p>
        </p:txBody>
      </p:sp>
      <p:sp>
        <p:nvSpPr>
          <p:cNvPr id="3" name="Content Placeholder 2"/>
          <p:cNvSpPr>
            <a:spLocks noGrp="1"/>
          </p:cNvSpPr>
          <p:nvPr>
            <p:ph idx="1"/>
          </p:nvPr>
        </p:nvSpPr>
        <p:spPr>
          <a:xfrm>
            <a:off x="847165" y="1589518"/>
            <a:ext cx="11218060" cy="4691641"/>
          </a:xfrm>
        </p:spPr>
        <p:txBody>
          <a:bodyPr/>
          <a:lstStyle/>
          <a:p>
            <a:r>
              <a:rPr lang="en-US" dirty="0"/>
              <a:t>Past reduction not affecting current payment</a:t>
            </a:r>
          </a:p>
          <a:p>
            <a:pPr lvl="1"/>
            <a:r>
              <a:rPr lang="en-US" dirty="0"/>
              <a:t>Facts</a:t>
            </a:r>
          </a:p>
          <a:p>
            <a:pPr lvl="2"/>
            <a:r>
              <a:rPr lang="en-US" sz="1600" dirty="0"/>
              <a:t>A prior rating decision granted service connection for residuals of left elbow fracture with a 20 percent evaluation assigned effective July 9, 2017</a:t>
            </a:r>
          </a:p>
          <a:p>
            <a:pPr lvl="3"/>
            <a:r>
              <a:rPr lang="en-US" sz="1600" dirty="0"/>
              <a:t>This was the Veteran’s only service-connected disability at that time</a:t>
            </a:r>
          </a:p>
          <a:p>
            <a:pPr lvl="3"/>
            <a:r>
              <a:rPr lang="en-US" sz="1600" dirty="0"/>
              <a:t>Thereafter, a rating decision dated June 15, 2019, granted service connection for PTSD with a 50 percent evaluation effective March 22, 2019</a:t>
            </a:r>
          </a:p>
          <a:p>
            <a:pPr marL="1371600" lvl="3" indent="0">
              <a:buNone/>
            </a:pPr>
            <a:endParaRPr lang="en-US" sz="1000" dirty="0"/>
          </a:p>
          <a:p>
            <a:pPr lvl="2"/>
            <a:r>
              <a:rPr lang="en-US" sz="1600" dirty="0"/>
              <a:t>A rating decision and due process notification dated December 15, 2019, properly proposed to reduce the elbow disability’s 20 percent evaluation to 10 percent</a:t>
            </a:r>
          </a:p>
          <a:p>
            <a:pPr lvl="3"/>
            <a:r>
              <a:rPr lang="en-US" sz="1600" dirty="0"/>
              <a:t>If this reduction occurs, the combined evaluation will be 10 percent from July 9, 2017 to March 22, 2019</a:t>
            </a:r>
          </a:p>
          <a:p>
            <a:pPr lvl="3"/>
            <a:r>
              <a:rPr lang="en-US" sz="1600" dirty="0"/>
              <a:t>Sixty percent will continue from March 22, 2019</a:t>
            </a:r>
          </a:p>
          <a:p>
            <a:pPr marL="1371600" lvl="3" indent="0">
              <a:buNone/>
            </a:pPr>
            <a:endParaRPr lang="en-US" sz="1000" dirty="0"/>
          </a:p>
          <a:p>
            <a:pPr lvl="2"/>
            <a:r>
              <a:rPr lang="en-US" sz="1600" dirty="0"/>
              <a:t>We are completing the final reduction rating today</a:t>
            </a:r>
          </a:p>
        </p:txBody>
      </p:sp>
      <p:sp>
        <p:nvSpPr>
          <p:cNvPr id="4" name="Slide Number Placeholder 3"/>
          <p:cNvSpPr>
            <a:spLocks noGrp="1"/>
          </p:cNvSpPr>
          <p:nvPr>
            <p:ph type="sldNum" sz="quarter" idx="10"/>
          </p:nvPr>
        </p:nvSpPr>
        <p:spPr/>
        <p:txBody>
          <a:bodyPr/>
          <a:lstStyle/>
          <a:p>
            <a:fld id="{7C414AED-89CE-4A48-8B2B-1B3A5C68EA2A}" type="slidenum">
              <a:rPr lang="en-US" smtClean="0"/>
              <a:t>23</a:t>
            </a:fld>
            <a:endParaRPr lang="en-US" dirty="0"/>
          </a:p>
        </p:txBody>
      </p:sp>
    </p:spTree>
    <p:extLst>
      <p:ext uri="{BB962C8B-B14F-4D97-AF65-F5344CB8AC3E}">
        <p14:creationId xmlns:p14="http://schemas.microsoft.com/office/powerpoint/2010/main" val="3361433304"/>
      </p:ext>
    </p:extLst>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 Generated Language</a:t>
            </a:r>
          </a:p>
        </p:txBody>
      </p:sp>
      <p:sp>
        <p:nvSpPr>
          <p:cNvPr id="3" name="Content Placeholder 2"/>
          <p:cNvSpPr>
            <a:spLocks noGrp="1"/>
          </p:cNvSpPr>
          <p:nvPr>
            <p:ph idx="1"/>
          </p:nvPr>
        </p:nvSpPr>
        <p:spPr>
          <a:xfrm>
            <a:off x="847165" y="4114800"/>
            <a:ext cx="10945906" cy="2166359"/>
          </a:xfrm>
        </p:spPr>
        <p:txBody>
          <a:bodyPr/>
          <a:lstStyle/>
          <a:p>
            <a:r>
              <a:rPr lang="en-US" dirty="0"/>
              <a:t>There is no perfect way to enter this decision in VBMS-R</a:t>
            </a:r>
          </a:p>
          <a:p>
            <a:pPr lvl="1"/>
            <a:r>
              <a:rPr lang="en-US" dirty="0"/>
              <a:t>Entered here as final reduction effective July 9, 2017, to generate CUE language</a:t>
            </a:r>
          </a:p>
          <a:p>
            <a:pPr marL="457200" lvl="1" indent="0">
              <a:buNone/>
            </a:pPr>
            <a:endParaRPr lang="en-US" sz="1000" dirty="0"/>
          </a:p>
          <a:p>
            <a:pPr lvl="1"/>
            <a:r>
              <a:rPr lang="en-US" dirty="0"/>
              <a:t>Edit generated language to provide proper information</a:t>
            </a:r>
          </a:p>
        </p:txBody>
      </p:sp>
      <p:sp>
        <p:nvSpPr>
          <p:cNvPr id="4" name="Slide Number Placeholder 3"/>
          <p:cNvSpPr>
            <a:spLocks noGrp="1"/>
          </p:cNvSpPr>
          <p:nvPr>
            <p:ph type="sldNum" sz="quarter" idx="10"/>
          </p:nvPr>
        </p:nvSpPr>
        <p:spPr/>
        <p:txBody>
          <a:bodyPr/>
          <a:lstStyle/>
          <a:p>
            <a:fld id="{7C414AED-89CE-4A48-8B2B-1B3A5C68EA2A}" type="slidenum">
              <a:rPr lang="en-US" smtClean="0"/>
              <a:t>24</a:t>
            </a:fld>
            <a:endParaRPr lang="en-US" dirty="0"/>
          </a:p>
        </p:txBody>
      </p:sp>
      <p:pic>
        <p:nvPicPr>
          <p:cNvPr id="5" name="Picture 4">
            <a:extLst>
              <a:ext uri="{FF2B5EF4-FFF2-40B4-BE49-F238E27FC236}">
                <a16:creationId xmlns:a16="http://schemas.microsoft.com/office/drawing/2014/main" id="{3BB71B9A-0C37-4FCA-AFA2-05D55B600EC7}"/>
              </a:ext>
            </a:extLst>
          </p:cNvPr>
          <p:cNvPicPr>
            <a:picLocks noChangeAspect="1"/>
          </p:cNvPicPr>
          <p:nvPr/>
        </p:nvPicPr>
        <p:blipFill>
          <a:blip r:embed="rId2"/>
          <a:stretch>
            <a:fillRect/>
          </a:stretch>
        </p:blipFill>
        <p:spPr>
          <a:xfrm>
            <a:off x="1226634" y="1399235"/>
            <a:ext cx="9902283" cy="2618467"/>
          </a:xfrm>
          <a:prstGeom prst="rect">
            <a:avLst/>
          </a:prstGeom>
        </p:spPr>
      </p:pic>
    </p:spTree>
    <p:extLst>
      <p:ext uri="{BB962C8B-B14F-4D97-AF65-F5344CB8AC3E}">
        <p14:creationId xmlns:p14="http://schemas.microsoft.com/office/powerpoint/2010/main" val="1907224081"/>
      </p:ext>
    </p:extLst>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Provide Correct Information in the Narrative</a:t>
            </a:r>
          </a:p>
        </p:txBody>
      </p:sp>
      <p:sp>
        <p:nvSpPr>
          <p:cNvPr id="3" name="Content Placeholder 2"/>
          <p:cNvSpPr>
            <a:spLocks noGrp="1"/>
          </p:cNvSpPr>
          <p:nvPr>
            <p:ph idx="1"/>
          </p:nvPr>
        </p:nvSpPr>
        <p:spPr>
          <a:xfrm>
            <a:off x="847165" y="4379528"/>
            <a:ext cx="10945906" cy="1976822"/>
          </a:xfrm>
        </p:spPr>
        <p:txBody>
          <a:bodyPr/>
          <a:lstStyle/>
          <a:p>
            <a:pPr marL="0" indent="0">
              <a:buNone/>
            </a:pPr>
            <a:r>
              <a:rPr lang="en-US" dirty="0">
                <a:solidFill>
                  <a:srgbClr val="002060"/>
                </a:solidFill>
              </a:rPr>
              <a:t>Suggestions:</a:t>
            </a:r>
          </a:p>
          <a:p>
            <a:pPr lvl="1"/>
            <a:r>
              <a:rPr lang="en-US" dirty="0">
                <a:solidFill>
                  <a:srgbClr val="002060"/>
                </a:solidFill>
              </a:rPr>
              <a:t>Leave discussion of payments to the notification letter</a:t>
            </a:r>
          </a:p>
          <a:p>
            <a:pPr marL="457200" lvl="1" indent="0">
              <a:buNone/>
            </a:pPr>
            <a:endParaRPr lang="en-US" sz="1000" dirty="0">
              <a:solidFill>
                <a:srgbClr val="002060"/>
              </a:solidFill>
            </a:endParaRPr>
          </a:p>
          <a:p>
            <a:pPr lvl="1"/>
            <a:r>
              <a:rPr lang="en-US" dirty="0">
                <a:solidFill>
                  <a:srgbClr val="002060"/>
                </a:solidFill>
              </a:rPr>
              <a:t>Provide the specifics of the error without extensive discussion (assuming that was provided in the proposal)</a:t>
            </a:r>
          </a:p>
        </p:txBody>
      </p:sp>
      <p:sp>
        <p:nvSpPr>
          <p:cNvPr id="4" name="Slide Number Placeholder 3"/>
          <p:cNvSpPr>
            <a:spLocks noGrp="1"/>
          </p:cNvSpPr>
          <p:nvPr>
            <p:ph type="sldNum" sz="quarter" idx="10"/>
          </p:nvPr>
        </p:nvSpPr>
        <p:spPr/>
        <p:txBody>
          <a:bodyPr/>
          <a:lstStyle/>
          <a:p>
            <a:fld id="{7C414AED-89CE-4A48-8B2B-1B3A5C68EA2A}" type="slidenum">
              <a:rPr lang="en-US" smtClean="0"/>
              <a:t>25</a:t>
            </a:fld>
            <a:endParaRPr lang="en-US" dirty="0"/>
          </a:p>
        </p:txBody>
      </p:sp>
      <p:pic>
        <p:nvPicPr>
          <p:cNvPr id="5" name="Picture 4">
            <a:extLst>
              <a:ext uri="{FF2B5EF4-FFF2-40B4-BE49-F238E27FC236}">
                <a16:creationId xmlns:a16="http://schemas.microsoft.com/office/drawing/2014/main" id="{82AC9094-7F00-4F05-BB75-FAAA80506835}"/>
              </a:ext>
            </a:extLst>
          </p:cNvPr>
          <p:cNvPicPr>
            <a:picLocks noChangeAspect="1"/>
          </p:cNvPicPr>
          <p:nvPr/>
        </p:nvPicPr>
        <p:blipFill>
          <a:blip r:embed="rId2"/>
          <a:stretch>
            <a:fillRect/>
          </a:stretch>
        </p:blipFill>
        <p:spPr>
          <a:xfrm>
            <a:off x="549746" y="1483114"/>
            <a:ext cx="11524867" cy="2592621"/>
          </a:xfrm>
          <a:prstGeom prst="rect">
            <a:avLst/>
          </a:prstGeom>
        </p:spPr>
      </p:pic>
      <p:sp>
        <p:nvSpPr>
          <p:cNvPr id="6" name="Rectangle: Rounded Corners 5">
            <a:extLst>
              <a:ext uri="{FF2B5EF4-FFF2-40B4-BE49-F238E27FC236}">
                <a16:creationId xmlns:a16="http://schemas.microsoft.com/office/drawing/2014/main" id="{2173A712-B87C-4381-B6BA-6751057BE007}"/>
              </a:ext>
            </a:extLst>
          </p:cNvPr>
          <p:cNvSpPr/>
          <p:nvPr/>
        </p:nvSpPr>
        <p:spPr bwMode="auto">
          <a:xfrm>
            <a:off x="549746" y="2196790"/>
            <a:ext cx="11415513" cy="557561"/>
          </a:xfrm>
          <a:prstGeom prst="roundRect">
            <a:avLst/>
          </a:prstGeom>
          <a:noFill/>
          <a:ln w="28575" cap="flat" cmpd="sng" algn="ctr">
            <a:solidFill>
              <a:srgbClr val="FF33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2226028572"/>
      </p:ext>
    </p:extLst>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Correct the Codesheet</a:t>
            </a:r>
          </a:p>
        </p:txBody>
      </p:sp>
      <p:sp>
        <p:nvSpPr>
          <p:cNvPr id="3" name="Content Placeholder 2"/>
          <p:cNvSpPr>
            <a:spLocks noGrp="1"/>
          </p:cNvSpPr>
          <p:nvPr>
            <p:ph idx="1"/>
          </p:nvPr>
        </p:nvSpPr>
        <p:spPr>
          <a:xfrm>
            <a:off x="847165" y="1616927"/>
            <a:ext cx="4505420" cy="4664232"/>
          </a:xfrm>
        </p:spPr>
        <p:txBody>
          <a:bodyPr/>
          <a:lstStyle/>
          <a:p>
            <a:pPr marL="0" indent="0">
              <a:buNone/>
            </a:pPr>
            <a:r>
              <a:rPr lang="en-US" dirty="0"/>
              <a:t>Update the codesheet so that it reads how it should have read had no error been made</a:t>
            </a:r>
          </a:p>
          <a:p>
            <a:pPr marL="0" indent="0">
              <a:buNone/>
            </a:pPr>
            <a:endParaRPr lang="en-US" dirty="0"/>
          </a:p>
          <a:p>
            <a:pPr marL="0" indent="0">
              <a:buNone/>
            </a:pPr>
            <a:r>
              <a:rPr lang="en-US" dirty="0"/>
              <a:t>For this example, correction involved removing the 20 percent evaluation for the elbow</a:t>
            </a:r>
          </a:p>
          <a:p>
            <a:pPr marL="0" indent="0">
              <a:buNone/>
            </a:pPr>
            <a:endParaRPr lang="en-US" dirty="0"/>
          </a:p>
        </p:txBody>
      </p:sp>
      <p:sp>
        <p:nvSpPr>
          <p:cNvPr id="4" name="Slide Number Placeholder 3"/>
          <p:cNvSpPr>
            <a:spLocks noGrp="1"/>
          </p:cNvSpPr>
          <p:nvPr>
            <p:ph type="sldNum" sz="quarter" idx="10"/>
          </p:nvPr>
        </p:nvSpPr>
        <p:spPr/>
        <p:txBody>
          <a:bodyPr/>
          <a:lstStyle/>
          <a:p>
            <a:fld id="{7C414AED-89CE-4A48-8B2B-1B3A5C68EA2A}" type="slidenum">
              <a:rPr lang="en-US" smtClean="0"/>
              <a:t>26</a:t>
            </a:fld>
            <a:endParaRPr lang="en-US" dirty="0"/>
          </a:p>
        </p:txBody>
      </p:sp>
      <p:pic>
        <p:nvPicPr>
          <p:cNvPr id="5" name="Picture 4">
            <a:extLst>
              <a:ext uri="{FF2B5EF4-FFF2-40B4-BE49-F238E27FC236}">
                <a16:creationId xmlns:a16="http://schemas.microsoft.com/office/drawing/2014/main" id="{BE531DCA-3317-4811-869B-C3CE9711CEE9}"/>
              </a:ext>
            </a:extLst>
          </p:cNvPr>
          <p:cNvPicPr>
            <a:picLocks noChangeAspect="1"/>
          </p:cNvPicPr>
          <p:nvPr/>
        </p:nvPicPr>
        <p:blipFill>
          <a:blip r:embed="rId2"/>
          <a:stretch>
            <a:fillRect/>
          </a:stretch>
        </p:blipFill>
        <p:spPr>
          <a:xfrm>
            <a:off x="5061169" y="1916268"/>
            <a:ext cx="6698449" cy="3616480"/>
          </a:xfrm>
          <a:prstGeom prst="rect">
            <a:avLst/>
          </a:prstGeom>
        </p:spPr>
      </p:pic>
    </p:spTree>
    <p:extLst>
      <p:ext uri="{BB962C8B-B14F-4D97-AF65-F5344CB8AC3E}">
        <p14:creationId xmlns:p14="http://schemas.microsoft.com/office/powerpoint/2010/main" val="839411371"/>
      </p:ext>
    </p:extLst>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Reminders</a:t>
            </a:r>
          </a:p>
        </p:txBody>
      </p:sp>
      <p:sp>
        <p:nvSpPr>
          <p:cNvPr id="3" name="Content Placeholder 2"/>
          <p:cNvSpPr>
            <a:spLocks noGrp="1"/>
          </p:cNvSpPr>
          <p:nvPr>
            <p:ph idx="1"/>
          </p:nvPr>
        </p:nvSpPr>
        <p:spPr>
          <a:xfrm>
            <a:off x="847164" y="1589518"/>
            <a:ext cx="11344835" cy="4766832"/>
          </a:xfrm>
        </p:spPr>
        <p:txBody>
          <a:bodyPr/>
          <a:lstStyle/>
          <a:p>
            <a:r>
              <a:rPr lang="en-US" sz="2400" dirty="0"/>
              <a:t>Leave discussion of payment details to authorization</a:t>
            </a:r>
          </a:p>
          <a:p>
            <a:pPr lvl="1"/>
            <a:r>
              <a:rPr lang="en-US" dirty="0"/>
              <a:t>When current benefits change, use the effective date of the benefit change in the decision text and explain that date in the narrative</a:t>
            </a:r>
          </a:p>
          <a:p>
            <a:pPr lvl="2"/>
            <a:r>
              <a:rPr lang="en-US" dirty="0"/>
              <a:t>Also explain how the record is corrected for the CUE</a:t>
            </a:r>
          </a:p>
          <a:p>
            <a:pPr marL="914400" lvl="2" indent="0">
              <a:buNone/>
            </a:pPr>
            <a:endParaRPr lang="en-US" sz="800" dirty="0"/>
          </a:p>
          <a:p>
            <a:r>
              <a:rPr lang="en-US" sz="2400" dirty="0"/>
              <a:t>You may include a note on the codesheet annotating that this is a CUE due to administrative error and no O/P should be created</a:t>
            </a:r>
          </a:p>
          <a:p>
            <a:pPr lvl="1"/>
            <a:r>
              <a:rPr lang="en-US" sz="2000" dirty="0"/>
              <a:t>This is discretionary, but if it is unclear that this is the situation, then the note may be helpful</a:t>
            </a:r>
          </a:p>
          <a:p>
            <a:pPr marL="457200" lvl="1" indent="0">
              <a:buNone/>
            </a:pPr>
            <a:endParaRPr lang="en-US" sz="800" dirty="0"/>
          </a:p>
          <a:p>
            <a:r>
              <a:rPr lang="en-US" sz="2400" dirty="0"/>
              <a:t>Be clear and specific in your narrative</a:t>
            </a:r>
          </a:p>
          <a:p>
            <a:r>
              <a:rPr lang="en-US" sz="2400" dirty="0"/>
              <a:t>Review all generated text to ensure accuracy</a:t>
            </a:r>
          </a:p>
          <a:p>
            <a:r>
              <a:rPr lang="en-US" sz="2400" dirty="0"/>
              <a:t>Often, there is no single correct way to address a CUE in VBMS-R</a:t>
            </a:r>
          </a:p>
          <a:p>
            <a:pPr lvl="1"/>
            <a:r>
              <a:rPr lang="en-US" sz="2000" dirty="0"/>
              <a:t>Use the system optimally for generation of situation-appropriate generated language</a:t>
            </a:r>
          </a:p>
        </p:txBody>
      </p:sp>
      <p:sp>
        <p:nvSpPr>
          <p:cNvPr id="4" name="Slide Number Placeholder 3"/>
          <p:cNvSpPr>
            <a:spLocks noGrp="1"/>
          </p:cNvSpPr>
          <p:nvPr>
            <p:ph type="sldNum" sz="quarter" idx="10"/>
          </p:nvPr>
        </p:nvSpPr>
        <p:spPr/>
        <p:txBody>
          <a:bodyPr/>
          <a:lstStyle/>
          <a:p>
            <a:fld id="{7C414AED-89CE-4A48-8B2B-1B3A5C68EA2A}" type="slidenum">
              <a:rPr lang="en-US" smtClean="0"/>
              <a:t>27</a:t>
            </a:fld>
            <a:endParaRPr lang="en-US" dirty="0"/>
          </a:p>
        </p:txBody>
      </p:sp>
    </p:spTree>
    <p:extLst>
      <p:ext uri="{BB962C8B-B14F-4D97-AF65-F5344CB8AC3E}">
        <p14:creationId xmlns:p14="http://schemas.microsoft.com/office/powerpoint/2010/main" val="2414908863"/>
      </p:ext>
    </p:extLst>
  </p:cSld>
  <p:clrMapOvr>
    <a:masterClrMapping/>
  </p:clrMapOvr>
  <p:transition advClick="0"/>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48c204b9-85cf-4293-91f0-ea4e2b879004"/>
  <p:tag name="ARTICULATE_REFERENCE_COUNT" val="0"/>
  <p:tag name="ARTICULATE_PLAYER_GLOSSARY_XML" val="&lt;?xml version=&quot;1.0&quot; encoding=&quot;utf-16&quot;?&gt;&lt;glossary xmlns:xsi=&quot;http://www.w3.org/2001/XMLSchema-instance&quot; xmlns:xsd=&quot;http://www.w3.org/2001/XMLSchema&quot;&gt;&lt;terms /&gt;&lt;/glossary&gt;"/>
  <p:tag name="ARTICULATE_USED_PAGE_ORIENTATION" val="1"/>
  <p:tag name="ARTICULATE_USED_PAGE_SIZE" val="7"/>
  <p:tag name="TAG_BACKING_FORM_KEY" val="3215762-c:\users\lynne\documents\appeals\vsr rvsr lay evidence final.pptx"/>
  <p:tag name="ARTICULATE_PRESENTER_VERSION" val="7"/>
  <p:tag name="ARTICULATE_PROJECT_OPEN" val="0"/>
  <p:tag name="ARTICULATE_SLIDE_COUNT" val="42"/>
</p:tagLst>
</file>

<file path=ppt/theme/theme1.xml><?xml version="1.0" encoding="utf-8"?>
<a:theme xmlns:a="http://schemas.openxmlformats.org/drawingml/2006/main" name="Ppt0000000">
  <a:themeElements>
    <a:clrScheme name="Custom 1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66"/>
      </a:hlink>
      <a:folHlink>
        <a:srgbClr val="000066"/>
      </a:folHlink>
    </a:clrScheme>
    <a:fontScheme name="SecBrfNov2002">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SecBrfNov200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ecBrfNov2002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ecBrfNov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ecBrfNov2002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ecBrfNov2002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ecBrfNov2002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BC273D991D8B4F842A13ABA0213F79" ma:contentTypeVersion="5" ma:contentTypeDescription="Create a new document." ma:contentTypeScope="" ma:versionID="f2d6b333baec443af91ddf54377c9f9f">
  <xsd:schema xmlns:xsd="http://www.w3.org/2001/XMLSchema" xmlns:xs="http://www.w3.org/2001/XMLSchema" xmlns:p="http://schemas.microsoft.com/office/2006/metadata/properties" targetNamespace="http://schemas.microsoft.com/office/2006/metadata/properties" ma:root="true" ma:fieldsID="d6254111a8e32ab6085427428fc563f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32FE8F-02B0-4B9D-9778-F5B524544E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CD7B6E5-0F04-4CEF-A7BC-E28EF6BF7FB8}">
  <ds:schemaRef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www.w3.org/XML/1998/namespace"/>
    <ds:schemaRef ds:uri="http://purl.org/dc/elements/1.1/"/>
  </ds:schemaRefs>
</ds:datastoreItem>
</file>

<file path=customXml/itemProps3.xml><?xml version="1.0" encoding="utf-8"?>
<ds:datastoreItem xmlns:ds="http://schemas.openxmlformats.org/officeDocument/2006/customXml" ds:itemID="{97F841B9-F256-4CB1-97A0-D3BB93DA76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21367</TotalTime>
  <Words>1732</Words>
  <Application>Microsoft Office PowerPoint</Application>
  <PresentationFormat>Widescreen</PresentationFormat>
  <Paragraphs>235</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Arial Black</vt:lpstr>
      <vt:lpstr>Calibri</vt:lpstr>
      <vt:lpstr>Century Schoolbook</vt:lpstr>
      <vt:lpstr>Courier New</vt:lpstr>
      <vt:lpstr>Tahoma</vt:lpstr>
      <vt:lpstr>Wingdings</vt:lpstr>
      <vt:lpstr>Ppt0000000</vt:lpstr>
      <vt:lpstr>Favorable Findings – Critical Error –</vt:lpstr>
      <vt:lpstr>What Are Favorable Findings</vt:lpstr>
      <vt:lpstr>Favorable Findings Helpful Hints – SC</vt:lpstr>
      <vt:lpstr>38 CFR 3.303 Example</vt:lpstr>
      <vt:lpstr>Documenting Favorable Findings</vt:lpstr>
      <vt:lpstr>Inappropriate Free Text Example</vt:lpstr>
      <vt:lpstr>What Isn’t a Favorable Finding</vt:lpstr>
      <vt:lpstr>Correcting AMA Error Citations</vt:lpstr>
      <vt:lpstr>Refresher Courses</vt:lpstr>
      <vt:lpstr>VBMS-R User Tips for Correcting CUEs</vt:lpstr>
      <vt:lpstr>General Guidance</vt:lpstr>
      <vt:lpstr>Scenario 1</vt:lpstr>
      <vt:lpstr>Issue Management</vt:lpstr>
      <vt:lpstr>Issue Management</vt:lpstr>
      <vt:lpstr>Current Master Record</vt:lpstr>
      <vt:lpstr>Correct the Master Record</vt:lpstr>
      <vt:lpstr>Severance Narrative &amp; Codesheet</vt:lpstr>
      <vt:lpstr>Scenario 2</vt:lpstr>
      <vt:lpstr>Generating Issue/Decision</vt:lpstr>
      <vt:lpstr>Why Must the Codesheet Be Corrected?</vt:lpstr>
      <vt:lpstr>Procedures to Correct the Codesheet</vt:lpstr>
      <vt:lpstr>Corrected Codesheet</vt:lpstr>
      <vt:lpstr>Scenario 3</vt:lpstr>
      <vt:lpstr>Edit Generated Language</vt:lpstr>
      <vt:lpstr>Provide Correct Information in the Narrative</vt:lpstr>
      <vt:lpstr>Correct the Codesheet</vt:lpstr>
      <vt:lpstr>Final Reminders</vt:lpstr>
    </vt:vector>
  </TitlesOfParts>
  <Company>Veterans Benefits Administration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Service Quality Call</dc:title>
  <dc:subject/>
  <dc:creator>Department of Veterans Affairs, Veterans Benefits Administration, Compensation Service, STAFF</dc:creator>
  <cp:lastModifiedBy>BOLEN, Jodi, VBABOI</cp:lastModifiedBy>
  <cp:revision>1505</cp:revision>
  <dcterms:created xsi:type="dcterms:W3CDTF">2014-04-30T02:32:11Z</dcterms:created>
  <dcterms:modified xsi:type="dcterms:W3CDTF">2020-04-15T15:49:41Z</dcterms:modified>
  <cp:category>NTC Curriculum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VSR RVSR Lay Evidence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C99A1101-545A-4F06-B9B7-341CBA93A72A</vt:lpwstr>
  </property>
  <property fmtid="{D5CDD505-2E9C-101B-9397-08002B2CF9AE}" pid="6" name="ArticulateProjectFull">
    <vt:lpwstr>C:\Users\Lynne\Documents\Appeals\VSR RVSR Lay Evidence Final.ppta</vt:lpwstr>
  </property>
  <property fmtid="{D5CDD505-2E9C-101B-9397-08002B2CF9AE}" pid="7" name="ContentTypeId">
    <vt:lpwstr>0x01010017BC273D991D8B4F842A13ABA0213F79</vt:lpwstr>
  </property>
  <property fmtid="{D5CDD505-2E9C-101B-9397-08002B2CF9AE}" pid="8" name="Language">
    <vt:lpwstr>en</vt:lpwstr>
  </property>
  <property fmtid="{D5CDD505-2E9C-101B-9397-08002B2CF9AE}" pid="9" name="Type">
    <vt:lpwstr>Presentation</vt:lpwstr>
  </property>
</Properties>
</file>